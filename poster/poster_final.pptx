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</p:sldIdLst>
  <p:sldSz cx="30275213" cy="42803763"/>
  <p:notesSz cx="7559675" cy="106918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D31A062A-798A-4329-ABDD-BBA856620510}">
      <p14:defaultImageDpi xmlns:p14="http://schemas.microsoft.com/office/powerpoint/2010/main" val="330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3584" autoAdjust="0"/>
    <p:restoredTop sz="96222" autoAdjust="0"/>
  </p:normalViewPr>
  <p:slideViewPr>
    <p:cSldViewPr snapToGrid="0">
      <p:cViewPr>
        <p:scale>
          <a:sx n="66" d="100"/>
          <a:sy n="66" d="100"/>
        </p:scale>
        <p:origin x="-1416" y="-12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" Target="slides/slide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13440" y="1707840"/>
            <a:ext cx="27247320" cy="714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1513440" y="10015920"/>
            <a:ext cx="27247320" cy="2482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51B72DD-EC9E-4CA0-8EB5-18F2BA042689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5CC6CE7-6277-4535-817B-737DD86E5442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66FD8D21-30C0-415D-875F-A2EA5E719D48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513440" y="1707840"/>
            <a:ext cx="27247320" cy="714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1513440" y="10015920"/>
            <a:ext cx="27247320" cy="2482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E301B57-07BD-4EF2-9526-118FD66BE921}" type="slidenum">
              <a:t>‹Nr.›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0FAAFE96-D599-4D01-9372-F8BC011C27EC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13440" y="1707840"/>
            <a:ext cx="27247320" cy="714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1513440" y="10015920"/>
            <a:ext cx="13296600" cy="2482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15475320" y="10015920"/>
            <a:ext cx="13296600" cy="2482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7F451CD7-FF75-414E-AC8D-A4564488FE73}" type="slidenum">
              <a:t>‹Nr.›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17D51D89-B956-4C22-995F-8BD8AA84AD05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513440" y="1707840"/>
            <a:ext cx="27247320" cy="714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CDDA5D36-BADF-40DC-836A-85F05C116263}" type="slidenum">
              <a:t>‹Nr.›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366520E7-7C85-4B52-B2E9-7BA2B42B88B7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D5846439-BDE9-42DA-AE9D-3897977A209B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87D05D4E-08D3-4D86-ACB3-A366BF40157E}" type="slidenum">
              <a:t>‹Nr.›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CCC588-1223-435D-BF11-3C7975751BDB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6A5F63-D968-4BB1-8777-91753DB398FC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7E9775-1880-4B5D-AF10-E2EAB724E17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1EA8704-7948-4561-A221-8D81C5360AD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strike="noStrike" cap="all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C32186-2082-4AC9-B480-3D8DAFCEE36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6F368A-CAE9-4E3F-B102-2E71C2FBD644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055E7B-8358-47D9-AE3C-08C3B21DE33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441BA1-871F-45EA-89FF-02DFB94D9AC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27BCE4-909C-411B-A775-03F7C52120C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1513440" y="1707840"/>
            <a:ext cx="27247320" cy="714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1513440" y="10015920"/>
            <a:ext cx="27247320" cy="2482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8E53CE-25AE-497B-B002-AB3CEC8FB95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D7734A-A0F8-4A1D-8F8A-8C5A75F7CB9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‹Nr.›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864000" y="576000"/>
            <a:ext cx="1727964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250" b="1" strike="noStrike" spc="-1">
                <a:solidFill>
                  <a:srgbClr val="5B6B85"/>
                </a:solidFill>
                <a:latin typeface="Segoe UI"/>
              </a:rPr>
              <a:t>TRANSKRIBUS USER CONFERENCE 2026 · PASSAU, 21–23 SEPTEMBER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828000" y="864000"/>
            <a:ext cx="28619640" cy="143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ctr">
            <a:noAutofit/>
          </a:bodyPr>
          <a:lstStyle/>
          <a:p>
            <a:pPr defTabSz="457200">
              <a:lnSpc>
                <a:spcPct val="100000"/>
              </a:lnSpc>
            </a:pPr>
            <a:r>
              <a:rPr lang="en-US" sz="8200" b="1" strike="noStrike" spc="-1">
                <a:solidFill>
                  <a:srgbClr val="14213D"/>
                </a:solidFill>
                <a:latin typeface="Palatino Linotype"/>
              </a:rPr>
              <a:t>Towards a Living Benchmark for Historical HTR</a:t>
            </a:r>
            <a:endParaRPr lang="en-US" sz="8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864000" y="2376000"/>
            <a:ext cx="17279640" cy="64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  <a:spcAft>
                <a:spcPts val="99"/>
              </a:spcAft>
            </a:pPr>
            <a:r>
              <a:rPr lang="en-US" sz="2100" b="0" strike="noStrike" spc="-1" dirty="0">
                <a:solidFill>
                  <a:srgbClr val="14213D"/>
                </a:solidFill>
                <a:latin typeface="Segoe UI"/>
              </a:rPr>
              <a:t>Tobias Perschl, Malte Rehbein</a:t>
            </a:r>
            <a:endParaRPr lang="en-US" sz="21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99"/>
              </a:spcAft>
            </a:pPr>
            <a:r>
              <a:rPr lang="en-US" sz="1700" b="0" strike="noStrike" spc="-1" dirty="0">
                <a:solidFill>
                  <a:srgbClr val="5B6B85"/>
                </a:solidFill>
                <a:latin typeface="Segoe UI"/>
              </a:rPr>
              <a:t>Chair of Computational Humanities, University of Passau</a:t>
            </a:r>
            <a:endParaRPr lang="en-US" sz="17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1" name="Connector 5"/>
          <p:cNvCxnSpPr/>
          <p:nvPr/>
        </p:nvCxnSpPr>
        <p:spPr>
          <a:xfrm>
            <a:off x="864000" y="3168000"/>
            <a:ext cx="28548360" cy="360"/>
          </a:xfrm>
          <a:prstGeom prst="straightConnector1">
            <a:avLst/>
          </a:prstGeom>
          <a:ln w="31750">
            <a:solidFill>
              <a:srgbClr val="D9622B"/>
            </a:solidFill>
            <a:round/>
          </a:ln>
        </p:spPr>
      </p:cxnSp>
      <p:sp>
        <p:nvSpPr>
          <p:cNvPr id="72" name="TextBox 6"/>
          <p:cNvSpPr/>
          <p:nvPr/>
        </p:nvSpPr>
        <p:spPr>
          <a:xfrm>
            <a:off x="864000" y="3456000"/>
            <a:ext cx="10655640" cy="50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05000"/>
              </a:lnSpc>
            </a:pPr>
            <a:r>
              <a:rPr lang="en-US" sz="3000" b="1" strike="noStrike" spc="-1">
                <a:solidFill>
                  <a:srgbClr val="14213D"/>
                </a:solidFill>
                <a:latin typeface="Palatino Linotype"/>
              </a:rPr>
              <a:t>One error rate hides three different mistakes.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Picture 7" descr="humboldt_england1790_8r__5de33641.png"/>
          <p:cNvPicPr/>
          <p:nvPr/>
        </p:nvPicPr>
        <p:blipFill>
          <a:blip r:embed="rId2"/>
          <a:stretch/>
        </p:blipFill>
        <p:spPr>
          <a:xfrm>
            <a:off x="864000" y="4035960"/>
            <a:ext cx="10655640" cy="2458800"/>
          </a:xfrm>
          <a:prstGeom prst="rect">
            <a:avLst/>
          </a:prstGeom>
          <a:ln w="0">
            <a:noFill/>
          </a:ln>
        </p:spPr>
      </p:pic>
      <p:sp>
        <p:nvSpPr>
          <p:cNvPr id="74" name="Rectangle 8"/>
          <p:cNvSpPr/>
          <p:nvPr/>
        </p:nvSpPr>
        <p:spPr>
          <a:xfrm>
            <a:off x="864000" y="4035960"/>
            <a:ext cx="10655640" cy="2458800"/>
          </a:xfrm>
          <a:prstGeom prst="rect">
            <a:avLst/>
          </a:prstGeom>
          <a:noFill/>
          <a:ln>
            <a:solidFill>
              <a:srgbClr val="CBD6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864000" y="6513120"/>
            <a:ext cx="10655640" cy="21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5B6B85"/>
                </a:solidFill>
                <a:latin typeface="Segoe UI"/>
              </a:rPr>
              <a:t>Alexander von Humboldt, England journal 1790, fol. 8r;  edition humboldt digital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864000" y="6783120"/>
            <a:ext cx="10655640" cy="143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  <a:spcAft>
                <a:spcPts val="119"/>
              </a:spcAft>
            </a:pPr>
            <a:r>
              <a:rPr lang="en-US" sz="1450" b="1" strike="noStrike" spc="-1">
                <a:solidFill>
                  <a:srgbClr val="5B6B85"/>
                </a:solidFill>
                <a:latin typeface="Segoe UI"/>
              </a:rPr>
              <a:t>Ground Truth  </a:t>
            </a:r>
            <a:r>
              <a:rPr lang="en-US" sz="1800" b="0" i="1" strike="noStrike" spc="-1">
                <a:solidFill>
                  <a:srgbClr val="14213D"/>
                </a:solidFill>
                <a:latin typeface="Segoe UI"/>
              </a:rPr>
              <a:t>die in Deutschland nur bei Harzburg am Harze entdekt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lang="en-US" sz="1450" b="1" strike="noStrike" spc="-1">
                <a:solidFill>
                  <a:srgbClr val="5B6B85"/>
                </a:solidFill>
                <a:latin typeface="Segoe UI"/>
              </a:rPr>
              <a:t>Gemini 3.5 Flash  </a:t>
            </a:r>
            <a:r>
              <a:rPr lang="en-US" sz="1800" b="0" strike="noStrike" spc="-1">
                <a:solidFill>
                  <a:srgbClr val="14213D"/>
                </a:solidFill>
                <a:latin typeface="Segoe UI"/>
              </a:rPr>
              <a:t>die in Deutschland nur bei Harzburg am </a:t>
            </a:r>
            <a:r>
              <a:rPr lang="en-US" sz="1800" b="1" strike="noStrike" spc="-1">
                <a:solidFill>
                  <a:srgbClr val="C9950A"/>
                </a:solidFill>
                <a:latin typeface="Segoe UI"/>
              </a:rPr>
              <a:t>Wege </a:t>
            </a:r>
            <a:r>
              <a:rPr lang="en-US" sz="1800" b="1" strike="noStrike" spc="-1">
                <a:solidFill>
                  <a:srgbClr val="1F5FA8"/>
                </a:solidFill>
                <a:latin typeface="Segoe UI"/>
              </a:rPr>
              <a:t>entdeckt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lang="en-US" sz="1450" b="1" strike="noStrike" spc="-1">
                <a:solidFill>
                  <a:srgbClr val="5B6B85"/>
                </a:solidFill>
                <a:latin typeface="Segoe UI"/>
              </a:rPr>
              <a:t>Transkribus Text Titan II  </a:t>
            </a:r>
            <a:r>
              <a:rPr lang="en-US" sz="1800" b="0" strike="noStrike" spc="-1">
                <a:solidFill>
                  <a:srgbClr val="14213D"/>
                </a:solidFill>
                <a:latin typeface="Segoe UI"/>
              </a:rPr>
              <a:t>die in Deutschland </a:t>
            </a:r>
            <a:r>
              <a:rPr lang="en-US" sz="1800" b="1" strike="noStrike" spc="-1">
                <a:solidFill>
                  <a:srgbClr val="C9950A"/>
                </a:solidFill>
                <a:latin typeface="Segoe UI"/>
              </a:rPr>
              <a:t>im </a:t>
            </a:r>
            <a:r>
              <a:rPr lang="en-US" sz="1800" b="0" strike="noStrike" spc="-1">
                <a:solidFill>
                  <a:srgbClr val="14213D"/>
                </a:solidFill>
                <a:latin typeface="Segoe UI"/>
              </a:rPr>
              <a:t>bei </a:t>
            </a:r>
            <a:r>
              <a:rPr lang="en-US" sz="1800" b="1" strike="noStrike" spc="-1">
                <a:solidFill>
                  <a:srgbClr val="D9622B"/>
                </a:solidFill>
                <a:latin typeface="Segoe UI"/>
              </a:rPr>
              <a:t>Herzberg </a:t>
            </a:r>
            <a:r>
              <a:rPr lang="en-US" sz="1800" b="0" strike="noStrike" spc="-1">
                <a:solidFill>
                  <a:srgbClr val="14213D"/>
                </a:solidFill>
                <a:latin typeface="Segoe UI"/>
              </a:rPr>
              <a:t>am </a:t>
            </a:r>
            <a:r>
              <a:rPr lang="en-US" sz="1800" b="1" strike="noStrike" spc="-1">
                <a:solidFill>
                  <a:srgbClr val="C9950A"/>
                </a:solidFill>
                <a:latin typeface="Segoe UI"/>
              </a:rPr>
              <a:t>Hage </a:t>
            </a:r>
            <a:r>
              <a:rPr lang="en-US" sz="1800" b="0" strike="noStrike" spc="-1">
                <a:solidFill>
                  <a:srgbClr val="14213D"/>
                </a:solidFill>
                <a:latin typeface="Segoe UI"/>
              </a:rPr>
              <a:t>entdekt.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 11"/>
          <p:cNvSpPr/>
          <p:nvPr/>
        </p:nvSpPr>
        <p:spPr>
          <a:xfrm>
            <a:off x="900000" y="8323920"/>
            <a:ext cx="197640" cy="197640"/>
          </a:xfrm>
          <a:prstGeom prst="rect">
            <a:avLst/>
          </a:prstGeom>
          <a:solidFill>
            <a:srgbClr val="C9950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12"/>
          <p:cNvSpPr/>
          <p:nvPr/>
        </p:nvSpPr>
        <p:spPr>
          <a:xfrm>
            <a:off x="1170000" y="8241120"/>
            <a:ext cx="1034964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600" b="1" strike="noStrike" spc="-1">
                <a:solidFill>
                  <a:srgbClr val="C9950A"/>
                </a:solidFill>
                <a:latin typeface="Segoe UI"/>
              </a:rPr>
              <a:t>Wege  </a:t>
            </a:r>
            <a:r>
              <a:rPr lang="en-US" sz="1600" b="0" strike="noStrike" spc="-1">
                <a:solidFill>
                  <a:srgbClr val="14213D"/>
                </a:solidFill>
                <a:latin typeface="Segoe UI"/>
              </a:rPr>
              <a:t>a different word in place of “Harze”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ectangle 13"/>
          <p:cNvSpPr/>
          <p:nvPr/>
        </p:nvSpPr>
        <p:spPr>
          <a:xfrm>
            <a:off x="900000" y="8647920"/>
            <a:ext cx="197640" cy="197640"/>
          </a:xfrm>
          <a:prstGeom prst="rect">
            <a:avLst/>
          </a:prstGeom>
          <a:solidFill>
            <a:srgbClr val="D962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14"/>
          <p:cNvSpPr/>
          <p:nvPr/>
        </p:nvSpPr>
        <p:spPr>
          <a:xfrm>
            <a:off x="1170000" y="8565120"/>
            <a:ext cx="1034964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600" b="1" strike="noStrike" spc="-1">
                <a:solidFill>
                  <a:srgbClr val="D9622B"/>
                </a:solidFill>
                <a:latin typeface="Segoe UI"/>
              </a:rPr>
              <a:t>Herzberg  </a:t>
            </a:r>
            <a:r>
              <a:rPr lang="en-US" sz="1600" b="0" strike="noStrike" spc="-1">
                <a:solidFill>
                  <a:srgbClr val="14213D"/>
                </a:solidFill>
                <a:latin typeface="Segoe UI"/>
              </a:rPr>
              <a:t>a real, but wrong town 60 km away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 15"/>
          <p:cNvSpPr/>
          <p:nvPr/>
        </p:nvSpPr>
        <p:spPr>
          <a:xfrm>
            <a:off x="900000" y="8971920"/>
            <a:ext cx="197640" cy="197640"/>
          </a:xfrm>
          <a:prstGeom prst="rect">
            <a:avLst/>
          </a:prstGeom>
          <a:solidFill>
            <a:srgbClr val="1F5FA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16"/>
          <p:cNvSpPr/>
          <p:nvPr/>
        </p:nvSpPr>
        <p:spPr>
          <a:xfrm>
            <a:off x="1170000" y="8889120"/>
            <a:ext cx="1034964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600" b="1" strike="noStrike" spc="-1">
                <a:solidFill>
                  <a:srgbClr val="1F5FA8"/>
                </a:solidFill>
                <a:latin typeface="Segoe UI"/>
              </a:rPr>
              <a:t>entdeckt  </a:t>
            </a:r>
            <a:r>
              <a:rPr lang="en-US" sz="1600" b="0" strike="noStrike" spc="-1">
                <a:solidFill>
                  <a:srgbClr val="14213D"/>
                </a:solidFill>
                <a:latin typeface="Segoe UI"/>
              </a:rPr>
              <a:t>modernised spelling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17"/>
          <p:cNvSpPr/>
          <p:nvPr/>
        </p:nvSpPr>
        <p:spPr>
          <a:xfrm>
            <a:off x="864000" y="9339120"/>
            <a:ext cx="10655640" cy="12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en-US" sz="1700" b="0" strike="noStrike" spc="-1" dirty="0">
                <a:solidFill>
                  <a:srgbClr val="14213D"/>
                </a:solidFill>
                <a:latin typeface="Segoe UI"/>
              </a:rPr>
              <a:t>These errors differ in gravity. Orthographic variation does not influence understanding and meaning.</a:t>
            </a:r>
            <a:endParaRPr lang="en-US" sz="17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lang="en-US" sz="1700" b="1" strike="noStrike" spc="-1" dirty="0">
                <a:solidFill>
                  <a:srgbClr val="14213D"/>
                </a:solidFill>
                <a:latin typeface="Segoe UI"/>
              </a:rPr>
              <a:t>A plausible, yet wrong entity transcription is more drastic.</a:t>
            </a:r>
            <a:endParaRPr lang="en-US" sz="17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18"/>
          <p:cNvSpPr/>
          <p:nvPr/>
        </p:nvSpPr>
        <p:spPr>
          <a:xfrm>
            <a:off x="864000" y="10635120"/>
            <a:ext cx="10655640" cy="43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2200" b="1" strike="noStrike" spc="-1">
                <a:solidFill>
                  <a:srgbClr val="D9622B"/>
                </a:solidFill>
                <a:latin typeface="Palatino Linotype"/>
              </a:rPr>
              <a:t>We need a benchmark for historical document HTR that goes beyond CER.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Box 366"/>
          <p:cNvSpPr/>
          <p:nvPr/>
        </p:nvSpPr>
        <p:spPr>
          <a:xfrm>
            <a:off x="864000" y="13752000"/>
            <a:ext cx="2854764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2100" b="1" strike="noStrike" spc="-1">
                <a:solidFill>
                  <a:srgbClr val="14213D"/>
                </a:solidFill>
                <a:latin typeface="Palatino Linotype"/>
              </a:rPr>
              <a:t>The material: 4 corpora of German handwriting, 1710–1965  </a:t>
            </a:r>
            <a:r>
              <a:rPr lang="en-US" sz="1200" b="0" strike="noStrike" spc="-1">
                <a:solidFill>
                  <a:srgbClr val="5B6B85"/>
                </a:solidFill>
                <a:latin typeface="Segoe UI"/>
              </a:rPr>
              <a:t>86 pages ; 2,633 reference lines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Rectangle 367"/>
          <p:cNvSpPr/>
          <p:nvPr/>
        </p:nvSpPr>
        <p:spPr>
          <a:xfrm>
            <a:off x="864000" y="14184000"/>
            <a:ext cx="6920640" cy="4967640"/>
          </a:xfrm>
          <a:prstGeom prst="rect">
            <a:avLst/>
          </a:prstGeom>
          <a:solidFill>
            <a:srgbClr val="FFFFFF"/>
          </a:solidFill>
          <a:ln>
            <a:solidFill>
              <a:srgbClr val="CBD6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6" name="Rectangle 368"/>
          <p:cNvSpPr/>
          <p:nvPr/>
        </p:nvSpPr>
        <p:spPr>
          <a:xfrm>
            <a:off x="864000" y="14184000"/>
            <a:ext cx="78840" cy="4967640"/>
          </a:xfrm>
          <a:prstGeom prst="rect">
            <a:avLst/>
          </a:prstGeom>
          <a:solidFill>
            <a:srgbClr val="1F5FA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37" name="Picture 1058" descr="corpus_tall__ABP_B5_1739_00310.png"/>
          <p:cNvPicPr/>
          <p:nvPr/>
        </p:nvPicPr>
        <p:blipFill>
          <a:blip r:embed="rId3"/>
          <a:stretch/>
        </p:blipFill>
        <p:spPr>
          <a:xfrm>
            <a:off x="1008000" y="14292000"/>
            <a:ext cx="6632640" cy="3959280"/>
          </a:xfrm>
          <a:prstGeom prst="rect">
            <a:avLst/>
          </a:prstGeom>
          <a:ln w="0">
            <a:noFill/>
          </a:ln>
        </p:spPr>
      </p:pic>
      <p:sp>
        <p:nvSpPr>
          <p:cNvPr id="338" name="Rectangle 370"/>
          <p:cNvSpPr/>
          <p:nvPr/>
        </p:nvSpPr>
        <p:spPr>
          <a:xfrm>
            <a:off x="1008000" y="14292000"/>
            <a:ext cx="6632640" cy="3959280"/>
          </a:xfrm>
          <a:prstGeom prst="rect">
            <a:avLst/>
          </a:prstGeom>
          <a:noFill/>
          <a:ln>
            <a:solidFill>
              <a:srgbClr val="CBD6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9" name="TextBox 371"/>
          <p:cNvSpPr/>
          <p:nvPr/>
        </p:nvSpPr>
        <p:spPr>
          <a:xfrm>
            <a:off x="1008000" y="18360000"/>
            <a:ext cx="6632640" cy="71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28800" rIns="10800" bIns="28800" anchor="t">
            <a:noAutofit/>
          </a:bodyPr>
          <a:lstStyle/>
          <a:p>
            <a:pPr defTabSz="457200">
              <a:lnSpc>
                <a:spcPct val="105000"/>
              </a:lnSpc>
              <a:spcAft>
                <a:spcPts val="51"/>
              </a:spcAft>
            </a:pPr>
            <a:r>
              <a:rPr lang="en-US" sz="1400" b="1" strike="noStrike" spc="-1">
                <a:solidFill>
                  <a:srgbClr val="14213D"/>
                </a:solidFill>
                <a:latin typeface="Segoe UI"/>
              </a:rPr>
              <a:t>Ratsprotokolle  </a:t>
            </a:r>
            <a:r>
              <a:rPr lang="en-US" sz="1300" b="0" strike="noStrike" spc="-1">
                <a:solidFill>
                  <a:srgbClr val="D9622B"/>
                </a:solidFill>
                <a:latin typeface="Bahnschrift"/>
              </a:rPr>
              <a:t>1710–1803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51"/>
              </a:spcAft>
            </a:pPr>
            <a:r>
              <a:rPr lang="en-US" sz="1050" b="0" strike="noStrike" spc="-1">
                <a:solidFill>
                  <a:srgbClr val="5B6B85"/>
                </a:solidFill>
                <a:latin typeface="Segoe UI"/>
              </a:rPr>
              <a:t>Kurrent + Antiqua; council minutes; diplomatic transcription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lang="en-US" sz="1100" b="0" strike="noStrike" spc="-1">
                <a:solidFill>
                  <a:srgbClr val="3F4C63"/>
                </a:solidFill>
                <a:latin typeface="Segoe UI"/>
              </a:rPr>
              <a:t>34 pages; 870 lines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Rectangle 372"/>
          <p:cNvSpPr/>
          <p:nvPr/>
        </p:nvSpPr>
        <p:spPr>
          <a:xfrm>
            <a:off x="8073000" y="14184000"/>
            <a:ext cx="6920640" cy="4967640"/>
          </a:xfrm>
          <a:prstGeom prst="rect">
            <a:avLst/>
          </a:prstGeom>
          <a:solidFill>
            <a:srgbClr val="FFFFFF"/>
          </a:solidFill>
          <a:ln>
            <a:solidFill>
              <a:srgbClr val="CBD6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1" name="Rectangle 373"/>
          <p:cNvSpPr/>
          <p:nvPr/>
        </p:nvSpPr>
        <p:spPr>
          <a:xfrm>
            <a:off x="8073000" y="14184000"/>
            <a:ext cx="78840" cy="4967640"/>
          </a:xfrm>
          <a:prstGeom prst="rect">
            <a:avLst/>
          </a:prstGeom>
          <a:solidFill>
            <a:srgbClr val="1F5FA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42" name="Picture 1059" descr="corpus_tall__humboldt_england1790_5r.png"/>
          <p:cNvPicPr/>
          <p:nvPr/>
        </p:nvPicPr>
        <p:blipFill>
          <a:blip r:embed="rId4"/>
          <a:stretch/>
        </p:blipFill>
        <p:spPr>
          <a:xfrm>
            <a:off x="8218440" y="14292000"/>
            <a:ext cx="6629400" cy="3959640"/>
          </a:xfrm>
          <a:prstGeom prst="rect">
            <a:avLst/>
          </a:prstGeom>
          <a:ln w="0">
            <a:noFill/>
          </a:ln>
        </p:spPr>
      </p:pic>
      <p:sp>
        <p:nvSpPr>
          <p:cNvPr id="343" name="Rectangle 375"/>
          <p:cNvSpPr/>
          <p:nvPr/>
        </p:nvSpPr>
        <p:spPr>
          <a:xfrm>
            <a:off x="8218440" y="14292000"/>
            <a:ext cx="6629400" cy="3959640"/>
          </a:xfrm>
          <a:prstGeom prst="rect">
            <a:avLst/>
          </a:prstGeom>
          <a:noFill/>
          <a:ln>
            <a:solidFill>
              <a:srgbClr val="CBD6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4" name="TextBox 376"/>
          <p:cNvSpPr/>
          <p:nvPr/>
        </p:nvSpPr>
        <p:spPr>
          <a:xfrm>
            <a:off x="8217000" y="18360000"/>
            <a:ext cx="6632640" cy="71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28800" rIns="10800" bIns="28800" anchor="t">
            <a:noAutofit/>
          </a:bodyPr>
          <a:lstStyle/>
          <a:p>
            <a:pPr defTabSz="457200">
              <a:lnSpc>
                <a:spcPct val="105000"/>
              </a:lnSpc>
              <a:spcAft>
                <a:spcPts val="51"/>
              </a:spcAft>
            </a:pPr>
            <a:r>
              <a:rPr lang="en-US" sz="1400" b="1" strike="noStrike" spc="-1">
                <a:solidFill>
                  <a:srgbClr val="14213D"/>
                </a:solidFill>
                <a:latin typeface="Segoe UI"/>
              </a:rPr>
              <a:t>Humboldt journals  </a:t>
            </a:r>
            <a:r>
              <a:rPr lang="en-US" sz="1300" b="0" strike="noStrike" spc="-1">
                <a:solidFill>
                  <a:srgbClr val="D9622B"/>
                </a:solidFill>
                <a:latin typeface="Bahnschrift"/>
              </a:rPr>
              <a:t>1790–1805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51"/>
              </a:spcAft>
            </a:pPr>
            <a:r>
              <a:rPr lang="en-US" sz="1050" b="0" strike="noStrike" spc="-1">
                <a:solidFill>
                  <a:srgbClr val="5B6B85"/>
                </a:solidFill>
                <a:latin typeface="Segoe UI"/>
              </a:rPr>
              <a:t>Kurrent / Latin; travel journal; scholarly edition EHD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lang="en-US" sz="1100" b="0" strike="noStrike" spc="-1">
                <a:solidFill>
                  <a:srgbClr val="3F4C63"/>
                </a:solidFill>
                <a:latin typeface="Segoe UI"/>
              </a:rPr>
              <a:t>20 pages;  602 lines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Rectangle 377"/>
          <p:cNvSpPr/>
          <p:nvPr/>
        </p:nvSpPr>
        <p:spPr>
          <a:xfrm>
            <a:off x="15282000" y="14184000"/>
            <a:ext cx="6920640" cy="4967640"/>
          </a:xfrm>
          <a:prstGeom prst="rect">
            <a:avLst/>
          </a:prstGeom>
          <a:solidFill>
            <a:srgbClr val="FFFFFF"/>
          </a:solidFill>
          <a:ln>
            <a:solidFill>
              <a:srgbClr val="CBD6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6" name="Rectangle 378"/>
          <p:cNvSpPr/>
          <p:nvPr/>
        </p:nvSpPr>
        <p:spPr>
          <a:xfrm>
            <a:off x="15282000" y="14184000"/>
            <a:ext cx="78840" cy="4967640"/>
          </a:xfrm>
          <a:prstGeom prst="rect">
            <a:avLst/>
          </a:prstGeom>
          <a:solidFill>
            <a:srgbClr val="1F5FA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47" name="Picture 1060" descr="corpus_tall__forst_070_Reg_NB_KdForsten_A_381_I.png"/>
          <p:cNvPicPr/>
          <p:nvPr/>
        </p:nvPicPr>
        <p:blipFill>
          <a:blip r:embed="rId5"/>
          <a:stretch/>
        </p:blipFill>
        <p:spPr>
          <a:xfrm>
            <a:off x="15427080" y="14292000"/>
            <a:ext cx="6630120" cy="3959640"/>
          </a:xfrm>
          <a:prstGeom prst="rect">
            <a:avLst/>
          </a:prstGeom>
          <a:ln w="0">
            <a:noFill/>
          </a:ln>
        </p:spPr>
      </p:pic>
      <p:sp>
        <p:nvSpPr>
          <p:cNvPr id="348" name="Rectangle 380"/>
          <p:cNvSpPr/>
          <p:nvPr/>
        </p:nvSpPr>
        <p:spPr>
          <a:xfrm>
            <a:off x="15427080" y="14292000"/>
            <a:ext cx="6630120" cy="3959640"/>
          </a:xfrm>
          <a:prstGeom prst="rect">
            <a:avLst/>
          </a:prstGeom>
          <a:noFill/>
          <a:ln>
            <a:solidFill>
              <a:srgbClr val="CBD6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9" name="TextBox 381"/>
          <p:cNvSpPr/>
          <p:nvPr/>
        </p:nvSpPr>
        <p:spPr>
          <a:xfrm>
            <a:off x="15426000" y="18360000"/>
            <a:ext cx="6632640" cy="71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28800" rIns="10800" bIns="28800" anchor="t">
            <a:noAutofit/>
          </a:bodyPr>
          <a:lstStyle/>
          <a:p>
            <a:pPr defTabSz="457200">
              <a:lnSpc>
                <a:spcPct val="105000"/>
              </a:lnSpc>
              <a:spcAft>
                <a:spcPts val="51"/>
              </a:spcAft>
            </a:pPr>
            <a:r>
              <a:rPr lang="en-US" sz="1400" b="1" strike="noStrike" spc="-1">
                <a:solidFill>
                  <a:srgbClr val="14213D"/>
                </a:solidFill>
                <a:latin typeface="Segoe UI"/>
              </a:rPr>
              <a:t>Forest operates  </a:t>
            </a:r>
            <a:r>
              <a:rPr lang="en-US" sz="1300" b="0" strike="noStrike" spc="-1">
                <a:solidFill>
                  <a:srgbClr val="D9622B"/>
                </a:solidFill>
                <a:latin typeface="Bahnschrift"/>
              </a:rPr>
              <a:t>1857–1895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51"/>
              </a:spcAft>
            </a:pPr>
            <a:r>
              <a:rPr lang="en-US" sz="1050" b="0" strike="noStrike" spc="-1">
                <a:solidFill>
                  <a:srgbClr val="5B6B85"/>
                </a:solidFill>
                <a:latin typeface="Segoe UI"/>
              </a:rPr>
              <a:t>Kurrent; forestry reports and tables; corrected machine output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lang="en-US" sz="1100" b="0" strike="noStrike" spc="-1">
                <a:solidFill>
                  <a:srgbClr val="3F4C63"/>
                </a:solidFill>
                <a:latin typeface="Segoe UI"/>
              </a:rPr>
              <a:t>22 pages; 823 lines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Rectangle 382"/>
          <p:cNvSpPr/>
          <p:nvPr/>
        </p:nvSpPr>
        <p:spPr>
          <a:xfrm>
            <a:off x="22491000" y="14184000"/>
            <a:ext cx="6920640" cy="4967640"/>
          </a:xfrm>
          <a:prstGeom prst="rect">
            <a:avLst/>
          </a:prstGeom>
          <a:solidFill>
            <a:srgbClr val="FFFFFF"/>
          </a:solidFill>
          <a:ln>
            <a:solidFill>
              <a:srgbClr val="CBD6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1" name="Rectangle 383"/>
          <p:cNvSpPr/>
          <p:nvPr/>
        </p:nvSpPr>
        <p:spPr>
          <a:xfrm>
            <a:off x="22491000" y="14184000"/>
            <a:ext cx="78840" cy="4967640"/>
          </a:xfrm>
          <a:prstGeom prst="rect">
            <a:avLst/>
          </a:prstGeom>
          <a:solidFill>
            <a:srgbClr val="1F5FA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52" name="Picture 1061" descr="corpus_tall__laubmann02_0018_L.png"/>
          <p:cNvPicPr/>
          <p:nvPr/>
        </p:nvPicPr>
        <p:blipFill>
          <a:blip r:embed="rId6"/>
          <a:stretch/>
        </p:blipFill>
        <p:spPr>
          <a:xfrm>
            <a:off x="22635720" y="14292000"/>
            <a:ext cx="6631560" cy="3959640"/>
          </a:xfrm>
          <a:prstGeom prst="rect">
            <a:avLst/>
          </a:prstGeom>
          <a:ln w="0">
            <a:noFill/>
          </a:ln>
        </p:spPr>
      </p:pic>
      <p:sp>
        <p:nvSpPr>
          <p:cNvPr id="353" name="Rectangle 385"/>
          <p:cNvSpPr/>
          <p:nvPr/>
        </p:nvSpPr>
        <p:spPr>
          <a:xfrm>
            <a:off x="22635720" y="14292000"/>
            <a:ext cx="6631560" cy="3959640"/>
          </a:xfrm>
          <a:prstGeom prst="rect">
            <a:avLst/>
          </a:prstGeom>
          <a:noFill/>
          <a:ln>
            <a:solidFill>
              <a:srgbClr val="CBD6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4" name="TextBox 386"/>
          <p:cNvSpPr/>
          <p:nvPr/>
        </p:nvSpPr>
        <p:spPr>
          <a:xfrm>
            <a:off x="22635000" y="18360000"/>
            <a:ext cx="6632640" cy="71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28800" rIns="10800" bIns="28800" anchor="t">
            <a:noAutofit/>
          </a:bodyPr>
          <a:lstStyle/>
          <a:p>
            <a:pPr defTabSz="457200">
              <a:lnSpc>
                <a:spcPct val="105000"/>
              </a:lnSpc>
              <a:spcAft>
                <a:spcPts val="51"/>
              </a:spcAft>
            </a:pPr>
            <a:r>
              <a:rPr lang="en-US" sz="1400" b="1" strike="noStrike" spc="-1">
                <a:solidFill>
                  <a:srgbClr val="14213D"/>
                </a:solidFill>
                <a:latin typeface="Segoe UI"/>
              </a:rPr>
              <a:t>Laubmann journals  </a:t>
            </a:r>
            <a:r>
              <a:rPr lang="en-US" sz="1300" b="0" strike="noStrike" spc="-1">
                <a:solidFill>
                  <a:srgbClr val="D9622B"/>
                </a:solidFill>
                <a:latin typeface="Bahnschrift"/>
              </a:rPr>
              <a:t>1917–1965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51"/>
              </a:spcAft>
            </a:pPr>
            <a:r>
              <a:rPr lang="en-US" sz="1050" b="0" strike="noStrike" spc="-1">
                <a:solidFill>
                  <a:srgbClr val="5B6B85"/>
                </a:solidFill>
                <a:latin typeface="Segoe UI"/>
              </a:rPr>
              <a:t>Sütterlin era; field journals; corrected machine output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</a:pPr>
            <a:r>
              <a:rPr lang="en-US" sz="1100" b="0" strike="noStrike" spc="-1">
                <a:solidFill>
                  <a:srgbClr val="3F4C63"/>
                </a:solidFill>
                <a:latin typeface="Segoe UI"/>
              </a:rPr>
              <a:t>10 pages; 338 lines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Box 387"/>
          <p:cNvSpPr/>
          <p:nvPr/>
        </p:nvSpPr>
        <p:spPr>
          <a:xfrm>
            <a:off x="864000" y="11304000"/>
            <a:ext cx="10655640" cy="43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05000"/>
              </a:lnSpc>
            </a:pPr>
            <a:r>
              <a:rPr lang="en-US" sz="2400" b="1" strike="noStrike" spc="-1" dirty="0">
                <a:solidFill>
                  <a:srgbClr val="14213D"/>
                </a:solidFill>
                <a:latin typeface="Palatino Linotype"/>
              </a:rPr>
              <a:t>How this benchmark works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Rectangle 388"/>
          <p:cNvSpPr/>
          <p:nvPr/>
        </p:nvSpPr>
        <p:spPr>
          <a:xfrm>
            <a:off x="864000" y="11772000"/>
            <a:ext cx="3407760" cy="1691640"/>
          </a:xfrm>
          <a:prstGeom prst="rect">
            <a:avLst/>
          </a:prstGeom>
          <a:solidFill>
            <a:srgbClr val="FAFCFE"/>
          </a:solidFill>
          <a:ln>
            <a:solidFill>
              <a:srgbClr val="CBD6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7" name="Oval 389"/>
          <p:cNvSpPr/>
          <p:nvPr/>
        </p:nvSpPr>
        <p:spPr>
          <a:xfrm>
            <a:off x="1008000" y="11916000"/>
            <a:ext cx="323640" cy="323640"/>
          </a:xfrm>
          <a:prstGeom prst="ellipse">
            <a:avLst/>
          </a:prstGeom>
          <a:solidFill>
            <a:srgbClr val="D962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strike="noStrike" spc="-1">
                <a:solidFill>
                  <a:srgbClr val="FFFFFF"/>
                </a:solidFill>
                <a:latin typeface="Palatino Linotype"/>
              </a:rPr>
              <a:t>1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Box 390"/>
          <p:cNvSpPr/>
          <p:nvPr/>
        </p:nvSpPr>
        <p:spPr>
          <a:xfrm>
            <a:off x="1404000" y="11862000"/>
            <a:ext cx="2759760" cy="43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500" b="1" strike="noStrike" spc="-1">
                <a:solidFill>
                  <a:srgbClr val="14213D"/>
                </a:solidFill>
                <a:latin typeface="Palatino Linotype"/>
              </a:rPr>
              <a:t>Pages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Box 391"/>
          <p:cNvSpPr/>
          <p:nvPr/>
        </p:nvSpPr>
        <p:spPr>
          <a:xfrm>
            <a:off x="1008000" y="12312000"/>
            <a:ext cx="3119760" cy="10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100" b="0" strike="noStrike" spc="-1" dirty="0">
                <a:solidFill>
                  <a:srgbClr val="3F4C63"/>
                </a:solidFill>
                <a:latin typeface="Segoe UI"/>
              </a:rPr>
              <a:t>86 pages from four archives, 1710–1965</a:t>
            </a:r>
            <a:r>
              <a:rPr lang="en-US" sz="1100" spc="-1" dirty="0">
                <a:solidFill>
                  <a:srgbClr val="3F4C63"/>
                </a:solidFill>
                <a:latin typeface="Segoe UI"/>
              </a:rPr>
              <a:t> with </a:t>
            </a:r>
            <a:r>
              <a:rPr lang="en-US" sz="1100" b="0" strike="noStrike" spc="-1" dirty="0">
                <a:solidFill>
                  <a:srgbClr val="3F4C63"/>
                </a:solidFill>
                <a:latin typeface="Segoe UI"/>
              </a:rPr>
              <a:t>validated </a:t>
            </a:r>
            <a:r>
              <a:rPr lang="en-US" sz="1100" spc="-1" dirty="0">
                <a:solidFill>
                  <a:srgbClr val="3F4C63"/>
                </a:solidFill>
                <a:latin typeface="Segoe UI"/>
              </a:rPr>
              <a:t>G</a:t>
            </a:r>
            <a:r>
              <a:rPr lang="en-US" sz="1100" b="0" strike="noStrike" spc="-1" dirty="0">
                <a:solidFill>
                  <a:srgbClr val="3F4C63"/>
                </a:solidFill>
                <a:latin typeface="Segoe UI"/>
              </a:rPr>
              <a:t>round Truth.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60" name="Connector 392"/>
          <p:cNvCxnSpPr/>
          <p:nvPr/>
        </p:nvCxnSpPr>
        <p:spPr>
          <a:xfrm>
            <a:off x="4289760" y="12618000"/>
            <a:ext cx="180360" cy="360"/>
          </a:xfrm>
          <a:prstGeom prst="straightConnector1">
            <a:avLst/>
          </a:prstGeom>
          <a:ln w="15875">
            <a:solidFill>
              <a:srgbClr val="5B6B85"/>
            </a:solidFill>
            <a:round/>
            <a:tailEnd type="triangle" w="med" len="med"/>
          </a:ln>
        </p:spPr>
      </p:cxnSp>
      <p:sp>
        <p:nvSpPr>
          <p:cNvPr id="361" name="Rectangle 393"/>
          <p:cNvSpPr/>
          <p:nvPr/>
        </p:nvSpPr>
        <p:spPr>
          <a:xfrm>
            <a:off x="4488120" y="11772000"/>
            <a:ext cx="3407760" cy="1691640"/>
          </a:xfrm>
          <a:prstGeom prst="rect">
            <a:avLst/>
          </a:prstGeom>
          <a:solidFill>
            <a:srgbClr val="FAFCFE"/>
          </a:solidFill>
          <a:ln>
            <a:solidFill>
              <a:srgbClr val="CBD6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2" name="Oval 394"/>
          <p:cNvSpPr/>
          <p:nvPr/>
        </p:nvSpPr>
        <p:spPr>
          <a:xfrm>
            <a:off x="4632120" y="11916000"/>
            <a:ext cx="323640" cy="323640"/>
          </a:xfrm>
          <a:prstGeom prst="ellipse">
            <a:avLst/>
          </a:prstGeom>
          <a:solidFill>
            <a:srgbClr val="D962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strike="noStrike" spc="-1">
                <a:solidFill>
                  <a:srgbClr val="FFFFFF"/>
                </a:solidFill>
                <a:latin typeface="Palatino Linotype"/>
              </a:rPr>
              <a:t>2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Box 395"/>
          <p:cNvSpPr/>
          <p:nvPr/>
        </p:nvSpPr>
        <p:spPr>
          <a:xfrm>
            <a:off x="5028120" y="11862000"/>
            <a:ext cx="2759760" cy="43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500" b="1" strike="noStrike" spc="-1">
                <a:solidFill>
                  <a:srgbClr val="14213D"/>
                </a:solidFill>
                <a:latin typeface="Palatino Linotype"/>
              </a:rPr>
              <a:t>Runs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Box 396"/>
          <p:cNvSpPr/>
          <p:nvPr/>
        </p:nvSpPr>
        <p:spPr>
          <a:xfrm>
            <a:off x="4632120" y="12312000"/>
            <a:ext cx="3119760" cy="10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100" b="0" strike="noStrike" spc="-1" dirty="0">
                <a:solidFill>
                  <a:srgbClr val="3F4C63"/>
                </a:solidFill>
                <a:latin typeface="Segoe UI"/>
              </a:rPr>
              <a:t>20 </a:t>
            </a:r>
            <a:r>
              <a:rPr lang="en-US" sz="1100" spc="-1" dirty="0">
                <a:solidFill>
                  <a:srgbClr val="3F4C63"/>
                </a:solidFill>
                <a:latin typeface="Segoe UI"/>
              </a:rPr>
              <a:t>HTR </a:t>
            </a:r>
            <a:r>
              <a:rPr lang="en-US" sz="1100" b="0" strike="noStrike" spc="-1" dirty="0">
                <a:solidFill>
                  <a:srgbClr val="3F4C63"/>
                </a:solidFill>
                <a:latin typeface="Segoe UI"/>
              </a:rPr>
              <a:t>systems read the page image – page readers as they are, line engines through one shared Kraken layout, one prompt for every VLM. 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65" name="Connector 397"/>
          <p:cNvCxnSpPr/>
          <p:nvPr/>
        </p:nvCxnSpPr>
        <p:spPr>
          <a:xfrm>
            <a:off x="7913880" y="12618000"/>
            <a:ext cx="180360" cy="360"/>
          </a:xfrm>
          <a:prstGeom prst="straightConnector1">
            <a:avLst/>
          </a:prstGeom>
          <a:ln w="15875">
            <a:solidFill>
              <a:srgbClr val="5B6B85"/>
            </a:solidFill>
            <a:round/>
            <a:tailEnd type="triangle" w="med" len="med"/>
          </a:ln>
        </p:spPr>
      </p:cxnSp>
      <p:sp>
        <p:nvSpPr>
          <p:cNvPr id="366" name="Rectangle 398"/>
          <p:cNvSpPr/>
          <p:nvPr/>
        </p:nvSpPr>
        <p:spPr>
          <a:xfrm>
            <a:off x="8111880" y="11772000"/>
            <a:ext cx="3407760" cy="1691640"/>
          </a:xfrm>
          <a:prstGeom prst="rect">
            <a:avLst/>
          </a:prstGeom>
          <a:solidFill>
            <a:srgbClr val="FAFCFE"/>
          </a:solidFill>
          <a:ln>
            <a:solidFill>
              <a:srgbClr val="CBD6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7" name="Oval 399"/>
          <p:cNvSpPr/>
          <p:nvPr/>
        </p:nvSpPr>
        <p:spPr>
          <a:xfrm>
            <a:off x="8255880" y="11916000"/>
            <a:ext cx="323640" cy="323640"/>
          </a:xfrm>
          <a:prstGeom prst="ellipse">
            <a:avLst/>
          </a:prstGeom>
          <a:solidFill>
            <a:srgbClr val="D962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strike="noStrike" spc="-1">
                <a:solidFill>
                  <a:srgbClr val="FFFFFF"/>
                </a:solidFill>
                <a:latin typeface="Palatino Linotype"/>
              </a:rPr>
              <a:t>3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Box 400"/>
          <p:cNvSpPr/>
          <p:nvPr/>
        </p:nvSpPr>
        <p:spPr>
          <a:xfrm>
            <a:off x="8651880" y="11862000"/>
            <a:ext cx="2759760" cy="43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500" b="1" strike="noStrike" spc="-1">
                <a:solidFill>
                  <a:srgbClr val="14213D"/>
                </a:solidFill>
                <a:latin typeface="Palatino Linotype"/>
              </a:rPr>
              <a:t>Scores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Box 401"/>
          <p:cNvSpPr/>
          <p:nvPr/>
        </p:nvSpPr>
        <p:spPr>
          <a:xfrm>
            <a:off x="8255880" y="12312000"/>
            <a:ext cx="3119760" cy="10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100" b="0" strike="noStrike" spc="-1" dirty="0">
                <a:solidFill>
                  <a:srgbClr val="3F4C63"/>
                </a:solidFill>
                <a:latin typeface="Segoe UI"/>
              </a:rPr>
              <a:t>Five dimensions, 0–1, from the same outputs: whole-page character and word accuracy, three text fidelity facets, an LLM Judge for content integrity, speed, hardware and price for efficiency.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Rectangle 444"/>
          <p:cNvSpPr/>
          <p:nvPr/>
        </p:nvSpPr>
        <p:spPr>
          <a:xfrm>
            <a:off x="864000" y="19656000"/>
            <a:ext cx="14057640" cy="4247640"/>
          </a:xfrm>
          <a:prstGeom prst="rect">
            <a:avLst/>
          </a:prstGeom>
          <a:solidFill>
            <a:srgbClr val="FAFCFE"/>
          </a:solidFill>
          <a:ln>
            <a:solidFill>
              <a:srgbClr val="CBD6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1" name="Oval 445"/>
          <p:cNvSpPr/>
          <p:nvPr/>
        </p:nvSpPr>
        <p:spPr>
          <a:xfrm>
            <a:off x="1116000" y="19908000"/>
            <a:ext cx="575640" cy="575640"/>
          </a:xfrm>
          <a:prstGeom prst="ellipse">
            <a:avLst/>
          </a:prstGeom>
          <a:solidFill>
            <a:srgbClr val="1F5FA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FFFFFF"/>
                </a:solidFill>
                <a:latin typeface="Palatino Linotype"/>
              </a:rPr>
              <a:t>D1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TextBox 446"/>
          <p:cNvSpPr/>
          <p:nvPr/>
        </p:nvSpPr>
        <p:spPr>
          <a:xfrm>
            <a:off x="1800000" y="19800000"/>
            <a:ext cx="12869640" cy="46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2600" b="1" strike="noStrike" spc="-1">
                <a:solidFill>
                  <a:srgbClr val="14213D"/>
                </a:solidFill>
                <a:latin typeface="Palatino Linotype"/>
              </a:rPr>
              <a:t>Character accuracy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Box 447"/>
          <p:cNvSpPr/>
          <p:nvPr/>
        </p:nvSpPr>
        <p:spPr>
          <a:xfrm>
            <a:off x="1800000" y="20268000"/>
            <a:ext cx="1286964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450" b="0" i="1" strike="noStrike" spc="-1">
                <a:solidFill>
                  <a:srgbClr val="5B6B85"/>
                </a:solidFill>
                <a:latin typeface="Segoe UI"/>
              </a:rPr>
              <a:t>How much of the page came back right?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4" name="Picture 448" descr="ABP_B5_1739_00310__aef60c9c.png"/>
          <p:cNvPicPr/>
          <p:nvPr/>
        </p:nvPicPr>
        <p:blipFill>
          <a:blip r:embed="rId7"/>
          <a:stretch/>
        </p:blipFill>
        <p:spPr>
          <a:xfrm>
            <a:off x="1116000" y="20772000"/>
            <a:ext cx="6657120" cy="1583640"/>
          </a:xfrm>
          <a:prstGeom prst="rect">
            <a:avLst/>
          </a:prstGeom>
          <a:ln w="0">
            <a:noFill/>
          </a:ln>
        </p:spPr>
      </p:pic>
      <p:sp>
        <p:nvSpPr>
          <p:cNvPr id="375" name="Rectangle 449"/>
          <p:cNvSpPr/>
          <p:nvPr/>
        </p:nvSpPr>
        <p:spPr>
          <a:xfrm>
            <a:off x="1116000" y="20772000"/>
            <a:ext cx="6657120" cy="1583640"/>
          </a:xfrm>
          <a:prstGeom prst="rect">
            <a:avLst/>
          </a:prstGeom>
          <a:noFill/>
          <a:ln>
            <a:solidFill>
              <a:srgbClr val="CBD6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6" name="TextBox 450"/>
          <p:cNvSpPr/>
          <p:nvPr/>
        </p:nvSpPr>
        <p:spPr>
          <a:xfrm>
            <a:off x="1116000" y="22428000"/>
            <a:ext cx="7589880" cy="86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  <a:spcAft>
                <a:spcPts val="119"/>
              </a:spcAft>
            </a:pPr>
            <a:r>
              <a:rPr lang="en-US" sz="1000" b="1" strike="noStrike" spc="-1">
                <a:solidFill>
                  <a:srgbClr val="5B6B85"/>
                </a:solidFill>
                <a:latin typeface="Segoe UI"/>
              </a:rPr>
              <a:t>reference  </a:t>
            </a:r>
            <a:r>
              <a:rPr lang="en-US" sz="1250" b="0" i="1" strike="noStrike" spc="-1">
                <a:solidFill>
                  <a:srgbClr val="14213D"/>
                </a:solidFill>
                <a:latin typeface="Segoe UI"/>
              </a:rPr>
              <a:t>Concʆ: Sub Consuetis clausu[-]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19"/>
              </a:spcAft>
            </a:pPr>
            <a:r>
              <a:rPr lang="en-US" sz="1000" b="1" strike="noStrike" spc="-1">
                <a:solidFill>
                  <a:srgbClr val="5B6B85"/>
                </a:solidFill>
                <a:latin typeface="Segoe UI"/>
              </a:rPr>
              <a:t>Gemini 3.5 Flash  </a:t>
            </a:r>
            <a:r>
              <a:rPr lang="en-US" sz="1250" b="1" strike="noStrike" spc="-1">
                <a:solidFill>
                  <a:srgbClr val="D9622B"/>
                </a:solidFill>
                <a:latin typeface="Segoe UI"/>
              </a:rPr>
              <a:t>Concl: </a:t>
            </a:r>
            <a:r>
              <a:rPr lang="en-US" sz="1250" b="0" strike="noStrike" spc="-1">
                <a:solidFill>
                  <a:srgbClr val="14213D"/>
                </a:solidFill>
                <a:latin typeface="Segoe UI"/>
              </a:rPr>
              <a:t>Sub Consuetis </a:t>
            </a:r>
            <a:r>
              <a:rPr lang="en-US" sz="1250" b="1" strike="noStrike" spc="-1">
                <a:solidFill>
                  <a:srgbClr val="D9622B"/>
                </a:solidFill>
                <a:latin typeface="Segoe UI"/>
              </a:rPr>
              <a:t>clausulis </a:t>
            </a:r>
            <a:r>
              <a:rPr lang="en-US" sz="1000" b="0" strike="noStrike" spc="-1">
                <a:solidFill>
                  <a:srgbClr val="5B6B85"/>
                </a:solidFill>
                <a:latin typeface="Segoe UI"/>
              </a:rPr>
              <a:t> CER 14 %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19"/>
              </a:spcAft>
            </a:pPr>
            <a:r>
              <a:rPr lang="en-US" sz="1000" b="1" strike="noStrike" spc="-1">
                <a:solidFill>
                  <a:srgbClr val="5B6B85"/>
                </a:solidFill>
                <a:latin typeface="Segoe UI"/>
              </a:rPr>
              <a:t>TrOCR Kurrent XVI–XVII  </a:t>
            </a:r>
            <a:r>
              <a:rPr lang="en-US" sz="1250" b="1" strike="noStrike" spc="-1">
                <a:solidFill>
                  <a:srgbClr val="D9622B"/>
                </a:solidFill>
                <a:latin typeface="Segoe UI"/>
              </a:rPr>
              <a:t>Concl . sub consuetis clausulis </a:t>
            </a:r>
            <a:r>
              <a:rPr lang="en-US" sz="1000" b="0" strike="noStrike" spc="-1">
                <a:solidFill>
                  <a:srgbClr val="5B6B85"/>
                </a:solidFill>
                <a:latin typeface="Segoe UI"/>
              </a:rPr>
              <a:t> CER 29 %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19"/>
              </a:spcAft>
            </a:pPr>
            <a:r>
              <a:rPr lang="en-US" sz="1000" b="1" strike="noStrike" spc="-1">
                <a:solidFill>
                  <a:srgbClr val="5B6B85"/>
                </a:solidFill>
                <a:latin typeface="Segoe UI"/>
              </a:rPr>
              <a:t>Transkribus Text Titan II  </a:t>
            </a:r>
            <a:r>
              <a:rPr lang="en-US" sz="1250" b="1" strike="noStrike" spc="-1">
                <a:solidFill>
                  <a:srgbClr val="D9622B"/>
                </a:solidFill>
                <a:latin typeface="Segoe UI"/>
              </a:rPr>
              <a:t>Concl. </a:t>
            </a:r>
            <a:r>
              <a:rPr lang="en-US" sz="1250" b="0" strike="noStrike" spc="-1">
                <a:solidFill>
                  <a:srgbClr val="14213D"/>
                </a:solidFill>
                <a:latin typeface="Segoe UI"/>
              </a:rPr>
              <a:t>Sub Consuetis </a:t>
            </a:r>
            <a:r>
              <a:rPr lang="en-US" sz="1250" b="1" strike="noStrike" spc="-1">
                <a:solidFill>
                  <a:srgbClr val="D9622B"/>
                </a:solidFill>
                <a:latin typeface="Segoe UI"/>
              </a:rPr>
              <a:t>clausus </a:t>
            </a:r>
            <a:r>
              <a:rPr lang="en-US" sz="1000" b="0" strike="noStrike" spc="-1">
                <a:solidFill>
                  <a:srgbClr val="5B6B85"/>
                </a:solidFill>
                <a:latin typeface="Segoe UI"/>
              </a:rPr>
              <a:t> CER 11 %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77" name="Connector 451"/>
          <p:cNvCxnSpPr/>
          <p:nvPr/>
        </p:nvCxnSpPr>
        <p:spPr>
          <a:xfrm>
            <a:off x="9102240" y="21024000"/>
            <a:ext cx="5460120" cy="360"/>
          </a:xfrm>
          <a:prstGeom prst="straightConnector1">
            <a:avLst/>
          </a:prstGeom>
          <a:ln w="12700">
            <a:solidFill>
              <a:srgbClr val="A9B7C9"/>
            </a:solidFill>
            <a:round/>
          </a:ln>
        </p:spPr>
      </p:cxnSp>
      <p:cxnSp>
        <p:nvCxnSpPr>
          <p:cNvPr id="378" name="Connector 452"/>
          <p:cNvCxnSpPr/>
          <p:nvPr/>
        </p:nvCxnSpPr>
        <p:spPr>
          <a:xfrm>
            <a:off x="9102240" y="20970000"/>
            <a:ext cx="360" cy="108360"/>
          </a:xfrm>
          <a:prstGeom prst="straightConnector1">
            <a:avLst/>
          </a:prstGeom>
          <a:ln w="9525">
            <a:solidFill>
              <a:srgbClr val="A9B7C9"/>
            </a:solidFill>
            <a:round/>
          </a:ln>
        </p:spPr>
      </p:cxnSp>
      <p:sp>
        <p:nvSpPr>
          <p:cNvPr id="379" name="TextBox 453"/>
          <p:cNvSpPr/>
          <p:nvPr/>
        </p:nvSpPr>
        <p:spPr>
          <a:xfrm>
            <a:off x="8886240" y="21096000"/>
            <a:ext cx="431640" cy="1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t">
            <a:noAutofit/>
          </a:bodyPr>
          <a:lstStyle/>
          <a:p>
            <a:pPr algn="ctr"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5B6B85"/>
                </a:solidFill>
                <a:latin typeface="Segoe UI"/>
              </a:rPr>
              <a:t>0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80" name="Connector 454"/>
          <p:cNvCxnSpPr/>
          <p:nvPr/>
        </p:nvCxnSpPr>
        <p:spPr>
          <a:xfrm>
            <a:off x="11832120" y="20970000"/>
            <a:ext cx="360" cy="108360"/>
          </a:xfrm>
          <a:prstGeom prst="straightConnector1">
            <a:avLst/>
          </a:prstGeom>
          <a:ln w="9525">
            <a:solidFill>
              <a:srgbClr val="A9B7C9"/>
            </a:solidFill>
            <a:round/>
          </a:ln>
        </p:spPr>
      </p:cxnSp>
      <p:sp>
        <p:nvSpPr>
          <p:cNvPr id="381" name="TextBox 455"/>
          <p:cNvSpPr/>
          <p:nvPr/>
        </p:nvSpPr>
        <p:spPr>
          <a:xfrm>
            <a:off x="11616120" y="21096000"/>
            <a:ext cx="431640" cy="1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t">
            <a:noAutofit/>
          </a:bodyPr>
          <a:lstStyle/>
          <a:p>
            <a:pPr algn="ctr"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5B6B85"/>
                </a:solidFill>
                <a:latin typeface="Segoe UI"/>
              </a:rPr>
              <a:t>.5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82" name="Connector 456"/>
          <p:cNvCxnSpPr/>
          <p:nvPr/>
        </p:nvCxnSpPr>
        <p:spPr>
          <a:xfrm>
            <a:off x="14562000" y="20970000"/>
            <a:ext cx="360" cy="108360"/>
          </a:xfrm>
          <a:prstGeom prst="straightConnector1">
            <a:avLst/>
          </a:prstGeom>
          <a:ln w="9525">
            <a:solidFill>
              <a:srgbClr val="A9B7C9"/>
            </a:solidFill>
            <a:round/>
          </a:ln>
        </p:spPr>
      </p:cxnSp>
      <p:sp>
        <p:nvSpPr>
          <p:cNvPr id="383" name="TextBox 457"/>
          <p:cNvSpPr/>
          <p:nvPr/>
        </p:nvSpPr>
        <p:spPr>
          <a:xfrm>
            <a:off x="14346000" y="21096000"/>
            <a:ext cx="431640" cy="1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t">
            <a:noAutofit/>
          </a:bodyPr>
          <a:lstStyle/>
          <a:p>
            <a:pPr algn="ctr"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5B6B85"/>
                </a:solidFill>
                <a:latin typeface="Segoe UI"/>
              </a:rPr>
              <a:t>1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Oval 458"/>
          <p:cNvSpPr/>
          <p:nvPr/>
        </p:nvSpPr>
        <p:spPr>
          <a:xfrm>
            <a:off x="10851120" y="20925000"/>
            <a:ext cx="197640" cy="197640"/>
          </a:xfrm>
          <a:prstGeom prst="ellipse">
            <a:avLst/>
          </a:prstGeom>
          <a:solidFill>
            <a:srgbClr val="A6A6C8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5" name="Oval 459"/>
          <p:cNvSpPr/>
          <p:nvPr/>
        </p:nvSpPr>
        <p:spPr>
          <a:xfrm>
            <a:off x="11176560" y="20925000"/>
            <a:ext cx="197640" cy="197640"/>
          </a:xfrm>
          <a:prstGeom prst="ellipse">
            <a:avLst/>
          </a:prstGeom>
          <a:solidFill>
            <a:srgbClr val="5C7A99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6" name="Oval 460"/>
          <p:cNvSpPr/>
          <p:nvPr/>
        </p:nvSpPr>
        <p:spPr>
          <a:xfrm>
            <a:off x="11987640" y="20925000"/>
            <a:ext cx="197640" cy="197640"/>
          </a:xfrm>
          <a:prstGeom prst="ellipse">
            <a:avLst/>
          </a:prstGeom>
          <a:solidFill>
            <a:srgbClr val="7B61C4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7" name="Oval 461"/>
          <p:cNvSpPr/>
          <p:nvPr/>
        </p:nvSpPr>
        <p:spPr>
          <a:xfrm>
            <a:off x="12619800" y="20925000"/>
            <a:ext cx="197640" cy="197640"/>
          </a:xfrm>
          <a:prstGeom prst="ellipse">
            <a:avLst/>
          </a:prstGeom>
          <a:solidFill>
            <a:srgbClr val="6C93CF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8" name="Oval 462"/>
          <p:cNvSpPr/>
          <p:nvPr/>
        </p:nvSpPr>
        <p:spPr>
          <a:xfrm>
            <a:off x="12675240" y="20925000"/>
            <a:ext cx="197640" cy="197640"/>
          </a:xfrm>
          <a:prstGeom prst="ellipse">
            <a:avLst/>
          </a:prstGeom>
          <a:solidFill>
            <a:srgbClr val="63B7B9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9" name="Oval 463"/>
          <p:cNvSpPr/>
          <p:nvPr/>
        </p:nvSpPr>
        <p:spPr>
          <a:xfrm>
            <a:off x="13263840" y="20925000"/>
            <a:ext cx="197640" cy="197640"/>
          </a:xfrm>
          <a:prstGeom prst="ellipse">
            <a:avLst/>
          </a:prstGeom>
          <a:solidFill>
            <a:srgbClr val="2E9E6B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0" name="Oval 464"/>
          <p:cNvSpPr/>
          <p:nvPr/>
        </p:nvSpPr>
        <p:spPr>
          <a:xfrm>
            <a:off x="13476600" y="20925000"/>
            <a:ext cx="197640" cy="197640"/>
          </a:xfrm>
          <a:prstGeom prst="ellipse">
            <a:avLst/>
          </a:prstGeom>
          <a:solidFill>
            <a:srgbClr val="1F5FA8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1" name="Oval 465"/>
          <p:cNvSpPr/>
          <p:nvPr/>
        </p:nvSpPr>
        <p:spPr>
          <a:xfrm>
            <a:off x="13482000" y="20925000"/>
            <a:ext cx="197640" cy="197640"/>
          </a:xfrm>
          <a:prstGeom prst="ellipse">
            <a:avLst/>
          </a:prstGeom>
          <a:solidFill>
            <a:srgbClr val="8BD0AE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2" name="TextBox 466"/>
          <p:cNvSpPr/>
          <p:nvPr/>
        </p:nvSpPr>
        <p:spPr>
          <a:xfrm>
            <a:off x="8994240" y="21276000"/>
            <a:ext cx="5675400" cy="2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28800" rIns="1080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100" b="1" strike="noStrike" spc="-1">
                <a:solidFill>
                  <a:srgbClr val="8BD0AE"/>
                </a:solidFill>
                <a:latin typeface="Segoe UI"/>
              </a:rPr>
              <a:t>▲ </a:t>
            </a:r>
            <a:r>
              <a:rPr lang="en-US" sz="1100" b="0" strike="noStrike" spc="-1">
                <a:solidFill>
                  <a:srgbClr val="5B6B85"/>
                </a:solidFill>
                <a:latin typeface="Segoe UI"/>
              </a:rPr>
              <a:t>Transkribus German Genius 0.82</a:t>
            </a:r>
            <a:r>
              <a:rPr lang="en-US" sz="1100" b="1" strike="noStrike" spc="-1">
                <a:solidFill>
                  <a:srgbClr val="A6A6C8"/>
                </a:solidFill>
                <a:latin typeface="Segoe UI"/>
              </a:rPr>
              <a:t>    ▼ </a:t>
            </a:r>
            <a:r>
              <a:rPr lang="en-US" sz="1100" b="0" strike="noStrike" spc="-1">
                <a:solidFill>
                  <a:srgbClr val="5B6B85"/>
                </a:solidFill>
                <a:latin typeface="Segoe UI"/>
              </a:rPr>
              <a:t>PaddleOCR-VL 1.6 0.34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Box 467"/>
          <p:cNvSpPr/>
          <p:nvPr/>
        </p:nvSpPr>
        <p:spPr>
          <a:xfrm>
            <a:off x="8994240" y="21564000"/>
            <a:ext cx="5675400" cy="172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800" b="1" strike="noStrike" spc="-1">
                <a:solidFill>
                  <a:srgbClr val="14213D"/>
                </a:solidFill>
                <a:latin typeface="Segoe UI"/>
              </a:rPr>
              <a:t>Transkribus German Genius gets 82.0 % of the page's characters right, PaddleOCR-VL 1.6 33.8 %. 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Box 468"/>
          <p:cNvSpPr/>
          <p:nvPr/>
        </p:nvSpPr>
        <p:spPr>
          <a:xfrm>
            <a:off x="1116000" y="23328000"/>
            <a:ext cx="13553640" cy="50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b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100" b="1" strike="noStrike" spc="-1">
                <a:solidFill>
                  <a:srgbClr val="1F5FA8"/>
                </a:solidFill>
                <a:latin typeface="Segoe UI"/>
              </a:rPr>
              <a:t>Measured  </a:t>
            </a:r>
            <a:r>
              <a:rPr lang="en-US" sz="1100" b="0" strike="noStrike" spc="-1">
                <a:solidFill>
                  <a:srgbClr val="5B6B85"/>
                </a:solidFill>
                <a:latin typeface="Segoe UI"/>
              </a:rPr>
              <a:t>1 − CER over the whole page text.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Rectangle 469"/>
          <p:cNvSpPr/>
          <p:nvPr/>
        </p:nvSpPr>
        <p:spPr>
          <a:xfrm>
            <a:off x="15354000" y="19656000"/>
            <a:ext cx="14057640" cy="4247640"/>
          </a:xfrm>
          <a:prstGeom prst="rect">
            <a:avLst/>
          </a:prstGeom>
          <a:solidFill>
            <a:srgbClr val="FAFCFE"/>
          </a:solidFill>
          <a:ln>
            <a:solidFill>
              <a:srgbClr val="CBD6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6" name="Oval 470"/>
          <p:cNvSpPr/>
          <p:nvPr/>
        </p:nvSpPr>
        <p:spPr>
          <a:xfrm>
            <a:off x="15606000" y="19908000"/>
            <a:ext cx="575640" cy="575640"/>
          </a:xfrm>
          <a:prstGeom prst="ellipse">
            <a:avLst/>
          </a:prstGeom>
          <a:solidFill>
            <a:srgbClr val="1F5FA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FFFFFF"/>
                </a:solidFill>
                <a:latin typeface="Palatino Linotype"/>
              </a:rPr>
              <a:t>D2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Box 471"/>
          <p:cNvSpPr/>
          <p:nvPr/>
        </p:nvSpPr>
        <p:spPr>
          <a:xfrm>
            <a:off x="16290000" y="19800000"/>
            <a:ext cx="12869640" cy="46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2600" b="1" strike="noStrike" spc="-1">
                <a:solidFill>
                  <a:srgbClr val="14213D"/>
                </a:solidFill>
                <a:latin typeface="Palatino Linotype"/>
              </a:rPr>
              <a:t>Word accuracy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Box 472"/>
          <p:cNvSpPr/>
          <p:nvPr/>
        </p:nvSpPr>
        <p:spPr>
          <a:xfrm>
            <a:off x="16290000" y="20268000"/>
            <a:ext cx="1286964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450" b="0" i="1" strike="noStrike" spc="-1">
                <a:solidFill>
                  <a:srgbClr val="5B6B85"/>
                </a:solidFill>
                <a:latin typeface="Segoe UI"/>
              </a:rPr>
              <a:t>How many of the page's words came back right?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9" name="Picture 473" descr="ABP_B5_1739_00310__aef60c9c.png"/>
          <p:cNvPicPr/>
          <p:nvPr/>
        </p:nvPicPr>
        <p:blipFill>
          <a:blip r:embed="rId7"/>
          <a:stretch/>
        </p:blipFill>
        <p:spPr>
          <a:xfrm>
            <a:off x="15606000" y="20772000"/>
            <a:ext cx="6657120" cy="1583640"/>
          </a:xfrm>
          <a:prstGeom prst="rect">
            <a:avLst/>
          </a:prstGeom>
          <a:ln w="0">
            <a:noFill/>
          </a:ln>
        </p:spPr>
      </p:pic>
      <p:sp>
        <p:nvSpPr>
          <p:cNvPr id="400" name="Rectangle 474"/>
          <p:cNvSpPr/>
          <p:nvPr/>
        </p:nvSpPr>
        <p:spPr>
          <a:xfrm>
            <a:off x="15606000" y="20772000"/>
            <a:ext cx="6657120" cy="1583640"/>
          </a:xfrm>
          <a:prstGeom prst="rect">
            <a:avLst/>
          </a:prstGeom>
          <a:noFill/>
          <a:ln>
            <a:solidFill>
              <a:srgbClr val="CBD6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1" name="TextBox 475"/>
          <p:cNvSpPr/>
          <p:nvPr/>
        </p:nvSpPr>
        <p:spPr>
          <a:xfrm>
            <a:off x="15606000" y="22428000"/>
            <a:ext cx="7589880" cy="97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  <a:spcAft>
                <a:spcPts val="119"/>
              </a:spcAft>
            </a:pPr>
            <a:r>
              <a:rPr lang="en-US" sz="1100" b="1" strike="noStrike" spc="-1">
                <a:solidFill>
                  <a:srgbClr val="5B6B85"/>
                </a:solidFill>
                <a:latin typeface="Segoe UI"/>
              </a:rPr>
              <a:t>reference  </a:t>
            </a:r>
            <a:r>
              <a:rPr lang="en-US" sz="1450" b="0" i="1" strike="noStrike" spc="-1">
                <a:solidFill>
                  <a:srgbClr val="14213D"/>
                </a:solidFill>
                <a:latin typeface="Segoe UI"/>
              </a:rPr>
              <a:t>Concʆ: Sub Consuetis clausu[-]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19"/>
              </a:spcAft>
            </a:pPr>
            <a:r>
              <a:rPr lang="en-US" sz="1100" b="1" strike="noStrike" spc="-1">
                <a:solidFill>
                  <a:srgbClr val="5B6B85"/>
                </a:solidFill>
                <a:latin typeface="Segoe UI"/>
              </a:rPr>
              <a:t>Gemini 3.5 Flash  </a:t>
            </a:r>
            <a:r>
              <a:rPr lang="en-US" sz="1450" b="1" strike="noStrike" spc="-1">
                <a:solidFill>
                  <a:srgbClr val="D9622B"/>
                </a:solidFill>
                <a:latin typeface="Segoe UI"/>
              </a:rPr>
              <a:t>Concl: </a:t>
            </a:r>
            <a:r>
              <a:rPr lang="en-US" sz="1450" b="0" strike="noStrike" spc="-1">
                <a:solidFill>
                  <a:srgbClr val="14213D"/>
                </a:solidFill>
                <a:latin typeface="Segoe UI"/>
              </a:rPr>
              <a:t>Sub Consuetis </a:t>
            </a:r>
            <a:r>
              <a:rPr lang="en-US" sz="1450" b="1" strike="noStrike" spc="-1">
                <a:solidFill>
                  <a:srgbClr val="D9622B"/>
                </a:solidFill>
                <a:latin typeface="Segoe UI"/>
              </a:rPr>
              <a:t>clausulis </a:t>
            </a:r>
            <a:r>
              <a:rPr lang="en-US" sz="1050" b="0" strike="noStrike" spc="-1">
                <a:solidFill>
                  <a:srgbClr val="5B6B85"/>
                </a:solidFill>
                <a:latin typeface="Segoe UI"/>
              </a:rPr>
              <a:t> WER 50 %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19"/>
              </a:spcAft>
            </a:pPr>
            <a:r>
              <a:rPr lang="en-US" sz="1100" b="1" strike="noStrike" spc="-1">
                <a:solidFill>
                  <a:srgbClr val="5B6B85"/>
                </a:solidFill>
                <a:latin typeface="Segoe UI"/>
              </a:rPr>
              <a:t>TrOCR Kurrent XVI–XVII  </a:t>
            </a:r>
            <a:r>
              <a:rPr lang="en-US" sz="1450" b="1" strike="noStrike" spc="-1">
                <a:solidFill>
                  <a:srgbClr val="D9622B"/>
                </a:solidFill>
                <a:latin typeface="Segoe UI"/>
              </a:rPr>
              <a:t>Concl . sub consuetis clausulis </a:t>
            </a:r>
            <a:r>
              <a:rPr lang="en-US" sz="1050" b="0" strike="noStrike" spc="-1">
                <a:solidFill>
                  <a:srgbClr val="5B6B85"/>
                </a:solidFill>
                <a:latin typeface="Segoe UI"/>
              </a:rPr>
              <a:t> WER 100 %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19"/>
              </a:spcAft>
            </a:pPr>
            <a:r>
              <a:rPr lang="en-US" sz="1100" b="1" strike="noStrike" spc="-1">
                <a:solidFill>
                  <a:srgbClr val="5B6B85"/>
                </a:solidFill>
                <a:latin typeface="Segoe UI"/>
              </a:rPr>
              <a:t>Transkribus Text Titan II  </a:t>
            </a:r>
            <a:r>
              <a:rPr lang="en-US" sz="1450" b="1" strike="noStrike" spc="-1">
                <a:solidFill>
                  <a:srgbClr val="D9622B"/>
                </a:solidFill>
                <a:latin typeface="Segoe UI"/>
              </a:rPr>
              <a:t>Concl. </a:t>
            </a:r>
            <a:r>
              <a:rPr lang="en-US" sz="1450" b="0" strike="noStrike" spc="-1">
                <a:solidFill>
                  <a:srgbClr val="14213D"/>
                </a:solidFill>
                <a:latin typeface="Segoe UI"/>
              </a:rPr>
              <a:t>Sub Consuetis </a:t>
            </a:r>
            <a:r>
              <a:rPr lang="en-US" sz="1450" b="1" strike="noStrike" spc="-1">
                <a:solidFill>
                  <a:srgbClr val="D9622B"/>
                </a:solidFill>
                <a:latin typeface="Segoe UI"/>
              </a:rPr>
              <a:t>clausus </a:t>
            </a:r>
            <a:r>
              <a:rPr lang="en-US" sz="1050" b="0" strike="noStrike" spc="-1">
                <a:solidFill>
                  <a:srgbClr val="5B6B85"/>
                </a:solidFill>
                <a:latin typeface="Segoe UI"/>
              </a:rPr>
              <a:t> WER 50 %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02" name="Connector 476"/>
          <p:cNvCxnSpPr/>
          <p:nvPr/>
        </p:nvCxnSpPr>
        <p:spPr>
          <a:xfrm>
            <a:off x="23592240" y="21024000"/>
            <a:ext cx="5460120" cy="360"/>
          </a:xfrm>
          <a:prstGeom prst="straightConnector1">
            <a:avLst/>
          </a:prstGeom>
          <a:ln w="12700">
            <a:solidFill>
              <a:srgbClr val="A9B7C9"/>
            </a:solidFill>
            <a:round/>
          </a:ln>
        </p:spPr>
      </p:cxnSp>
      <p:cxnSp>
        <p:nvCxnSpPr>
          <p:cNvPr id="403" name="Connector 477"/>
          <p:cNvCxnSpPr/>
          <p:nvPr/>
        </p:nvCxnSpPr>
        <p:spPr>
          <a:xfrm>
            <a:off x="23592240" y="20970000"/>
            <a:ext cx="360" cy="108360"/>
          </a:xfrm>
          <a:prstGeom prst="straightConnector1">
            <a:avLst/>
          </a:prstGeom>
          <a:ln w="9525">
            <a:solidFill>
              <a:srgbClr val="A9B7C9"/>
            </a:solidFill>
            <a:round/>
          </a:ln>
        </p:spPr>
      </p:cxnSp>
      <p:sp>
        <p:nvSpPr>
          <p:cNvPr id="404" name="TextBox 478"/>
          <p:cNvSpPr/>
          <p:nvPr/>
        </p:nvSpPr>
        <p:spPr>
          <a:xfrm>
            <a:off x="23376240" y="21096000"/>
            <a:ext cx="431640" cy="1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t">
            <a:noAutofit/>
          </a:bodyPr>
          <a:lstStyle/>
          <a:p>
            <a:pPr algn="ctr"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5B6B85"/>
                </a:solidFill>
                <a:latin typeface="Segoe UI"/>
              </a:rPr>
              <a:t>0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05" name="Connector 479"/>
          <p:cNvCxnSpPr/>
          <p:nvPr/>
        </p:nvCxnSpPr>
        <p:spPr>
          <a:xfrm>
            <a:off x="26322120" y="20970000"/>
            <a:ext cx="360" cy="108360"/>
          </a:xfrm>
          <a:prstGeom prst="straightConnector1">
            <a:avLst/>
          </a:prstGeom>
          <a:ln w="9525">
            <a:solidFill>
              <a:srgbClr val="A9B7C9"/>
            </a:solidFill>
            <a:round/>
          </a:ln>
        </p:spPr>
      </p:cxnSp>
      <p:sp>
        <p:nvSpPr>
          <p:cNvPr id="406" name="TextBox 480"/>
          <p:cNvSpPr/>
          <p:nvPr/>
        </p:nvSpPr>
        <p:spPr>
          <a:xfrm>
            <a:off x="26106120" y="21096000"/>
            <a:ext cx="431640" cy="1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t">
            <a:noAutofit/>
          </a:bodyPr>
          <a:lstStyle/>
          <a:p>
            <a:pPr algn="ctr"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5B6B85"/>
                </a:solidFill>
                <a:latin typeface="Segoe UI"/>
              </a:rPr>
              <a:t>.5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07" name="Connector 481"/>
          <p:cNvCxnSpPr/>
          <p:nvPr/>
        </p:nvCxnSpPr>
        <p:spPr>
          <a:xfrm>
            <a:off x="29052000" y="20970000"/>
            <a:ext cx="360" cy="108360"/>
          </a:xfrm>
          <a:prstGeom prst="straightConnector1">
            <a:avLst/>
          </a:prstGeom>
          <a:ln w="9525">
            <a:solidFill>
              <a:srgbClr val="A9B7C9"/>
            </a:solidFill>
            <a:round/>
          </a:ln>
        </p:spPr>
      </p:cxnSp>
      <p:sp>
        <p:nvSpPr>
          <p:cNvPr id="408" name="TextBox 482"/>
          <p:cNvSpPr/>
          <p:nvPr/>
        </p:nvSpPr>
        <p:spPr>
          <a:xfrm>
            <a:off x="28836000" y="21096000"/>
            <a:ext cx="431640" cy="1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t">
            <a:noAutofit/>
          </a:bodyPr>
          <a:lstStyle/>
          <a:p>
            <a:pPr algn="ctr"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5B6B85"/>
                </a:solidFill>
                <a:latin typeface="Segoe UI"/>
              </a:rPr>
              <a:t>1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Oval 483"/>
          <p:cNvSpPr/>
          <p:nvPr/>
        </p:nvSpPr>
        <p:spPr>
          <a:xfrm>
            <a:off x="23846760" y="20925000"/>
            <a:ext cx="197640" cy="197640"/>
          </a:xfrm>
          <a:prstGeom prst="ellipse">
            <a:avLst/>
          </a:prstGeom>
          <a:solidFill>
            <a:srgbClr val="A6A6C8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0" name="Oval 484"/>
          <p:cNvSpPr/>
          <p:nvPr/>
        </p:nvSpPr>
        <p:spPr>
          <a:xfrm>
            <a:off x="24171480" y="20925000"/>
            <a:ext cx="197640" cy="197640"/>
          </a:xfrm>
          <a:prstGeom prst="ellipse">
            <a:avLst/>
          </a:prstGeom>
          <a:solidFill>
            <a:srgbClr val="7B61C4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1" name="Oval 485"/>
          <p:cNvSpPr/>
          <p:nvPr/>
        </p:nvSpPr>
        <p:spPr>
          <a:xfrm>
            <a:off x="24390000" y="20925000"/>
            <a:ext cx="197640" cy="197640"/>
          </a:xfrm>
          <a:prstGeom prst="ellipse">
            <a:avLst/>
          </a:prstGeom>
          <a:solidFill>
            <a:srgbClr val="5C7A99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2" name="Oval 486"/>
          <p:cNvSpPr/>
          <p:nvPr/>
        </p:nvSpPr>
        <p:spPr>
          <a:xfrm>
            <a:off x="24639840" y="20925000"/>
            <a:ext cx="197640" cy="197640"/>
          </a:xfrm>
          <a:prstGeom prst="ellipse">
            <a:avLst/>
          </a:prstGeom>
          <a:solidFill>
            <a:srgbClr val="63B7B9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3" name="Oval 487"/>
          <p:cNvSpPr/>
          <p:nvPr/>
        </p:nvSpPr>
        <p:spPr>
          <a:xfrm>
            <a:off x="25612920" y="20925000"/>
            <a:ext cx="197640" cy="197640"/>
          </a:xfrm>
          <a:prstGeom prst="ellipse">
            <a:avLst/>
          </a:prstGeom>
          <a:solidFill>
            <a:srgbClr val="6C93CF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4" name="Oval 488"/>
          <p:cNvSpPr/>
          <p:nvPr/>
        </p:nvSpPr>
        <p:spPr>
          <a:xfrm>
            <a:off x="26267040" y="20925000"/>
            <a:ext cx="197640" cy="197640"/>
          </a:xfrm>
          <a:prstGeom prst="ellipse">
            <a:avLst/>
          </a:prstGeom>
          <a:solidFill>
            <a:srgbClr val="2E9E6B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5" name="Oval 489"/>
          <p:cNvSpPr/>
          <p:nvPr/>
        </p:nvSpPr>
        <p:spPr>
          <a:xfrm>
            <a:off x="26663040" y="20925000"/>
            <a:ext cx="197640" cy="197640"/>
          </a:xfrm>
          <a:prstGeom prst="ellipse">
            <a:avLst/>
          </a:prstGeom>
          <a:solidFill>
            <a:srgbClr val="8BD0AE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6" name="Oval 490"/>
          <p:cNvSpPr/>
          <p:nvPr/>
        </p:nvSpPr>
        <p:spPr>
          <a:xfrm>
            <a:off x="26904600" y="20925000"/>
            <a:ext cx="197640" cy="197640"/>
          </a:xfrm>
          <a:prstGeom prst="ellipse">
            <a:avLst/>
          </a:prstGeom>
          <a:solidFill>
            <a:srgbClr val="1F5FA8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7" name="TextBox 491"/>
          <p:cNvSpPr/>
          <p:nvPr/>
        </p:nvSpPr>
        <p:spPr>
          <a:xfrm>
            <a:off x="23484240" y="21276000"/>
            <a:ext cx="5675400" cy="2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28800" rIns="1080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100" b="1" strike="noStrike" spc="-1">
                <a:solidFill>
                  <a:srgbClr val="1F5FA8"/>
                </a:solidFill>
                <a:latin typeface="Segoe UI"/>
              </a:rPr>
              <a:t>▲ </a:t>
            </a:r>
            <a:r>
              <a:rPr lang="en-US" sz="1100" b="0" strike="noStrike" spc="-1">
                <a:solidFill>
                  <a:srgbClr val="5B6B85"/>
                </a:solidFill>
                <a:latin typeface="Segoe UI"/>
              </a:rPr>
              <a:t>Gemini 3.5 Flash 0.62</a:t>
            </a:r>
            <a:r>
              <a:rPr lang="en-US" sz="1100" b="1" strike="noStrike" spc="-1">
                <a:solidFill>
                  <a:srgbClr val="A6A6C8"/>
                </a:solidFill>
                <a:latin typeface="Segoe UI"/>
              </a:rPr>
              <a:t>    ▼ </a:t>
            </a:r>
            <a:r>
              <a:rPr lang="en-US" sz="1100" b="0" strike="noStrike" spc="-1">
                <a:solidFill>
                  <a:srgbClr val="5B6B85"/>
                </a:solidFill>
                <a:latin typeface="Segoe UI"/>
              </a:rPr>
              <a:t>PaddleOCR-VL 1.6 0.06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Box 492"/>
          <p:cNvSpPr/>
          <p:nvPr/>
        </p:nvSpPr>
        <p:spPr>
          <a:xfrm>
            <a:off x="23484240" y="21564000"/>
            <a:ext cx="5675400" cy="183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800" b="1" strike="noStrike" spc="-1" dirty="0">
                <a:solidFill>
                  <a:srgbClr val="14213D"/>
                </a:solidFill>
                <a:latin typeface="Segoe UI"/>
              </a:rPr>
              <a:t>Gemini 3.5 Flash gets 62.5 % of the page's words right, </a:t>
            </a:r>
            <a:r>
              <a:rPr lang="en-US" sz="1800" b="1" strike="noStrike" spc="-1" dirty="0" err="1">
                <a:solidFill>
                  <a:srgbClr val="14213D"/>
                </a:solidFill>
                <a:latin typeface="Segoe UI"/>
              </a:rPr>
              <a:t>PaddleOCR</a:t>
            </a:r>
            <a:r>
              <a:rPr lang="en-US" sz="1800" b="1" strike="noStrike" spc="-1" dirty="0">
                <a:solidFill>
                  <a:srgbClr val="14213D"/>
                </a:solidFill>
                <a:latin typeface="Segoe UI"/>
              </a:rPr>
              <a:t>-VL 1.6 6.5 %. </a:t>
            </a:r>
            <a:r>
              <a:rPr lang="en-US" sz="1800" b="0" strike="noStrike" spc="-1" dirty="0">
                <a:solidFill>
                  <a:srgbClr val="14213D"/>
                </a:solidFill>
                <a:latin typeface="Segoe UI"/>
              </a:rPr>
              <a:t>One wrong character costs the whole word.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Box 493"/>
          <p:cNvSpPr/>
          <p:nvPr/>
        </p:nvSpPr>
        <p:spPr>
          <a:xfrm>
            <a:off x="15606000" y="23436000"/>
            <a:ext cx="13553640" cy="39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b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100" b="1" strike="noStrike" spc="-1">
                <a:solidFill>
                  <a:srgbClr val="1F5FA8"/>
                </a:solidFill>
                <a:latin typeface="Segoe UI"/>
              </a:rPr>
              <a:t>Measured  </a:t>
            </a:r>
            <a:r>
              <a:rPr lang="en-US" sz="1100" b="0" strike="noStrike" spc="-1">
                <a:solidFill>
                  <a:srgbClr val="5B6B85"/>
                </a:solidFill>
                <a:latin typeface="Segoe UI"/>
              </a:rPr>
              <a:t>1 − WER over the whole page text.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Rectangle 494"/>
          <p:cNvSpPr/>
          <p:nvPr/>
        </p:nvSpPr>
        <p:spPr>
          <a:xfrm>
            <a:off x="864000" y="24336000"/>
            <a:ext cx="9227520" cy="5975640"/>
          </a:xfrm>
          <a:prstGeom prst="rect">
            <a:avLst/>
          </a:prstGeom>
          <a:solidFill>
            <a:srgbClr val="FAFCFE"/>
          </a:solidFill>
          <a:ln>
            <a:solidFill>
              <a:srgbClr val="CBD6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1" name="Oval 495"/>
          <p:cNvSpPr/>
          <p:nvPr/>
        </p:nvSpPr>
        <p:spPr>
          <a:xfrm>
            <a:off x="1116000" y="24588000"/>
            <a:ext cx="575640" cy="575640"/>
          </a:xfrm>
          <a:prstGeom prst="ellipse">
            <a:avLst/>
          </a:prstGeom>
          <a:solidFill>
            <a:srgbClr val="1F5FA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FFFFFF"/>
                </a:solidFill>
                <a:latin typeface="Palatino Linotype"/>
              </a:rPr>
              <a:t>D3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Box 496"/>
          <p:cNvSpPr/>
          <p:nvPr/>
        </p:nvSpPr>
        <p:spPr>
          <a:xfrm>
            <a:off x="1800000" y="24480000"/>
            <a:ext cx="8039520" cy="46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2600" b="1" strike="noStrike" spc="-1">
                <a:solidFill>
                  <a:srgbClr val="14213D"/>
                </a:solidFill>
                <a:latin typeface="Palatino Linotype"/>
              </a:rPr>
              <a:t>Diplomatic fidelity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Box 497"/>
          <p:cNvSpPr/>
          <p:nvPr/>
        </p:nvSpPr>
        <p:spPr>
          <a:xfrm>
            <a:off x="1800000" y="24948000"/>
            <a:ext cx="803952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450" b="0" i="1" strike="noStrike" spc="-1">
                <a:solidFill>
                  <a:srgbClr val="5B6B85"/>
                </a:solidFill>
                <a:latin typeface="Segoe UI"/>
              </a:rPr>
              <a:t>Is the text kept as written – letter forms, punctuation, capitals?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4" name="Picture 498" descr="ABP_B5_1739_00310__ad6fec5d.png"/>
          <p:cNvPicPr/>
          <p:nvPr/>
        </p:nvPicPr>
        <p:blipFill>
          <a:blip r:embed="rId8"/>
          <a:stretch/>
        </p:blipFill>
        <p:spPr>
          <a:xfrm>
            <a:off x="1116000" y="25452000"/>
            <a:ext cx="6723358" cy="1620000"/>
          </a:xfrm>
          <a:prstGeom prst="rect">
            <a:avLst/>
          </a:prstGeom>
          <a:ln w="0">
            <a:noFill/>
          </a:ln>
        </p:spPr>
      </p:pic>
      <p:sp>
        <p:nvSpPr>
          <p:cNvPr id="425" name="Rectangle 499"/>
          <p:cNvSpPr/>
          <p:nvPr/>
        </p:nvSpPr>
        <p:spPr>
          <a:xfrm>
            <a:off x="1116000" y="25452000"/>
            <a:ext cx="6723358" cy="1620000"/>
          </a:xfrm>
          <a:prstGeom prst="rect">
            <a:avLst/>
          </a:prstGeom>
          <a:noFill/>
          <a:ln>
            <a:solidFill>
              <a:srgbClr val="CBD6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6" name="TextBox 500"/>
          <p:cNvSpPr/>
          <p:nvPr/>
        </p:nvSpPr>
        <p:spPr>
          <a:xfrm>
            <a:off x="1116000" y="27144000"/>
            <a:ext cx="8723520" cy="97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  <a:spcAft>
                <a:spcPts val="119"/>
              </a:spcAft>
            </a:pPr>
            <a:r>
              <a:rPr lang="en-US" sz="1350" b="1" strike="noStrike" spc="-1" dirty="0">
                <a:solidFill>
                  <a:srgbClr val="5B6B85"/>
                </a:solidFill>
                <a:latin typeface="Segoe UI"/>
              </a:rPr>
              <a:t>reference  </a:t>
            </a:r>
            <a:r>
              <a:rPr lang="en-US" sz="1700" b="1" strike="noStrike" spc="-1" dirty="0" err="1">
                <a:solidFill>
                  <a:srgbClr val="1F5FA8"/>
                </a:solidFill>
                <a:latin typeface="Segoe UI"/>
              </a:rPr>
              <a:t>ſ</a:t>
            </a:r>
            <a:r>
              <a:rPr lang="en-US" sz="1700" b="0" strike="noStrike" spc="-1" dirty="0" err="1">
                <a:solidFill>
                  <a:srgbClr val="14213D"/>
                </a:solidFill>
                <a:latin typeface="Segoe UI"/>
              </a:rPr>
              <a:t>ee</a:t>
            </a:r>
            <a:r>
              <a:rPr lang="en-US" sz="1700" b="1" strike="noStrike" spc="-1" dirty="0" err="1">
                <a:solidFill>
                  <a:srgbClr val="1F5FA8"/>
                </a:solidFill>
                <a:latin typeface="Segoe UI"/>
              </a:rPr>
              <a:t>ʆ</a:t>
            </a:r>
            <a:r>
              <a:rPr lang="en-US" sz="1700" b="0" strike="noStrike" spc="-1" dirty="0">
                <a:solidFill>
                  <a:srgbClr val="14213D"/>
                </a:solidFill>
                <a:latin typeface="Segoe UI"/>
              </a:rPr>
              <a:t> </a:t>
            </a:r>
            <a:r>
              <a:rPr lang="en-US" sz="1700" b="0" strike="noStrike" spc="-1" dirty="0" err="1">
                <a:solidFill>
                  <a:srgbClr val="14213D"/>
                </a:solidFill>
                <a:latin typeface="Segoe UI"/>
              </a:rPr>
              <a:t>gewe</a:t>
            </a:r>
            <a:r>
              <a:rPr lang="en-US" sz="1700" b="1" strike="noStrike" spc="-1" dirty="0" err="1">
                <a:solidFill>
                  <a:srgbClr val="1F5FA8"/>
                </a:solidFill>
                <a:latin typeface="Segoe UI"/>
              </a:rPr>
              <a:t>ſ</a:t>
            </a:r>
            <a:r>
              <a:rPr lang="en-US" sz="1700" b="0" strike="noStrike" spc="-1" dirty="0" err="1">
                <a:solidFill>
                  <a:srgbClr val="14213D"/>
                </a:solidFill>
                <a:latin typeface="Segoe UI"/>
              </a:rPr>
              <a:t>te</a:t>
            </a:r>
            <a:r>
              <a:rPr lang="en-US" sz="1700" b="0" strike="noStrike" spc="-1" dirty="0">
                <a:solidFill>
                  <a:srgbClr val="14213D"/>
                </a:solidFill>
                <a:latin typeface="Segoe UI"/>
              </a:rPr>
              <a:t> </a:t>
            </a:r>
            <a:r>
              <a:rPr lang="en-US" sz="1700" b="0" strike="noStrike" spc="-1" dirty="0" err="1">
                <a:solidFill>
                  <a:srgbClr val="14213D"/>
                </a:solidFill>
                <a:latin typeface="Segoe UI"/>
              </a:rPr>
              <a:t>Köchin</a:t>
            </a:r>
            <a:r>
              <a:rPr lang="en-US" sz="1700" b="0" strike="noStrike" spc="-1" dirty="0">
                <a:solidFill>
                  <a:srgbClr val="14213D"/>
                </a:solidFill>
                <a:latin typeface="Segoe UI"/>
              </a:rPr>
              <a:t> </a:t>
            </a:r>
            <a:r>
              <a:rPr lang="en-US" sz="1700" b="0" strike="noStrike" spc="-1" dirty="0" err="1">
                <a:solidFill>
                  <a:srgbClr val="14213D"/>
                </a:solidFill>
                <a:latin typeface="Segoe UI"/>
              </a:rPr>
              <a:t>außge</a:t>
            </a:r>
            <a:r>
              <a:rPr lang="en-US" sz="1700" b="1" strike="noStrike" spc="-1" dirty="0" err="1">
                <a:solidFill>
                  <a:srgbClr val="1F5FA8"/>
                </a:solidFill>
                <a:latin typeface="Segoe UI"/>
              </a:rPr>
              <a:t>ſ</a:t>
            </a:r>
            <a:r>
              <a:rPr lang="en-US" sz="1700" b="0" strike="noStrike" spc="-1" dirty="0" err="1">
                <a:solidFill>
                  <a:srgbClr val="14213D"/>
                </a:solidFill>
                <a:latin typeface="Segoe UI"/>
              </a:rPr>
              <a:t>aget</a:t>
            </a:r>
            <a:r>
              <a:rPr lang="en-US" sz="1700" b="0" strike="noStrike" spc="-1" dirty="0">
                <a:solidFill>
                  <a:srgbClr val="14213D"/>
                </a:solidFill>
                <a:latin typeface="Segoe UI"/>
              </a:rPr>
              <a:t> d</a:t>
            </a:r>
            <a:endParaRPr lang="en-US" sz="17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19"/>
              </a:spcAft>
            </a:pPr>
            <a:r>
              <a:rPr lang="en-US" sz="1350" b="1" strike="noStrike" spc="-1" dirty="0">
                <a:solidFill>
                  <a:srgbClr val="5B6B85"/>
                </a:solidFill>
                <a:latin typeface="Segoe UI"/>
              </a:rPr>
              <a:t>Gemini 3.5 Flash  </a:t>
            </a:r>
            <a:r>
              <a:rPr lang="en-US" sz="1700" b="0" strike="noStrike" spc="-1" dirty="0" err="1">
                <a:solidFill>
                  <a:srgbClr val="14213D"/>
                </a:solidFill>
                <a:latin typeface="Segoe UI"/>
              </a:rPr>
              <a:t>praef</a:t>
            </a:r>
            <a:r>
              <a:rPr lang="en-US" sz="1700" b="0" strike="noStrike" spc="-1" dirty="0">
                <a:solidFill>
                  <a:srgbClr val="14213D"/>
                </a:solidFill>
                <a:latin typeface="Segoe UI"/>
              </a:rPr>
              <a:t>: </a:t>
            </a:r>
            <a:r>
              <a:rPr lang="en-US" sz="1700" b="0" strike="noStrike" spc="-1" dirty="0" err="1">
                <a:solidFill>
                  <a:srgbClr val="14213D"/>
                </a:solidFill>
                <a:latin typeface="Segoe UI"/>
              </a:rPr>
              <a:t>geweste</a:t>
            </a:r>
            <a:r>
              <a:rPr lang="en-US" sz="1700" b="0" strike="noStrike" spc="-1" dirty="0">
                <a:solidFill>
                  <a:srgbClr val="14213D"/>
                </a:solidFill>
                <a:latin typeface="Segoe UI"/>
              </a:rPr>
              <a:t> </a:t>
            </a:r>
            <a:r>
              <a:rPr lang="en-US" sz="1700" b="0" strike="noStrike" spc="-1" dirty="0" err="1">
                <a:solidFill>
                  <a:srgbClr val="14213D"/>
                </a:solidFill>
                <a:latin typeface="Segoe UI"/>
              </a:rPr>
              <a:t>Köchin</a:t>
            </a:r>
            <a:r>
              <a:rPr lang="en-US" sz="1700" b="0" strike="noStrike" spc="-1" dirty="0">
                <a:solidFill>
                  <a:srgbClr val="14213D"/>
                </a:solidFill>
                <a:latin typeface="Segoe UI"/>
              </a:rPr>
              <a:t> </a:t>
            </a:r>
            <a:r>
              <a:rPr lang="en-US" sz="1700" b="0" strike="noStrike" spc="-1" dirty="0" err="1">
                <a:solidFill>
                  <a:srgbClr val="14213D"/>
                </a:solidFill>
                <a:latin typeface="Segoe UI"/>
              </a:rPr>
              <a:t>außgesaget</a:t>
            </a:r>
            <a:r>
              <a:rPr lang="en-US" sz="1700" b="0" strike="noStrike" spc="-1" dirty="0">
                <a:solidFill>
                  <a:srgbClr val="14213D"/>
                </a:solidFill>
                <a:latin typeface="Segoe UI"/>
              </a:rPr>
              <a:t>, </a:t>
            </a:r>
            <a:r>
              <a:rPr lang="en-US" sz="1700" b="0" strike="noStrike" spc="-1" dirty="0" err="1">
                <a:solidFill>
                  <a:srgbClr val="14213D"/>
                </a:solidFill>
                <a:latin typeface="Segoe UI"/>
              </a:rPr>
              <a:t>dß</a:t>
            </a:r>
            <a:endParaRPr lang="en-US" sz="17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19"/>
              </a:spcAft>
            </a:pPr>
            <a:r>
              <a:rPr lang="en-US" sz="1350" b="1" strike="noStrike" spc="-1" dirty="0">
                <a:solidFill>
                  <a:srgbClr val="5B6B85"/>
                </a:solidFill>
                <a:latin typeface="Segoe UI"/>
              </a:rPr>
              <a:t>Kraken 19th-c. </a:t>
            </a:r>
            <a:r>
              <a:rPr lang="en-US" sz="1350" b="1" strike="noStrike" spc="-1" dirty="0" err="1">
                <a:solidFill>
                  <a:srgbClr val="5B6B85"/>
                </a:solidFill>
                <a:latin typeface="Segoe UI"/>
              </a:rPr>
              <a:t>Kurrent</a:t>
            </a:r>
            <a:r>
              <a:rPr lang="en-US" sz="1350" b="1" strike="noStrike" spc="-1" dirty="0">
                <a:solidFill>
                  <a:srgbClr val="5B6B85"/>
                </a:solidFill>
                <a:latin typeface="Segoe UI"/>
              </a:rPr>
              <a:t>  </a:t>
            </a:r>
            <a:r>
              <a:rPr lang="en-US" sz="1700" b="0" strike="noStrike" spc="-1" dirty="0" err="1">
                <a:solidFill>
                  <a:srgbClr val="14213D"/>
                </a:solidFill>
                <a:latin typeface="Segoe UI"/>
              </a:rPr>
              <a:t>ras</a:t>
            </a:r>
            <a:r>
              <a:rPr lang="en-US" sz="1700" b="0" strike="noStrike" spc="-1" dirty="0">
                <a:solidFill>
                  <a:srgbClr val="14213D"/>
                </a:solidFill>
                <a:latin typeface="Segoe UI"/>
              </a:rPr>
              <a:t> </a:t>
            </a:r>
            <a:r>
              <a:rPr lang="en-US" sz="1700" b="0" strike="noStrike" spc="-1" dirty="0" err="1">
                <a:solidFill>
                  <a:srgbClr val="14213D"/>
                </a:solidFill>
                <a:latin typeface="Segoe UI"/>
              </a:rPr>
              <a:t>gere</a:t>
            </a:r>
            <a:r>
              <a:rPr lang="en-US" sz="1700" b="1" strike="noStrike" spc="-1" dirty="0" err="1">
                <a:solidFill>
                  <a:srgbClr val="1F5FA8"/>
                </a:solidFill>
                <a:latin typeface="Segoe UI"/>
              </a:rPr>
              <a:t>ſ</a:t>
            </a:r>
            <a:r>
              <a:rPr lang="en-US" sz="1700" b="0" strike="noStrike" spc="-1" dirty="0" err="1">
                <a:solidFill>
                  <a:srgbClr val="14213D"/>
                </a:solidFill>
                <a:latin typeface="Segoe UI"/>
              </a:rPr>
              <a:t>te</a:t>
            </a:r>
            <a:r>
              <a:rPr lang="en-US" sz="1700" b="0" strike="noStrike" spc="-1" dirty="0">
                <a:solidFill>
                  <a:srgbClr val="14213D"/>
                </a:solidFill>
                <a:latin typeface="Segoe UI"/>
              </a:rPr>
              <a:t>. </a:t>
            </a:r>
            <a:r>
              <a:rPr lang="en-US" sz="1700" b="0" strike="noStrike" spc="-1" dirty="0" err="1">
                <a:solidFill>
                  <a:srgbClr val="14213D"/>
                </a:solidFill>
                <a:latin typeface="Segoe UI"/>
              </a:rPr>
              <a:t>Lachm</a:t>
            </a:r>
            <a:r>
              <a:rPr lang="en-US" sz="1700" b="0" strike="noStrike" spc="-1" dirty="0">
                <a:solidFill>
                  <a:srgbClr val="14213D"/>
                </a:solidFill>
                <a:latin typeface="Segoe UI"/>
              </a:rPr>
              <a:t> </a:t>
            </a:r>
            <a:r>
              <a:rPr lang="en-US" sz="1700" b="0" strike="noStrike" spc="-1" dirty="0" err="1">
                <a:solidFill>
                  <a:srgbClr val="14213D"/>
                </a:solidFill>
                <a:latin typeface="Segoe UI"/>
              </a:rPr>
              <a:t>außge</a:t>
            </a:r>
            <a:r>
              <a:rPr lang="en-US" sz="1700" b="1" strike="noStrike" spc="-1" dirty="0" err="1">
                <a:solidFill>
                  <a:srgbClr val="1F5FA8"/>
                </a:solidFill>
                <a:latin typeface="Segoe UI"/>
              </a:rPr>
              <a:t>ſ</a:t>
            </a:r>
            <a:r>
              <a:rPr lang="en-US" sz="1700" b="0" strike="noStrike" spc="-1" dirty="0" err="1">
                <a:solidFill>
                  <a:srgbClr val="14213D"/>
                </a:solidFill>
                <a:latin typeface="Segoe UI"/>
              </a:rPr>
              <a:t>uget</a:t>
            </a:r>
            <a:r>
              <a:rPr lang="en-US" sz="1700" b="0" strike="noStrike" spc="-1" dirty="0">
                <a:solidFill>
                  <a:srgbClr val="14213D"/>
                </a:solidFill>
                <a:latin typeface="Segoe UI"/>
              </a:rPr>
              <a:t> u.</a:t>
            </a:r>
            <a:endParaRPr lang="en-US" sz="17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19"/>
              </a:spcAft>
            </a:pPr>
            <a:r>
              <a:rPr lang="en-US" sz="1350" b="1" strike="noStrike" spc="-1" dirty="0" err="1">
                <a:solidFill>
                  <a:srgbClr val="5B6B85"/>
                </a:solidFill>
                <a:latin typeface="Segoe UI"/>
              </a:rPr>
              <a:t>Transkribus</a:t>
            </a:r>
            <a:r>
              <a:rPr lang="en-US" sz="1350" b="1" strike="noStrike" spc="-1" dirty="0">
                <a:solidFill>
                  <a:srgbClr val="5B6B85"/>
                </a:solidFill>
                <a:latin typeface="Segoe UI"/>
              </a:rPr>
              <a:t> Text Titan II  </a:t>
            </a:r>
            <a:r>
              <a:rPr lang="en-US" sz="1700" b="0" strike="noStrike" spc="-1" dirty="0" err="1">
                <a:solidFill>
                  <a:srgbClr val="14213D"/>
                </a:solidFill>
                <a:latin typeface="Segoe UI"/>
              </a:rPr>
              <a:t>seel</a:t>
            </a:r>
            <a:r>
              <a:rPr lang="en-US" sz="1700" b="0" strike="noStrike" spc="-1" dirty="0">
                <a:solidFill>
                  <a:srgbClr val="14213D"/>
                </a:solidFill>
                <a:latin typeface="Segoe UI"/>
              </a:rPr>
              <a:t> </a:t>
            </a:r>
            <a:r>
              <a:rPr lang="en-US" sz="1700" b="0" strike="noStrike" spc="-1" dirty="0" err="1">
                <a:solidFill>
                  <a:srgbClr val="14213D"/>
                </a:solidFill>
                <a:latin typeface="Segoe UI"/>
              </a:rPr>
              <a:t>geweste</a:t>
            </a:r>
            <a:r>
              <a:rPr lang="en-US" sz="1700" b="0" strike="noStrike" spc="-1" dirty="0">
                <a:solidFill>
                  <a:srgbClr val="14213D"/>
                </a:solidFill>
                <a:latin typeface="Segoe UI"/>
              </a:rPr>
              <a:t> </a:t>
            </a:r>
            <a:r>
              <a:rPr lang="en-US" sz="1700" b="0" strike="noStrike" spc="-1" dirty="0" err="1">
                <a:solidFill>
                  <a:srgbClr val="14213D"/>
                </a:solidFill>
                <a:latin typeface="Segoe UI"/>
              </a:rPr>
              <a:t>Köchin</a:t>
            </a:r>
            <a:r>
              <a:rPr lang="en-US" sz="1700" b="0" strike="noStrike" spc="-1" dirty="0">
                <a:solidFill>
                  <a:srgbClr val="14213D"/>
                </a:solidFill>
                <a:latin typeface="Segoe UI"/>
              </a:rPr>
              <a:t> </a:t>
            </a:r>
            <a:r>
              <a:rPr lang="en-US" sz="1700" b="0" strike="noStrike" spc="-1" dirty="0" err="1">
                <a:solidFill>
                  <a:srgbClr val="14213D"/>
                </a:solidFill>
                <a:latin typeface="Segoe UI"/>
              </a:rPr>
              <a:t>außgesaget</a:t>
            </a:r>
            <a:r>
              <a:rPr lang="en-US" sz="1700" b="0" strike="noStrike" spc="-1" dirty="0">
                <a:solidFill>
                  <a:srgbClr val="14213D"/>
                </a:solidFill>
                <a:latin typeface="Segoe UI"/>
              </a:rPr>
              <a:t>, da</a:t>
            </a:r>
            <a:endParaRPr lang="en-US" sz="17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Box 518"/>
          <p:cNvSpPr/>
          <p:nvPr/>
        </p:nvSpPr>
        <p:spPr>
          <a:xfrm>
            <a:off x="1116000" y="29844000"/>
            <a:ext cx="8723520" cy="39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b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100" b="1" strike="noStrike" spc="-1" dirty="0">
                <a:solidFill>
                  <a:srgbClr val="1F5FA8"/>
                </a:solidFill>
                <a:latin typeface="Segoe UI"/>
              </a:rPr>
              <a:t>Measured  </a:t>
            </a:r>
            <a:r>
              <a:rPr lang="en-US" sz="1100" b="0" strike="noStrike" spc="-1" dirty="0">
                <a:solidFill>
                  <a:srgbClr val="5B6B85"/>
                </a:solidFill>
                <a:latin typeface="Segoe UI"/>
              </a:rPr>
              <a:t>mean of: period-glyph F1 (</a:t>
            </a:r>
            <a:r>
              <a:rPr lang="en-US" sz="1100" b="0" strike="noStrike" spc="-1" dirty="0" err="1">
                <a:solidFill>
                  <a:srgbClr val="5B6B85"/>
                </a:solidFill>
                <a:latin typeface="Segoe UI"/>
              </a:rPr>
              <a:t>Ratsprotokolle</a:t>
            </a:r>
            <a:r>
              <a:rPr lang="en-US" sz="1100" b="0" strike="noStrike" spc="-1" dirty="0">
                <a:solidFill>
                  <a:srgbClr val="5B6B85"/>
                </a:solidFill>
                <a:latin typeface="Segoe UI"/>
              </a:rPr>
              <a:t>); punctuation kept in place; </a:t>
            </a:r>
            <a:r>
              <a:rPr lang="en-US" sz="1100" b="0" strike="noStrike" spc="-1" dirty="0" err="1">
                <a:solidFill>
                  <a:srgbClr val="5B6B85"/>
                </a:solidFill>
                <a:latin typeface="Segoe UI"/>
              </a:rPr>
              <a:t>capitalisation</a:t>
            </a:r>
            <a:r>
              <a:rPr lang="en-US" sz="1100" b="0" strike="noStrike" spc="-1" dirty="0">
                <a:solidFill>
                  <a:srgbClr val="5B6B85"/>
                </a:solidFill>
                <a:latin typeface="Segoe UI"/>
              </a:rPr>
              <a:t> kept.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Rectangle 519"/>
          <p:cNvSpPr/>
          <p:nvPr/>
        </p:nvSpPr>
        <p:spPr>
          <a:xfrm>
            <a:off x="10523880" y="24336000"/>
            <a:ext cx="9227520" cy="5975640"/>
          </a:xfrm>
          <a:prstGeom prst="rect">
            <a:avLst/>
          </a:prstGeom>
          <a:solidFill>
            <a:srgbClr val="FAFCFE"/>
          </a:solidFill>
          <a:ln>
            <a:solidFill>
              <a:srgbClr val="CBD6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6" name="Oval 520"/>
          <p:cNvSpPr/>
          <p:nvPr/>
        </p:nvSpPr>
        <p:spPr>
          <a:xfrm>
            <a:off x="10775880" y="24588000"/>
            <a:ext cx="575640" cy="575640"/>
          </a:xfrm>
          <a:prstGeom prst="ellipse">
            <a:avLst/>
          </a:prstGeom>
          <a:solidFill>
            <a:srgbClr val="1F5FA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FFFFFF"/>
                </a:solidFill>
                <a:latin typeface="Palatino Linotype"/>
              </a:rPr>
              <a:t>D4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TextBox 521"/>
          <p:cNvSpPr/>
          <p:nvPr/>
        </p:nvSpPr>
        <p:spPr>
          <a:xfrm>
            <a:off x="11459880" y="24480000"/>
            <a:ext cx="8039520" cy="46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2600" b="1" strike="noStrike" spc="-1">
                <a:solidFill>
                  <a:srgbClr val="14213D"/>
                </a:solidFill>
                <a:latin typeface="Palatino Linotype"/>
              </a:rPr>
              <a:t>Content integrity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TextBox 522"/>
          <p:cNvSpPr/>
          <p:nvPr/>
        </p:nvSpPr>
        <p:spPr>
          <a:xfrm>
            <a:off x="11459880" y="24948000"/>
            <a:ext cx="803952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450" b="0" i="1" strike="noStrike" spc="-1">
                <a:solidFill>
                  <a:srgbClr val="5B6B85"/>
                </a:solidFill>
                <a:latin typeface="Segoe UI"/>
              </a:rPr>
              <a:t>Do the mistakes change the meaning – would a reader be misled?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9" name="Picture 523" descr="humboldt_america1799_10r__48e6e490.png"/>
          <p:cNvPicPr/>
          <p:nvPr/>
        </p:nvPicPr>
        <p:blipFill>
          <a:blip r:embed="rId9"/>
          <a:stretch/>
        </p:blipFill>
        <p:spPr>
          <a:xfrm>
            <a:off x="10775880" y="25452000"/>
            <a:ext cx="8723520" cy="1157760"/>
          </a:xfrm>
          <a:prstGeom prst="rect">
            <a:avLst/>
          </a:prstGeom>
          <a:ln w="0">
            <a:noFill/>
          </a:ln>
        </p:spPr>
      </p:pic>
      <p:sp>
        <p:nvSpPr>
          <p:cNvPr id="450" name="Rectangle 524"/>
          <p:cNvSpPr/>
          <p:nvPr/>
        </p:nvSpPr>
        <p:spPr>
          <a:xfrm>
            <a:off x="10775880" y="25452000"/>
            <a:ext cx="8723520" cy="1157760"/>
          </a:xfrm>
          <a:prstGeom prst="rect">
            <a:avLst/>
          </a:prstGeom>
          <a:noFill/>
          <a:ln>
            <a:solidFill>
              <a:srgbClr val="CBD6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1" name="TextBox 525"/>
          <p:cNvSpPr/>
          <p:nvPr/>
        </p:nvSpPr>
        <p:spPr>
          <a:xfrm>
            <a:off x="10775880" y="26682120"/>
            <a:ext cx="8723520" cy="10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  <a:spcAft>
                <a:spcPts val="119"/>
              </a:spcAft>
            </a:pPr>
            <a:r>
              <a:rPr lang="en-US" sz="1350" b="1" strike="noStrike" spc="-1">
                <a:solidFill>
                  <a:srgbClr val="5B6B85"/>
                </a:solidFill>
                <a:latin typeface="Segoe UI"/>
              </a:rPr>
              <a:t>reference  </a:t>
            </a:r>
            <a:r>
              <a:rPr lang="en-US" sz="1700" b="0" i="1" strike="noStrike" spc="-1">
                <a:solidFill>
                  <a:srgbClr val="14213D"/>
                </a:solidFill>
                <a:latin typeface="Segoe UI"/>
              </a:rPr>
              <a:t>findet. Das Mittel ist übrigens alt. In Chile hat man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19"/>
              </a:spcAft>
            </a:pPr>
            <a:r>
              <a:rPr lang="en-US" sz="1350" b="1" strike="noStrike" spc="-1">
                <a:solidFill>
                  <a:srgbClr val="5B6B85"/>
                </a:solidFill>
                <a:latin typeface="Segoe UI"/>
              </a:rPr>
              <a:t>Gemini 3.5 Flash  </a:t>
            </a:r>
            <a:r>
              <a:rPr lang="en-US" sz="1700" b="1" strike="noStrike" spc="-1">
                <a:solidFill>
                  <a:srgbClr val="D9622B"/>
                </a:solidFill>
                <a:latin typeface="Segoe UI"/>
              </a:rPr>
              <a:t>Stadt d.</a:t>
            </a:r>
            <a:r>
              <a:rPr lang="en-US" sz="1700" b="0" strike="noStrike" spc="-1">
                <a:solidFill>
                  <a:srgbClr val="14213D"/>
                </a:solidFill>
                <a:latin typeface="Segoe UI"/>
              </a:rPr>
              <a:t> </a:t>
            </a:r>
            <a:r>
              <a:rPr lang="en-US" sz="1700" b="1" strike="noStrike" spc="-1">
                <a:solidFill>
                  <a:srgbClr val="D9622B"/>
                </a:solidFill>
                <a:latin typeface="Segoe UI"/>
              </a:rPr>
              <a:t>Viertel</a:t>
            </a:r>
            <a:r>
              <a:rPr lang="en-US" sz="1700" b="0" strike="noStrike" spc="-1">
                <a:solidFill>
                  <a:srgbClr val="14213D"/>
                </a:solidFill>
                <a:latin typeface="Segoe UI"/>
              </a:rPr>
              <a:t> </a:t>
            </a:r>
            <a:r>
              <a:rPr lang="en-US" sz="1700" b="1" strike="noStrike" spc="-1">
                <a:solidFill>
                  <a:srgbClr val="63B7B9"/>
                </a:solidFill>
                <a:latin typeface="Segoe UI"/>
              </a:rPr>
              <a:t>iſt</a:t>
            </a:r>
            <a:r>
              <a:rPr lang="en-US" sz="1700" b="0" strike="noStrike" spc="-1">
                <a:solidFill>
                  <a:srgbClr val="14213D"/>
                </a:solidFill>
                <a:latin typeface="Segoe UI"/>
              </a:rPr>
              <a:t> übrigens alt. </a:t>
            </a:r>
            <a:r>
              <a:rPr lang="en-US" sz="1700" b="1" strike="noStrike" spc="-1">
                <a:solidFill>
                  <a:srgbClr val="B34A1E"/>
                </a:solidFill>
                <a:latin typeface="Segoe UI"/>
              </a:rPr>
              <a:t>Im Thale</a:t>
            </a:r>
            <a:r>
              <a:rPr lang="en-US" sz="1700" b="0" strike="noStrike" spc="-1">
                <a:solidFill>
                  <a:srgbClr val="14213D"/>
                </a:solidFill>
                <a:latin typeface="Segoe UI"/>
              </a:rPr>
              <a:t> hat man</a:t>
            </a:r>
            <a:r>
              <a:rPr lang="en-US" sz="1300" b="1" strike="noStrike" spc="-1">
                <a:solidFill>
                  <a:srgbClr val="D9622B"/>
                </a:solidFill>
                <a:latin typeface="Segoe UI"/>
              </a:rPr>
              <a:t>  judge: misleading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52" name="Connector 526"/>
          <p:cNvCxnSpPr/>
          <p:nvPr/>
        </p:nvCxnSpPr>
        <p:spPr>
          <a:xfrm>
            <a:off x="10883880" y="28066320"/>
            <a:ext cx="8508240" cy="360"/>
          </a:xfrm>
          <a:prstGeom prst="straightConnector1">
            <a:avLst/>
          </a:prstGeom>
          <a:ln w="12700">
            <a:solidFill>
              <a:srgbClr val="A9B7C9"/>
            </a:solidFill>
            <a:round/>
          </a:ln>
        </p:spPr>
      </p:cxnSp>
      <p:cxnSp>
        <p:nvCxnSpPr>
          <p:cNvPr id="453" name="Connector 527"/>
          <p:cNvCxnSpPr/>
          <p:nvPr/>
        </p:nvCxnSpPr>
        <p:spPr>
          <a:xfrm>
            <a:off x="10883880" y="28012320"/>
            <a:ext cx="360" cy="108360"/>
          </a:xfrm>
          <a:prstGeom prst="straightConnector1">
            <a:avLst/>
          </a:prstGeom>
          <a:ln w="9525">
            <a:solidFill>
              <a:srgbClr val="A9B7C9"/>
            </a:solidFill>
            <a:round/>
          </a:ln>
        </p:spPr>
      </p:cxnSp>
      <p:sp>
        <p:nvSpPr>
          <p:cNvPr id="454" name="TextBox 528"/>
          <p:cNvSpPr/>
          <p:nvPr/>
        </p:nvSpPr>
        <p:spPr>
          <a:xfrm>
            <a:off x="10667880" y="28138320"/>
            <a:ext cx="431640" cy="1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t">
            <a:noAutofit/>
          </a:bodyPr>
          <a:lstStyle/>
          <a:p>
            <a:pPr algn="ctr"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5B6B85"/>
                </a:solidFill>
                <a:latin typeface="Segoe UI"/>
              </a:rPr>
              <a:t>0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55" name="Connector 529"/>
          <p:cNvCxnSpPr/>
          <p:nvPr/>
        </p:nvCxnSpPr>
        <p:spPr>
          <a:xfrm>
            <a:off x="15138000" y="28012320"/>
            <a:ext cx="360" cy="108360"/>
          </a:xfrm>
          <a:prstGeom prst="straightConnector1">
            <a:avLst/>
          </a:prstGeom>
          <a:ln w="9525">
            <a:solidFill>
              <a:srgbClr val="A9B7C9"/>
            </a:solidFill>
            <a:round/>
          </a:ln>
        </p:spPr>
      </p:cxnSp>
      <p:sp>
        <p:nvSpPr>
          <p:cNvPr id="456" name="TextBox 530"/>
          <p:cNvSpPr/>
          <p:nvPr/>
        </p:nvSpPr>
        <p:spPr>
          <a:xfrm>
            <a:off x="14922000" y="28138320"/>
            <a:ext cx="431640" cy="1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t">
            <a:noAutofit/>
          </a:bodyPr>
          <a:lstStyle/>
          <a:p>
            <a:pPr algn="ctr"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5B6B85"/>
                </a:solidFill>
                <a:latin typeface="Segoe UI"/>
              </a:rPr>
              <a:t>.5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57" name="Connector 531"/>
          <p:cNvCxnSpPr/>
          <p:nvPr/>
        </p:nvCxnSpPr>
        <p:spPr>
          <a:xfrm>
            <a:off x="19391760" y="28012320"/>
            <a:ext cx="360" cy="108360"/>
          </a:xfrm>
          <a:prstGeom prst="straightConnector1">
            <a:avLst/>
          </a:prstGeom>
          <a:ln w="9525">
            <a:solidFill>
              <a:srgbClr val="A9B7C9"/>
            </a:solidFill>
            <a:round/>
          </a:ln>
        </p:spPr>
      </p:cxnSp>
      <p:sp>
        <p:nvSpPr>
          <p:cNvPr id="458" name="TextBox 532"/>
          <p:cNvSpPr/>
          <p:nvPr/>
        </p:nvSpPr>
        <p:spPr>
          <a:xfrm>
            <a:off x="19176120" y="28138320"/>
            <a:ext cx="431640" cy="1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t">
            <a:noAutofit/>
          </a:bodyPr>
          <a:lstStyle/>
          <a:p>
            <a:pPr algn="ctr"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5B6B85"/>
                </a:solidFill>
                <a:latin typeface="Segoe UI"/>
              </a:rPr>
              <a:t>1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Oval 533"/>
          <p:cNvSpPr/>
          <p:nvPr/>
        </p:nvSpPr>
        <p:spPr>
          <a:xfrm>
            <a:off x="15008040" y="27967320"/>
            <a:ext cx="197640" cy="197640"/>
          </a:xfrm>
          <a:prstGeom prst="ellipse">
            <a:avLst/>
          </a:prstGeom>
          <a:solidFill>
            <a:srgbClr val="5C7A99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0" name="Oval 534"/>
          <p:cNvSpPr/>
          <p:nvPr/>
        </p:nvSpPr>
        <p:spPr>
          <a:xfrm>
            <a:off x="15063120" y="27967320"/>
            <a:ext cx="197640" cy="197640"/>
          </a:xfrm>
          <a:prstGeom prst="ellipse">
            <a:avLst/>
          </a:prstGeom>
          <a:solidFill>
            <a:srgbClr val="7B61C4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1" name="Oval 535"/>
          <p:cNvSpPr/>
          <p:nvPr/>
        </p:nvSpPr>
        <p:spPr>
          <a:xfrm>
            <a:off x="15661800" y="27967320"/>
            <a:ext cx="197640" cy="197640"/>
          </a:xfrm>
          <a:prstGeom prst="ellipse">
            <a:avLst/>
          </a:prstGeom>
          <a:solidFill>
            <a:srgbClr val="6C93CF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2" name="Oval 536"/>
          <p:cNvSpPr/>
          <p:nvPr/>
        </p:nvSpPr>
        <p:spPr>
          <a:xfrm>
            <a:off x="15747120" y="27967320"/>
            <a:ext cx="197640" cy="197640"/>
          </a:xfrm>
          <a:prstGeom prst="ellipse">
            <a:avLst/>
          </a:prstGeom>
          <a:solidFill>
            <a:srgbClr val="A6A6C8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3" name="Oval 537"/>
          <p:cNvSpPr/>
          <p:nvPr/>
        </p:nvSpPr>
        <p:spPr>
          <a:xfrm>
            <a:off x="15782400" y="27967320"/>
            <a:ext cx="197640" cy="197640"/>
          </a:xfrm>
          <a:prstGeom prst="ellipse">
            <a:avLst/>
          </a:prstGeom>
          <a:solidFill>
            <a:srgbClr val="63B7B9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4" name="Oval 538"/>
          <p:cNvSpPr/>
          <p:nvPr/>
        </p:nvSpPr>
        <p:spPr>
          <a:xfrm>
            <a:off x="16675200" y="27967320"/>
            <a:ext cx="197640" cy="197640"/>
          </a:xfrm>
          <a:prstGeom prst="ellipse">
            <a:avLst/>
          </a:prstGeom>
          <a:solidFill>
            <a:srgbClr val="2E9E6B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5" name="Oval 539"/>
          <p:cNvSpPr/>
          <p:nvPr/>
        </p:nvSpPr>
        <p:spPr>
          <a:xfrm>
            <a:off x="17313480" y="27967320"/>
            <a:ext cx="197640" cy="197640"/>
          </a:xfrm>
          <a:prstGeom prst="ellipse">
            <a:avLst/>
          </a:prstGeom>
          <a:solidFill>
            <a:srgbClr val="8BD0AE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6" name="Oval 540"/>
          <p:cNvSpPr/>
          <p:nvPr/>
        </p:nvSpPr>
        <p:spPr>
          <a:xfrm>
            <a:off x="17495640" y="27967320"/>
            <a:ext cx="197640" cy="197640"/>
          </a:xfrm>
          <a:prstGeom prst="ellipse">
            <a:avLst/>
          </a:prstGeom>
          <a:solidFill>
            <a:srgbClr val="1F5FA8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7" name="TextBox 541"/>
          <p:cNvSpPr/>
          <p:nvPr/>
        </p:nvSpPr>
        <p:spPr>
          <a:xfrm>
            <a:off x="10775880" y="28318320"/>
            <a:ext cx="8723520" cy="2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28800" rIns="1080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100" b="1" strike="noStrike" spc="-1">
                <a:solidFill>
                  <a:srgbClr val="1F5FA8"/>
                </a:solidFill>
                <a:latin typeface="Segoe UI"/>
              </a:rPr>
              <a:t>▲ </a:t>
            </a:r>
            <a:r>
              <a:rPr lang="en-US" sz="1100" b="0" strike="noStrike" spc="-1">
                <a:solidFill>
                  <a:srgbClr val="5B6B85"/>
                </a:solidFill>
                <a:latin typeface="Segoe UI"/>
              </a:rPr>
              <a:t>Gemini 3.5 Flash 0.79</a:t>
            </a:r>
            <a:r>
              <a:rPr lang="en-US" sz="1100" b="1" strike="noStrike" spc="-1">
                <a:solidFill>
                  <a:srgbClr val="5C7A99"/>
                </a:solidFill>
                <a:latin typeface="Segoe UI"/>
              </a:rPr>
              <a:t>    ▼ </a:t>
            </a:r>
            <a:r>
              <a:rPr lang="en-US" sz="1100" b="0" strike="noStrike" spc="-1">
                <a:solidFill>
                  <a:srgbClr val="5B6B85"/>
                </a:solidFill>
                <a:latin typeface="Segoe UI"/>
              </a:rPr>
              <a:t>olmOCR-2 7B 0.50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Box 542"/>
          <p:cNvSpPr/>
          <p:nvPr/>
        </p:nvSpPr>
        <p:spPr>
          <a:xfrm>
            <a:off x="10775880" y="28606320"/>
            <a:ext cx="8723520" cy="12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800" b="1" strike="noStrike" spc="-1">
                <a:solidFill>
                  <a:srgbClr val="14213D"/>
                </a:solidFill>
                <a:latin typeface="Segoe UI"/>
              </a:rPr>
              <a:t>Of the lines with errors, the judge rated 23 % misleading for Gemini 3.5 Flash, 56 % for olmOCR-2 7B. </a:t>
            </a:r>
            <a:r>
              <a:rPr lang="en-US" sz="1800" b="0" strike="noStrike" spc="-1">
                <a:solidFill>
                  <a:srgbClr val="14213D"/>
                </a:solidFill>
                <a:latin typeface="Segoe UI"/>
              </a:rPr>
              <a:t>Numbers: Gemini 3.5 Flash keeps 81 %, Kraken 19th-c. Kurrent 22 %.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Box 543"/>
          <p:cNvSpPr/>
          <p:nvPr/>
        </p:nvSpPr>
        <p:spPr>
          <a:xfrm>
            <a:off x="10775880" y="29844000"/>
            <a:ext cx="8723520" cy="39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b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100" b="1" strike="noStrike" spc="-1" dirty="0">
                <a:solidFill>
                  <a:srgbClr val="1F5FA8"/>
                </a:solidFill>
                <a:latin typeface="Segoe UI"/>
              </a:rPr>
              <a:t>Measured  </a:t>
            </a:r>
            <a:r>
              <a:rPr lang="en-US" sz="1100" b="0" strike="noStrike" spc="-1" dirty="0">
                <a:solidFill>
                  <a:srgbClr val="5B6B85"/>
                </a:solidFill>
                <a:latin typeface="Segoe UI"/>
              </a:rPr>
              <a:t>mean of: 1 − share of judged lines rated misleading (LLM judge); numeral F1 (dates, sums, entry numbers).</a:t>
            </a:r>
            <a:endParaRPr lang="en-US" sz="11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Rectangle 544"/>
          <p:cNvSpPr/>
          <p:nvPr/>
        </p:nvSpPr>
        <p:spPr>
          <a:xfrm>
            <a:off x="20184120" y="24336000"/>
            <a:ext cx="9227520" cy="5975640"/>
          </a:xfrm>
          <a:prstGeom prst="rect">
            <a:avLst/>
          </a:prstGeom>
          <a:solidFill>
            <a:srgbClr val="FAFCFE"/>
          </a:solidFill>
          <a:ln>
            <a:solidFill>
              <a:srgbClr val="CBD6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1" name="Oval 545"/>
          <p:cNvSpPr/>
          <p:nvPr/>
        </p:nvSpPr>
        <p:spPr>
          <a:xfrm>
            <a:off x="20436120" y="24588000"/>
            <a:ext cx="575640" cy="575640"/>
          </a:xfrm>
          <a:prstGeom prst="ellipse">
            <a:avLst/>
          </a:prstGeom>
          <a:solidFill>
            <a:srgbClr val="1F5FA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strike="noStrike" spc="-1">
                <a:solidFill>
                  <a:srgbClr val="FFFFFF"/>
                </a:solidFill>
                <a:latin typeface="Palatino Linotype"/>
              </a:rPr>
              <a:t>D5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TextBox 546"/>
          <p:cNvSpPr/>
          <p:nvPr/>
        </p:nvSpPr>
        <p:spPr>
          <a:xfrm>
            <a:off x="21120120" y="24480000"/>
            <a:ext cx="8039520" cy="46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2600" b="1" strike="noStrike" spc="-1">
                <a:solidFill>
                  <a:srgbClr val="14213D"/>
                </a:solidFill>
                <a:latin typeface="Palatino Linotype"/>
              </a:rPr>
              <a:t>Efficiency</a:t>
            </a:r>
            <a:endParaRPr lang="en-US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Box 547"/>
          <p:cNvSpPr/>
          <p:nvPr/>
        </p:nvSpPr>
        <p:spPr>
          <a:xfrm>
            <a:off x="21120120" y="24948000"/>
            <a:ext cx="803952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450" b="0" i="1" strike="noStrike" spc="-1">
                <a:solidFill>
                  <a:srgbClr val="5B6B85"/>
                </a:solidFill>
                <a:latin typeface="Segoe UI"/>
              </a:rPr>
              <a:t>What does a page cost – in time, hardware and money?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Rectangle 570"/>
          <p:cNvSpPr/>
          <p:nvPr/>
        </p:nvSpPr>
        <p:spPr>
          <a:xfrm>
            <a:off x="864000" y="30600000"/>
            <a:ext cx="14057640" cy="5255640"/>
          </a:xfrm>
          <a:prstGeom prst="rect">
            <a:avLst/>
          </a:prstGeom>
          <a:solidFill>
            <a:srgbClr val="FAFCFE"/>
          </a:solidFill>
          <a:ln>
            <a:solidFill>
              <a:srgbClr val="CBD6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5" name="TextBox 571"/>
          <p:cNvSpPr/>
          <p:nvPr/>
        </p:nvSpPr>
        <p:spPr>
          <a:xfrm>
            <a:off x="1116000" y="30744000"/>
            <a:ext cx="13553640" cy="43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05000"/>
              </a:lnSpc>
            </a:pPr>
            <a:r>
              <a:rPr lang="en-US" sz="2100" b="1" strike="noStrike" spc="-1">
                <a:solidFill>
                  <a:srgbClr val="14213D"/>
                </a:solidFill>
                <a:latin typeface="Palatino Linotype"/>
              </a:rPr>
              <a:t>A reader’s view (the LLM judge facet of D4)</a:t>
            </a:r>
            <a:endParaRPr lang="en-US" sz="2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TextBox 572"/>
          <p:cNvSpPr/>
          <p:nvPr/>
        </p:nvSpPr>
        <p:spPr>
          <a:xfrm>
            <a:off x="1116000" y="31212000"/>
            <a:ext cx="1355364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100" b="0" strike="noStrike" spc="-1">
                <a:solidFill>
                  <a:srgbClr val="5B6B85"/>
                </a:solidFill>
                <a:latin typeface="Segoe UI"/>
              </a:rPr>
              <a:t>An LLM judge compared reference and machine line; differences per 100 words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Box 573"/>
          <p:cNvSpPr/>
          <p:nvPr/>
        </p:nvSpPr>
        <p:spPr>
          <a:xfrm>
            <a:off x="1116000" y="31572000"/>
            <a:ext cx="338364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28800" rIns="10800" bIns="28800" anchor="ctr">
            <a:noAutofit/>
          </a:bodyPr>
          <a:lstStyle/>
          <a:p>
            <a:pPr algn="r" defTabSz="457200">
              <a:lnSpc>
                <a:spcPct val="112000"/>
              </a:lnSpc>
            </a:pPr>
            <a:r>
              <a:rPr lang="en-US" sz="1100" b="1" strike="noStrike" spc="-1">
                <a:solidFill>
                  <a:srgbClr val="14213D"/>
                </a:solidFill>
                <a:latin typeface="Segoe UI"/>
              </a:rPr>
              <a:t>PaddleOCR-VL 1.6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Rectangle 574"/>
          <p:cNvSpPr/>
          <p:nvPr/>
        </p:nvSpPr>
        <p:spPr>
          <a:xfrm>
            <a:off x="4572000" y="31626720"/>
            <a:ext cx="3892320" cy="178200"/>
          </a:xfrm>
          <a:prstGeom prst="rect">
            <a:avLst/>
          </a:prstGeom>
          <a:solidFill>
            <a:srgbClr val="9AA5B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9" name="Rectangle 575"/>
          <p:cNvSpPr/>
          <p:nvPr/>
        </p:nvSpPr>
        <p:spPr>
          <a:xfrm>
            <a:off x="8464680" y="31626720"/>
            <a:ext cx="499680" cy="178200"/>
          </a:xfrm>
          <a:prstGeom prst="rect">
            <a:avLst/>
          </a:prstGeom>
          <a:solidFill>
            <a:srgbClr val="63B7B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0" name="Rectangle 576"/>
          <p:cNvSpPr/>
          <p:nvPr/>
        </p:nvSpPr>
        <p:spPr>
          <a:xfrm>
            <a:off x="8964360" y="31626720"/>
            <a:ext cx="70920" cy="178200"/>
          </a:xfrm>
          <a:prstGeom prst="rect">
            <a:avLst/>
          </a:prstGeom>
          <a:solidFill>
            <a:srgbClr val="A7D3D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1" name="Rectangle 577"/>
          <p:cNvSpPr/>
          <p:nvPr/>
        </p:nvSpPr>
        <p:spPr>
          <a:xfrm>
            <a:off x="9036000" y="31626720"/>
            <a:ext cx="1820880" cy="178200"/>
          </a:xfrm>
          <a:prstGeom prst="rect">
            <a:avLst/>
          </a:prstGeom>
          <a:solidFill>
            <a:srgbClr val="D962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2" name="Rectangle 578"/>
          <p:cNvSpPr/>
          <p:nvPr/>
        </p:nvSpPr>
        <p:spPr>
          <a:xfrm>
            <a:off x="10857240" y="31626720"/>
            <a:ext cx="517320" cy="178200"/>
          </a:xfrm>
          <a:prstGeom prst="rect">
            <a:avLst/>
          </a:prstGeom>
          <a:solidFill>
            <a:srgbClr val="B34A1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3" name="Rectangle 579"/>
          <p:cNvSpPr/>
          <p:nvPr/>
        </p:nvSpPr>
        <p:spPr>
          <a:xfrm>
            <a:off x="11374920" y="31626720"/>
            <a:ext cx="124560" cy="178200"/>
          </a:xfrm>
          <a:prstGeom prst="rect">
            <a:avLst/>
          </a:prstGeom>
          <a:solidFill>
            <a:srgbClr val="7B61C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4" name="TextBox 580"/>
          <p:cNvSpPr/>
          <p:nvPr/>
        </p:nvSpPr>
        <p:spPr>
          <a:xfrm>
            <a:off x="11535840" y="31572000"/>
            <a:ext cx="295164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28800" rIns="1080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1" strike="noStrike" spc="-1" dirty="0">
                <a:solidFill>
                  <a:srgbClr val="D9622B"/>
                </a:solidFill>
                <a:latin typeface="Segoe UI"/>
              </a:rPr>
              <a:t>19 % misleading</a:t>
            </a:r>
            <a:r>
              <a:rPr lang="en-US" sz="900" b="0" strike="noStrike" spc="-1" dirty="0">
                <a:solidFill>
                  <a:srgbClr val="5B6B85"/>
                </a:solidFill>
                <a:latin typeface="Segoe UI"/>
              </a:rPr>
              <a:t> 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Box 581"/>
          <p:cNvSpPr/>
          <p:nvPr/>
        </p:nvSpPr>
        <p:spPr>
          <a:xfrm>
            <a:off x="1116000" y="31860000"/>
            <a:ext cx="338364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28800" rIns="10800" bIns="28800" anchor="ctr">
            <a:noAutofit/>
          </a:bodyPr>
          <a:lstStyle/>
          <a:p>
            <a:pPr algn="r" defTabSz="457200">
              <a:lnSpc>
                <a:spcPct val="112000"/>
              </a:lnSpc>
            </a:pPr>
            <a:r>
              <a:rPr lang="en-US" sz="1100" b="1" strike="noStrike" spc="-1">
                <a:solidFill>
                  <a:srgbClr val="14213D"/>
                </a:solidFill>
                <a:latin typeface="Segoe UI"/>
              </a:rPr>
              <a:t>Transkribus German Genius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Rectangle 582"/>
          <p:cNvSpPr/>
          <p:nvPr/>
        </p:nvSpPr>
        <p:spPr>
          <a:xfrm>
            <a:off x="4572000" y="31914720"/>
            <a:ext cx="527400" cy="178200"/>
          </a:xfrm>
          <a:prstGeom prst="rect">
            <a:avLst/>
          </a:prstGeom>
          <a:solidFill>
            <a:srgbClr val="9AA5B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7" name="Rectangle 583"/>
          <p:cNvSpPr/>
          <p:nvPr/>
        </p:nvSpPr>
        <p:spPr>
          <a:xfrm>
            <a:off x="5099760" y="31914720"/>
            <a:ext cx="1621440" cy="178200"/>
          </a:xfrm>
          <a:prstGeom prst="rect">
            <a:avLst/>
          </a:prstGeom>
          <a:solidFill>
            <a:srgbClr val="63B7B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8" name="Rectangle 584"/>
          <p:cNvSpPr/>
          <p:nvPr/>
        </p:nvSpPr>
        <p:spPr>
          <a:xfrm>
            <a:off x="6721560" y="31914720"/>
            <a:ext cx="195120" cy="178200"/>
          </a:xfrm>
          <a:prstGeom prst="rect">
            <a:avLst/>
          </a:prstGeom>
          <a:solidFill>
            <a:srgbClr val="A7D3D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9" name="Rectangle 585"/>
          <p:cNvSpPr/>
          <p:nvPr/>
        </p:nvSpPr>
        <p:spPr>
          <a:xfrm>
            <a:off x="6917040" y="31914720"/>
            <a:ext cx="1074240" cy="178200"/>
          </a:xfrm>
          <a:prstGeom prst="rect">
            <a:avLst/>
          </a:prstGeom>
          <a:solidFill>
            <a:srgbClr val="D962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0" name="Rectangle 586"/>
          <p:cNvSpPr/>
          <p:nvPr/>
        </p:nvSpPr>
        <p:spPr>
          <a:xfrm>
            <a:off x="7991640" y="31914720"/>
            <a:ext cx="448920" cy="178200"/>
          </a:xfrm>
          <a:prstGeom prst="rect">
            <a:avLst/>
          </a:prstGeom>
          <a:solidFill>
            <a:srgbClr val="B34A1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1" name="Rectangle 587"/>
          <p:cNvSpPr/>
          <p:nvPr/>
        </p:nvSpPr>
        <p:spPr>
          <a:xfrm>
            <a:off x="8440920" y="31914720"/>
            <a:ext cx="195120" cy="178200"/>
          </a:xfrm>
          <a:prstGeom prst="rect">
            <a:avLst/>
          </a:prstGeom>
          <a:solidFill>
            <a:srgbClr val="7B61C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2" name="TextBox 588"/>
          <p:cNvSpPr/>
          <p:nvPr/>
        </p:nvSpPr>
        <p:spPr>
          <a:xfrm>
            <a:off x="8672400" y="31860000"/>
            <a:ext cx="295164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28800" rIns="1080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1" strike="noStrike" spc="-1" dirty="0">
                <a:solidFill>
                  <a:srgbClr val="D9622B"/>
                </a:solidFill>
                <a:latin typeface="Segoe UI"/>
              </a:rPr>
              <a:t>22 % misleading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TextBox 589"/>
          <p:cNvSpPr/>
          <p:nvPr/>
        </p:nvSpPr>
        <p:spPr>
          <a:xfrm>
            <a:off x="1116000" y="32148000"/>
            <a:ext cx="338364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28800" rIns="10800" bIns="28800" anchor="ctr">
            <a:noAutofit/>
          </a:bodyPr>
          <a:lstStyle/>
          <a:p>
            <a:pPr algn="r" defTabSz="457200">
              <a:lnSpc>
                <a:spcPct val="112000"/>
              </a:lnSpc>
            </a:pPr>
            <a:r>
              <a:rPr lang="en-US" sz="1100" b="1" strike="noStrike" spc="-1">
                <a:solidFill>
                  <a:srgbClr val="14213D"/>
                </a:solidFill>
                <a:latin typeface="Segoe UI"/>
              </a:rPr>
              <a:t>Kraken 19th-c. Kurrent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Rectangle 590"/>
          <p:cNvSpPr/>
          <p:nvPr/>
        </p:nvSpPr>
        <p:spPr>
          <a:xfrm>
            <a:off x="4572000" y="32202720"/>
            <a:ext cx="3698280" cy="178200"/>
          </a:xfrm>
          <a:prstGeom prst="rect">
            <a:avLst/>
          </a:prstGeom>
          <a:solidFill>
            <a:srgbClr val="9AA5B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5" name="Rectangle 591"/>
          <p:cNvSpPr/>
          <p:nvPr/>
        </p:nvSpPr>
        <p:spPr>
          <a:xfrm>
            <a:off x="8270640" y="32202720"/>
            <a:ext cx="800640" cy="178200"/>
          </a:xfrm>
          <a:prstGeom prst="rect">
            <a:avLst/>
          </a:prstGeom>
          <a:solidFill>
            <a:srgbClr val="63B7B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6" name="Rectangle 592"/>
          <p:cNvSpPr/>
          <p:nvPr/>
        </p:nvSpPr>
        <p:spPr>
          <a:xfrm>
            <a:off x="9071640" y="32202720"/>
            <a:ext cx="188280" cy="178200"/>
          </a:xfrm>
          <a:prstGeom prst="rect">
            <a:avLst/>
          </a:prstGeom>
          <a:solidFill>
            <a:srgbClr val="A7D3D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7" name="Rectangle 593"/>
          <p:cNvSpPr/>
          <p:nvPr/>
        </p:nvSpPr>
        <p:spPr>
          <a:xfrm>
            <a:off x="9259920" y="32202720"/>
            <a:ext cx="1107000" cy="178200"/>
          </a:xfrm>
          <a:prstGeom prst="rect">
            <a:avLst/>
          </a:prstGeom>
          <a:solidFill>
            <a:srgbClr val="D962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8" name="Rectangle 594"/>
          <p:cNvSpPr/>
          <p:nvPr/>
        </p:nvSpPr>
        <p:spPr>
          <a:xfrm>
            <a:off x="10367280" y="32202720"/>
            <a:ext cx="1436760" cy="178200"/>
          </a:xfrm>
          <a:prstGeom prst="rect">
            <a:avLst/>
          </a:prstGeom>
          <a:solidFill>
            <a:srgbClr val="B34A1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9" name="Rectangle 595"/>
          <p:cNvSpPr/>
          <p:nvPr/>
        </p:nvSpPr>
        <p:spPr>
          <a:xfrm>
            <a:off x="11804400" y="32202720"/>
            <a:ext cx="258840" cy="178200"/>
          </a:xfrm>
          <a:prstGeom prst="rect">
            <a:avLst/>
          </a:prstGeom>
          <a:solidFill>
            <a:srgbClr val="7B61C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0" name="TextBox 596"/>
          <p:cNvSpPr/>
          <p:nvPr/>
        </p:nvSpPr>
        <p:spPr>
          <a:xfrm>
            <a:off x="12099600" y="32148000"/>
            <a:ext cx="295164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28800" rIns="1080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1" strike="noStrike" spc="-1" dirty="0">
                <a:solidFill>
                  <a:srgbClr val="D9622B"/>
                </a:solidFill>
                <a:latin typeface="Segoe UI"/>
              </a:rPr>
              <a:t>23 % misleading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Box 597"/>
          <p:cNvSpPr/>
          <p:nvPr/>
        </p:nvSpPr>
        <p:spPr>
          <a:xfrm>
            <a:off x="1116000" y="32436000"/>
            <a:ext cx="338364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28800" rIns="10800" bIns="28800" anchor="ctr">
            <a:noAutofit/>
          </a:bodyPr>
          <a:lstStyle/>
          <a:p>
            <a:pPr algn="r" defTabSz="457200">
              <a:lnSpc>
                <a:spcPct val="112000"/>
              </a:lnSpc>
            </a:pPr>
            <a:r>
              <a:rPr lang="en-US" sz="1100" b="1" strike="noStrike" spc="-1">
                <a:solidFill>
                  <a:srgbClr val="14213D"/>
                </a:solidFill>
                <a:latin typeface="Segoe UI"/>
              </a:rPr>
              <a:t>Gemini 3.5 Flash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Rectangle 598"/>
          <p:cNvSpPr/>
          <p:nvPr/>
        </p:nvSpPr>
        <p:spPr>
          <a:xfrm>
            <a:off x="4572000" y="32490720"/>
            <a:ext cx="2072880" cy="178200"/>
          </a:xfrm>
          <a:prstGeom prst="rect">
            <a:avLst/>
          </a:prstGeom>
          <a:solidFill>
            <a:srgbClr val="63B7B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3" name="Rectangle 599"/>
          <p:cNvSpPr/>
          <p:nvPr/>
        </p:nvSpPr>
        <p:spPr>
          <a:xfrm>
            <a:off x="6645240" y="32490720"/>
            <a:ext cx="376560" cy="178200"/>
          </a:xfrm>
          <a:prstGeom prst="rect">
            <a:avLst/>
          </a:prstGeom>
          <a:solidFill>
            <a:srgbClr val="A7D3D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4" name="Rectangle 600"/>
          <p:cNvSpPr/>
          <p:nvPr/>
        </p:nvSpPr>
        <p:spPr>
          <a:xfrm>
            <a:off x="7022160" y="32490720"/>
            <a:ext cx="800640" cy="178200"/>
          </a:xfrm>
          <a:prstGeom prst="rect">
            <a:avLst/>
          </a:prstGeom>
          <a:solidFill>
            <a:srgbClr val="D962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5" name="Rectangle 601"/>
          <p:cNvSpPr/>
          <p:nvPr/>
        </p:nvSpPr>
        <p:spPr>
          <a:xfrm>
            <a:off x="7823160" y="32490720"/>
            <a:ext cx="235080" cy="178200"/>
          </a:xfrm>
          <a:prstGeom prst="rect">
            <a:avLst/>
          </a:prstGeom>
          <a:solidFill>
            <a:srgbClr val="B34A1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6" name="Rectangle 602"/>
          <p:cNvSpPr/>
          <p:nvPr/>
        </p:nvSpPr>
        <p:spPr>
          <a:xfrm>
            <a:off x="8058600" y="32490720"/>
            <a:ext cx="329400" cy="178200"/>
          </a:xfrm>
          <a:prstGeom prst="rect">
            <a:avLst/>
          </a:prstGeom>
          <a:solidFill>
            <a:srgbClr val="7B61C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7" name="TextBox 603"/>
          <p:cNvSpPr/>
          <p:nvPr/>
        </p:nvSpPr>
        <p:spPr>
          <a:xfrm>
            <a:off x="8424360" y="32436000"/>
            <a:ext cx="295164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28800" rIns="1080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1" strike="noStrike" spc="-1" dirty="0">
                <a:solidFill>
                  <a:srgbClr val="D9622B"/>
                </a:solidFill>
                <a:latin typeface="Segoe UI"/>
              </a:rPr>
              <a:t>25 % misleading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TextBox 604"/>
          <p:cNvSpPr/>
          <p:nvPr/>
        </p:nvSpPr>
        <p:spPr>
          <a:xfrm>
            <a:off x="1116000" y="32724000"/>
            <a:ext cx="338364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28800" rIns="10800" bIns="28800" anchor="ctr">
            <a:noAutofit/>
          </a:bodyPr>
          <a:lstStyle/>
          <a:p>
            <a:pPr algn="r" defTabSz="457200">
              <a:lnSpc>
                <a:spcPct val="112000"/>
              </a:lnSpc>
            </a:pPr>
            <a:r>
              <a:rPr lang="en-US" sz="1100" b="1" strike="noStrike" spc="-1">
                <a:solidFill>
                  <a:srgbClr val="14213D"/>
                </a:solidFill>
                <a:latin typeface="Segoe UI"/>
              </a:rPr>
              <a:t>TrOCR Kurrent XVI–XVII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Rectangle 605"/>
          <p:cNvSpPr/>
          <p:nvPr/>
        </p:nvSpPr>
        <p:spPr>
          <a:xfrm>
            <a:off x="4572000" y="32778720"/>
            <a:ext cx="1411200" cy="178200"/>
          </a:xfrm>
          <a:prstGeom prst="rect">
            <a:avLst/>
          </a:prstGeom>
          <a:solidFill>
            <a:srgbClr val="9AA5B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0" name="Rectangle 606"/>
          <p:cNvSpPr/>
          <p:nvPr/>
        </p:nvSpPr>
        <p:spPr>
          <a:xfrm>
            <a:off x="5983560" y="32778720"/>
            <a:ext cx="1851120" cy="178200"/>
          </a:xfrm>
          <a:prstGeom prst="rect">
            <a:avLst/>
          </a:prstGeom>
          <a:solidFill>
            <a:srgbClr val="63B7B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1" name="Rectangle 607"/>
          <p:cNvSpPr/>
          <p:nvPr/>
        </p:nvSpPr>
        <p:spPr>
          <a:xfrm>
            <a:off x="7835040" y="32778720"/>
            <a:ext cx="254160" cy="178200"/>
          </a:xfrm>
          <a:prstGeom prst="rect">
            <a:avLst/>
          </a:prstGeom>
          <a:solidFill>
            <a:srgbClr val="A7D3D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2" name="Rectangle 608"/>
          <p:cNvSpPr/>
          <p:nvPr/>
        </p:nvSpPr>
        <p:spPr>
          <a:xfrm>
            <a:off x="8089560" y="32778720"/>
            <a:ext cx="1527120" cy="178200"/>
          </a:xfrm>
          <a:prstGeom prst="rect">
            <a:avLst/>
          </a:prstGeom>
          <a:solidFill>
            <a:srgbClr val="D962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3" name="Rectangle 609"/>
          <p:cNvSpPr/>
          <p:nvPr/>
        </p:nvSpPr>
        <p:spPr>
          <a:xfrm>
            <a:off x="9617040" y="32778720"/>
            <a:ext cx="902160" cy="178200"/>
          </a:xfrm>
          <a:prstGeom prst="rect">
            <a:avLst/>
          </a:prstGeom>
          <a:solidFill>
            <a:srgbClr val="B34A1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4" name="Rectangle 610"/>
          <p:cNvSpPr/>
          <p:nvPr/>
        </p:nvSpPr>
        <p:spPr>
          <a:xfrm>
            <a:off x="10519560" y="32778720"/>
            <a:ext cx="439200" cy="178200"/>
          </a:xfrm>
          <a:prstGeom prst="rect">
            <a:avLst/>
          </a:prstGeom>
          <a:solidFill>
            <a:srgbClr val="7B61C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5" name="TextBox 611"/>
          <p:cNvSpPr/>
          <p:nvPr/>
        </p:nvSpPr>
        <p:spPr>
          <a:xfrm>
            <a:off x="10987200" y="32687280"/>
            <a:ext cx="295164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28800" rIns="1080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1" strike="noStrike" spc="-1" dirty="0">
                <a:solidFill>
                  <a:srgbClr val="D9622B"/>
                </a:solidFill>
                <a:latin typeface="Segoe UI"/>
              </a:rPr>
              <a:t>29 % misleading</a:t>
            </a:r>
            <a:r>
              <a:rPr lang="en-US" sz="900" b="0" strike="noStrike" spc="-1" dirty="0">
                <a:solidFill>
                  <a:srgbClr val="5B6B85"/>
                </a:solidFill>
                <a:latin typeface="Segoe UI"/>
              </a:rPr>
              <a:t> 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TextBox 612"/>
          <p:cNvSpPr/>
          <p:nvPr/>
        </p:nvSpPr>
        <p:spPr>
          <a:xfrm>
            <a:off x="1116000" y="33012000"/>
            <a:ext cx="338364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28800" rIns="10800" bIns="28800" anchor="ctr">
            <a:noAutofit/>
          </a:bodyPr>
          <a:lstStyle/>
          <a:p>
            <a:pPr algn="r" defTabSz="457200">
              <a:lnSpc>
                <a:spcPct val="112000"/>
              </a:lnSpc>
            </a:pPr>
            <a:r>
              <a:rPr lang="en-US" sz="1100" b="1" strike="noStrike" spc="-1">
                <a:solidFill>
                  <a:srgbClr val="14213D"/>
                </a:solidFill>
                <a:latin typeface="Segoe UI"/>
              </a:rPr>
              <a:t>Transkribus Text Titan II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Rectangle 613"/>
          <p:cNvSpPr/>
          <p:nvPr/>
        </p:nvSpPr>
        <p:spPr>
          <a:xfrm>
            <a:off x="4572000" y="33066720"/>
            <a:ext cx="568800" cy="178200"/>
          </a:xfrm>
          <a:prstGeom prst="rect">
            <a:avLst/>
          </a:prstGeom>
          <a:solidFill>
            <a:srgbClr val="9AA5B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8" name="Rectangle 614"/>
          <p:cNvSpPr/>
          <p:nvPr/>
        </p:nvSpPr>
        <p:spPr>
          <a:xfrm>
            <a:off x="5141160" y="33066720"/>
            <a:ext cx="1434600" cy="178200"/>
          </a:xfrm>
          <a:prstGeom prst="rect">
            <a:avLst/>
          </a:prstGeom>
          <a:solidFill>
            <a:srgbClr val="63B7B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9" name="Rectangle 615"/>
          <p:cNvSpPr/>
          <p:nvPr/>
        </p:nvSpPr>
        <p:spPr>
          <a:xfrm>
            <a:off x="6576120" y="33066720"/>
            <a:ext cx="197640" cy="178200"/>
          </a:xfrm>
          <a:prstGeom prst="rect">
            <a:avLst/>
          </a:prstGeom>
          <a:solidFill>
            <a:srgbClr val="A7D3D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0" name="Rectangle 616"/>
          <p:cNvSpPr/>
          <p:nvPr/>
        </p:nvSpPr>
        <p:spPr>
          <a:xfrm>
            <a:off x="6774120" y="33066720"/>
            <a:ext cx="1484280" cy="178200"/>
          </a:xfrm>
          <a:prstGeom prst="rect">
            <a:avLst/>
          </a:prstGeom>
          <a:solidFill>
            <a:srgbClr val="D962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1" name="Rectangle 617"/>
          <p:cNvSpPr/>
          <p:nvPr/>
        </p:nvSpPr>
        <p:spPr>
          <a:xfrm>
            <a:off x="8258760" y="33066720"/>
            <a:ext cx="420120" cy="178200"/>
          </a:xfrm>
          <a:prstGeom prst="rect">
            <a:avLst/>
          </a:prstGeom>
          <a:solidFill>
            <a:srgbClr val="B34A1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2" name="Rectangle 618"/>
          <p:cNvSpPr/>
          <p:nvPr/>
        </p:nvSpPr>
        <p:spPr>
          <a:xfrm>
            <a:off x="8679240" y="33066720"/>
            <a:ext cx="321480" cy="178200"/>
          </a:xfrm>
          <a:prstGeom prst="rect">
            <a:avLst/>
          </a:prstGeom>
          <a:solidFill>
            <a:srgbClr val="7B61C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3" name="TextBox 619"/>
          <p:cNvSpPr/>
          <p:nvPr/>
        </p:nvSpPr>
        <p:spPr>
          <a:xfrm>
            <a:off x="9037080" y="33012000"/>
            <a:ext cx="295164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28800" rIns="1080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1" strike="noStrike" spc="-1" dirty="0">
                <a:solidFill>
                  <a:srgbClr val="D9622B"/>
                </a:solidFill>
                <a:latin typeface="Segoe UI"/>
              </a:rPr>
              <a:t>31 % misleading</a:t>
            </a:r>
            <a:r>
              <a:rPr lang="en-US" sz="900" b="0" strike="noStrike" spc="-1" dirty="0">
                <a:solidFill>
                  <a:srgbClr val="5B6B85"/>
                </a:solidFill>
                <a:latin typeface="Segoe UI"/>
              </a:rPr>
              <a:t> 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TextBox 620"/>
          <p:cNvSpPr/>
          <p:nvPr/>
        </p:nvSpPr>
        <p:spPr>
          <a:xfrm>
            <a:off x="1116000" y="33300000"/>
            <a:ext cx="338364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28800" rIns="10800" bIns="28800" anchor="ctr">
            <a:noAutofit/>
          </a:bodyPr>
          <a:lstStyle/>
          <a:p>
            <a:pPr algn="r" defTabSz="457200">
              <a:lnSpc>
                <a:spcPct val="112000"/>
              </a:lnSpc>
            </a:pPr>
            <a:r>
              <a:rPr lang="en-US" sz="1100" b="1" strike="noStrike" spc="-1">
                <a:solidFill>
                  <a:srgbClr val="14213D"/>
                </a:solidFill>
                <a:latin typeface="Segoe UI"/>
              </a:rPr>
              <a:t>Claude Sonnet 5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Rectangle 621"/>
          <p:cNvSpPr/>
          <p:nvPr/>
        </p:nvSpPr>
        <p:spPr>
          <a:xfrm>
            <a:off x="4572000" y="33354720"/>
            <a:ext cx="374760" cy="178200"/>
          </a:xfrm>
          <a:prstGeom prst="rect">
            <a:avLst/>
          </a:prstGeom>
          <a:solidFill>
            <a:srgbClr val="9AA5B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6" name="Rectangle 622"/>
          <p:cNvSpPr/>
          <p:nvPr/>
        </p:nvSpPr>
        <p:spPr>
          <a:xfrm>
            <a:off x="4947120" y="33354720"/>
            <a:ext cx="1124640" cy="178200"/>
          </a:xfrm>
          <a:prstGeom prst="rect">
            <a:avLst/>
          </a:prstGeom>
          <a:solidFill>
            <a:srgbClr val="63B7B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7" name="Rectangle 623"/>
          <p:cNvSpPr/>
          <p:nvPr/>
        </p:nvSpPr>
        <p:spPr>
          <a:xfrm>
            <a:off x="6071760" y="33354720"/>
            <a:ext cx="374760" cy="178200"/>
          </a:xfrm>
          <a:prstGeom prst="rect">
            <a:avLst/>
          </a:prstGeom>
          <a:solidFill>
            <a:srgbClr val="A7D3D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8" name="Rectangle 624"/>
          <p:cNvSpPr/>
          <p:nvPr/>
        </p:nvSpPr>
        <p:spPr>
          <a:xfrm>
            <a:off x="6446880" y="33354720"/>
            <a:ext cx="2267280" cy="178200"/>
          </a:xfrm>
          <a:prstGeom prst="rect">
            <a:avLst/>
          </a:prstGeom>
          <a:solidFill>
            <a:srgbClr val="D962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9" name="Rectangle 625"/>
          <p:cNvSpPr/>
          <p:nvPr/>
        </p:nvSpPr>
        <p:spPr>
          <a:xfrm>
            <a:off x="8714520" y="33354720"/>
            <a:ext cx="267480" cy="178200"/>
          </a:xfrm>
          <a:prstGeom prst="rect">
            <a:avLst/>
          </a:prstGeom>
          <a:solidFill>
            <a:srgbClr val="B34A1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0" name="Rectangle 626"/>
          <p:cNvSpPr/>
          <p:nvPr/>
        </p:nvSpPr>
        <p:spPr>
          <a:xfrm>
            <a:off x="8982360" y="33354720"/>
            <a:ext cx="106920" cy="178200"/>
          </a:xfrm>
          <a:prstGeom prst="rect">
            <a:avLst/>
          </a:prstGeom>
          <a:solidFill>
            <a:srgbClr val="7B61C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1" name="TextBox 627"/>
          <p:cNvSpPr/>
          <p:nvPr/>
        </p:nvSpPr>
        <p:spPr>
          <a:xfrm>
            <a:off x="9125280" y="33300000"/>
            <a:ext cx="295164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28800" rIns="1080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1" strike="noStrike" spc="-1" dirty="0">
                <a:solidFill>
                  <a:srgbClr val="D9622B"/>
                </a:solidFill>
                <a:latin typeface="Segoe UI"/>
              </a:rPr>
              <a:t>53 % misleading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Box 628"/>
          <p:cNvSpPr/>
          <p:nvPr/>
        </p:nvSpPr>
        <p:spPr>
          <a:xfrm>
            <a:off x="1116000" y="33588000"/>
            <a:ext cx="338364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28800" rIns="10800" bIns="28800" anchor="ctr">
            <a:noAutofit/>
          </a:bodyPr>
          <a:lstStyle/>
          <a:p>
            <a:pPr algn="r" defTabSz="457200">
              <a:lnSpc>
                <a:spcPct val="112000"/>
              </a:lnSpc>
            </a:pPr>
            <a:r>
              <a:rPr lang="en-US" sz="1100" b="1" strike="noStrike" spc="-1">
                <a:solidFill>
                  <a:srgbClr val="14213D"/>
                </a:solidFill>
                <a:latin typeface="Segoe UI"/>
              </a:rPr>
              <a:t>olmOCR-2 7B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Rectangle 629"/>
          <p:cNvSpPr/>
          <p:nvPr/>
        </p:nvSpPr>
        <p:spPr>
          <a:xfrm>
            <a:off x="4572000" y="33642720"/>
            <a:ext cx="871200" cy="178200"/>
          </a:xfrm>
          <a:prstGeom prst="rect">
            <a:avLst/>
          </a:prstGeom>
          <a:solidFill>
            <a:srgbClr val="9AA5B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4" name="Rectangle 630"/>
          <p:cNvSpPr/>
          <p:nvPr/>
        </p:nvSpPr>
        <p:spPr>
          <a:xfrm>
            <a:off x="5443560" y="33642720"/>
            <a:ext cx="1271880" cy="178200"/>
          </a:xfrm>
          <a:prstGeom prst="rect">
            <a:avLst/>
          </a:prstGeom>
          <a:solidFill>
            <a:srgbClr val="63B7B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5" name="Rectangle 631"/>
          <p:cNvSpPr/>
          <p:nvPr/>
        </p:nvSpPr>
        <p:spPr>
          <a:xfrm>
            <a:off x="6715800" y="33642720"/>
            <a:ext cx="164520" cy="178200"/>
          </a:xfrm>
          <a:prstGeom prst="rect">
            <a:avLst/>
          </a:prstGeom>
          <a:solidFill>
            <a:srgbClr val="A7D3D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6" name="Rectangle 632"/>
          <p:cNvSpPr/>
          <p:nvPr/>
        </p:nvSpPr>
        <p:spPr>
          <a:xfrm>
            <a:off x="6880680" y="33642720"/>
            <a:ext cx="2426040" cy="178200"/>
          </a:xfrm>
          <a:prstGeom prst="rect">
            <a:avLst/>
          </a:prstGeom>
          <a:solidFill>
            <a:srgbClr val="D962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7" name="Rectangle 633"/>
          <p:cNvSpPr/>
          <p:nvPr/>
        </p:nvSpPr>
        <p:spPr>
          <a:xfrm>
            <a:off x="9307080" y="33642720"/>
            <a:ext cx="494280" cy="178200"/>
          </a:xfrm>
          <a:prstGeom prst="rect">
            <a:avLst/>
          </a:prstGeom>
          <a:solidFill>
            <a:srgbClr val="B34A1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8" name="Rectangle 634"/>
          <p:cNvSpPr/>
          <p:nvPr/>
        </p:nvSpPr>
        <p:spPr>
          <a:xfrm>
            <a:off x="9801720" y="33642720"/>
            <a:ext cx="399960" cy="178200"/>
          </a:xfrm>
          <a:prstGeom prst="rect">
            <a:avLst/>
          </a:prstGeom>
          <a:solidFill>
            <a:srgbClr val="7B61C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9" name="TextBox 635"/>
          <p:cNvSpPr/>
          <p:nvPr/>
        </p:nvSpPr>
        <p:spPr>
          <a:xfrm>
            <a:off x="10238400" y="33588000"/>
            <a:ext cx="2951640" cy="28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28800" rIns="1080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1" strike="noStrike" spc="-1" dirty="0">
                <a:solidFill>
                  <a:srgbClr val="D9622B"/>
                </a:solidFill>
                <a:latin typeface="Segoe UI"/>
              </a:rPr>
              <a:t>57 % misleading</a:t>
            </a:r>
            <a:r>
              <a:rPr lang="en-US" sz="900" b="0" strike="noStrike" spc="-1" dirty="0">
                <a:solidFill>
                  <a:srgbClr val="5B6B85"/>
                </a:solidFill>
                <a:latin typeface="Segoe UI"/>
              </a:rPr>
              <a:t> 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Rectangle 636"/>
          <p:cNvSpPr/>
          <p:nvPr/>
        </p:nvSpPr>
        <p:spPr>
          <a:xfrm>
            <a:off x="4572000" y="34027200"/>
            <a:ext cx="125640" cy="125640"/>
          </a:xfrm>
          <a:prstGeom prst="rect">
            <a:avLst/>
          </a:prstGeom>
          <a:solidFill>
            <a:srgbClr val="9AA5B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1" name="TextBox 637"/>
          <p:cNvSpPr/>
          <p:nvPr/>
        </p:nvSpPr>
        <p:spPr>
          <a:xfrm>
            <a:off x="4723200" y="33966000"/>
            <a:ext cx="1583640" cy="25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" tIns="28800" rIns="720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50" b="0" strike="noStrike" spc="-1">
                <a:solidFill>
                  <a:srgbClr val="5B6B85"/>
                </a:solidFill>
                <a:latin typeface="Segoe UI"/>
              </a:rPr>
              <a:t>garble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Rectangle 638"/>
          <p:cNvSpPr/>
          <p:nvPr/>
        </p:nvSpPr>
        <p:spPr>
          <a:xfrm>
            <a:off x="5940000" y="34027200"/>
            <a:ext cx="125640" cy="125640"/>
          </a:xfrm>
          <a:prstGeom prst="rect">
            <a:avLst/>
          </a:prstGeom>
          <a:solidFill>
            <a:srgbClr val="63B7B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3" name="TextBox 639"/>
          <p:cNvSpPr/>
          <p:nvPr/>
        </p:nvSpPr>
        <p:spPr>
          <a:xfrm>
            <a:off x="6091200" y="33966000"/>
            <a:ext cx="1583640" cy="25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" tIns="28800" rIns="720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5B6B85"/>
                </a:solidFill>
                <a:latin typeface="Segoe UI"/>
              </a:rPr>
              <a:t>spelling / normalisation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Rectangle 640"/>
          <p:cNvSpPr/>
          <p:nvPr/>
        </p:nvSpPr>
        <p:spPr>
          <a:xfrm>
            <a:off x="7596000" y="34027200"/>
            <a:ext cx="125640" cy="125640"/>
          </a:xfrm>
          <a:prstGeom prst="rect">
            <a:avLst/>
          </a:prstGeom>
          <a:solidFill>
            <a:srgbClr val="A7D3D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5" name="TextBox 641"/>
          <p:cNvSpPr/>
          <p:nvPr/>
        </p:nvSpPr>
        <p:spPr>
          <a:xfrm>
            <a:off x="7747200" y="33966000"/>
            <a:ext cx="1583640" cy="25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" tIns="28800" rIns="720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50" b="0" strike="noStrike" spc="-1">
                <a:solidFill>
                  <a:srgbClr val="5B6B85"/>
                </a:solidFill>
                <a:latin typeface="Segoe UI"/>
              </a:rPr>
              <a:t>meaning preserved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Rectangle 642"/>
          <p:cNvSpPr/>
          <p:nvPr/>
        </p:nvSpPr>
        <p:spPr>
          <a:xfrm>
            <a:off x="9252000" y="34027200"/>
            <a:ext cx="125640" cy="125640"/>
          </a:xfrm>
          <a:prstGeom prst="rect">
            <a:avLst/>
          </a:prstGeom>
          <a:solidFill>
            <a:srgbClr val="D9622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7" name="TextBox 643"/>
          <p:cNvSpPr/>
          <p:nvPr/>
        </p:nvSpPr>
        <p:spPr>
          <a:xfrm>
            <a:off x="9403200" y="33966000"/>
            <a:ext cx="1583640" cy="25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" tIns="28800" rIns="720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50" b="0" strike="noStrike" spc="-1">
                <a:solidFill>
                  <a:srgbClr val="5B6B85"/>
                </a:solidFill>
                <a:latin typeface="Segoe UI"/>
              </a:rPr>
              <a:t>meaning changed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Rectangle 644"/>
          <p:cNvSpPr/>
          <p:nvPr/>
        </p:nvSpPr>
        <p:spPr>
          <a:xfrm>
            <a:off x="10908000" y="34027200"/>
            <a:ext cx="125640" cy="125640"/>
          </a:xfrm>
          <a:prstGeom prst="rect">
            <a:avLst/>
          </a:prstGeom>
          <a:solidFill>
            <a:srgbClr val="B34A1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9" name="TextBox 645"/>
          <p:cNvSpPr/>
          <p:nvPr/>
        </p:nvSpPr>
        <p:spPr>
          <a:xfrm>
            <a:off x="11059200" y="33966000"/>
            <a:ext cx="1583640" cy="25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" tIns="28800" rIns="720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50" b="0" strike="noStrike" spc="-1">
                <a:solidFill>
                  <a:srgbClr val="5B6B85"/>
                </a:solidFill>
                <a:latin typeface="Segoe UI"/>
              </a:rPr>
              <a:t>names &amp; numbers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Rectangle 646"/>
          <p:cNvSpPr/>
          <p:nvPr/>
        </p:nvSpPr>
        <p:spPr>
          <a:xfrm>
            <a:off x="12564000" y="34027200"/>
            <a:ext cx="125640" cy="125640"/>
          </a:xfrm>
          <a:prstGeom prst="rect">
            <a:avLst/>
          </a:prstGeom>
          <a:solidFill>
            <a:srgbClr val="7B61C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1" name="TextBox 647"/>
          <p:cNvSpPr/>
          <p:nvPr/>
        </p:nvSpPr>
        <p:spPr>
          <a:xfrm>
            <a:off x="12715200" y="33966000"/>
            <a:ext cx="1583640" cy="25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0" tIns="28800" rIns="720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50" b="0" strike="noStrike" spc="-1">
                <a:solidFill>
                  <a:srgbClr val="5B6B85"/>
                </a:solidFill>
                <a:latin typeface="Segoe UI"/>
              </a:rPr>
              <a:t>omitted / invented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Box 648"/>
          <p:cNvSpPr/>
          <p:nvPr/>
        </p:nvSpPr>
        <p:spPr>
          <a:xfrm>
            <a:off x="1116000" y="34272000"/>
            <a:ext cx="13553640" cy="766440"/>
          </a:xfrm>
          <a:prstGeom prst="rect">
            <a:avLst/>
          </a:prstGeom>
          <a:solidFill>
            <a:srgbClr val="FAFCFE"/>
          </a:solidFill>
          <a:ln w="9525">
            <a:solidFill>
              <a:srgbClr val="CBD6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  <a:spcAft>
                <a:spcPts val="119"/>
              </a:spcAft>
            </a:pPr>
            <a:r>
              <a:rPr lang="en-US" sz="800" b="1" strike="noStrike" spc="-1">
                <a:solidFill>
                  <a:srgbClr val="5B6B85"/>
                </a:solidFill>
                <a:latin typeface="Segoe UI"/>
              </a:rPr>
              <a:t>reference  </a:t>
            </a:r>
            <a:r>
              <a:rPr lang="en-US" sz="1100" b="0" i="1" strike="noStrike" spc="-1">
                <a:solidFill>
                  <a:srgbClr val="14213D"/>
                </a:solidFill>
                <a:latin typeface="Segoe UI"/>
              </a:rPr>
              <a:t>Januar 1923. München.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119"/>
              </a:spcAft>
            </a:pPr>
            <a:r>
              <a:rPr lang="en-US" sz="800" b="1" strike="noStrike" spc="-1">
                <a:solidFill>
                  <a:srgbClr val="5B6B85"/>
                </a:solidFill>
                <a:latin typeface="Segoe UI"/>
              </a:rPr>
              <a:t>Kraken 19th-c. Kurrent  </a:t>
            </a:r>
            <a:r>
              <a:rPr lang="en-US" sz="1100" b="1" strike="noStrike" spc="-1">
                <a:solidFill>
                  <a:srgbClr val="7B61C4"/>
                </a:solidFill>
                <a:latin typeface="Segoe UI"/>
              </a:rPr>
              <a:t>15. Janiar</a:t>
            </a:r>
            <a:r>
              <a:rPr lang="en-US" sz="1100" b="0" strike="noStrike" spc="-1">
                <a:solidFill>
                  <a:srgbClr val="14213D"/>
                </a:solidFill>
                <a:latin typeface="Segoe UI"/>
              </a:rPr>
              <a:t> </a:t>
            </a:r>
            <a:r>
              <a:rPr lang="en-US" sz="1100" b="1" strike="noStrike" spc="-1">
                <a:solidFill>
                  <a:srgbClr val="B34A1E"/>
                </a:solidFill>
                <a:latin typeface="Segoe UI"/>
              </a:rPr>
              <a:t>is3.</a:t>
            </a:r>
            <a:r>
              <a:rPr lang="en-US" sz="1100" b="0" strike="noStrike" spc="-1">
                <a:solidFill>
                  <a:srgbClr val="14213D"/>
                </a:solidFill>
                <a:latin typeface="Segoe UI"/>
              </a:rPr>
              <a:t> </a:t>
            </a:r>
            <a:r>
              <a:rPr lang="en-US" sz="1100" b="1" strike="noStrike" spc="-1">
                <a:solidFill>
                  <a:srgbClr val="B34A1E"/>
                </a:solidFill>
                <a:latin typeface="Segoe UI"/>
              </a:rPr>
              <a:t>munmen.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lang="en-US" sz="850" b="1" strike="noStrike" spc="-1">
                <a:solidFill>
                  <a:srgbClr val="5B6B85"/>
                </a:solidFill>
                <a:latin typeface="Segoe UI"/>
              </a:rPr>
              <a:t>judge  </a:t>
            </a:r>
            <a:r>
              <a:rPr lang="en-US" sz="900" b="1" strike="noStrike" spc="-1">
                <a:solidFill>
                  <a:srgbClr val="7B61C4"/>
                </a:solidFill>
                <a:latin typeface="Segoe UI"/>
              </a:rPr>
              <a:t>15. Janiar: hallucinated insertion (severity 1)  </a:t>
            </a:r>
            <a:r>
              <a:rPr lang="en-US" sz="900" b="1" strike="noStrike" spc="-1">
                <a:solidFill>
                  <a:srgbClr val="9AA5B5"/>
                </a:solidFill>
                <a:latin typeface="Segoe UI"/>
              </a:rPr>
              <a:t>Janiar: garble (severity 1)  </a:t>
            </a:r>
            <a:r>
              <a:rPr lang="en-US" sz="900" b="1" strike="noStrike" spc="-1">
                <a:solidFill>
                  <a:srgbClr val="B34A1E"/>
                </a:solidFill>
                <a:latin typeface="Segoe UI"/>
              </a:rPr>
              <a:t>is3.: number error (severity 2)  munmen.: name error (severity 2)  </a:t>
            </a:r>
            <a:r>
              <a:rPr lang="en-US" sz="900" b="0" strike="noStrike" spc="-1">
                <a:solidFill>
                  <a:srgbClr val="3F4C63"/>
                </a:solidFill>
                <a:latin typeface="Segoe UI"/>
              </a:rPr>
              <a:t> 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Segoe UI"/>
              </a:rPr>
              <a:t>The machine transcription hallucinates a day, garbles the month, misreads the year, and severely misread the city name.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Rectangle 1045"/>
          <p:cNvSpPr/>
          <p:nvPr/>
        </p:nvSpPr>
        <p:spPr>
          <a:xfrm>
            <a:off x="15354000" y="30600000"/>
            <a:ext cx="14058000" cy="5256000"/>
          </a:xfrm>
          <a:prstGeom prst="rect">
            <a:avLst/>
          </a:prstGeom>
          <a:solidFill>
            <a:srgbClr val="FAFCFE"/>
          </a:solidFill>
          <a:ln>
            <a:solidFill>
              <a:srgbClr val="CBD6E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5" name="TextBox 1046"/>
          <p:cNvSpPr/>
          <p:nvPr/>
        </p:nvSpPr>
        <p:spPr>
          <a:xfrm>
            <a:off x="15480000" y="30708000"/>
            <a:ext cx="13806000" cy="5144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  <a:spcAft>
                <a:spcPts val="800"/>
              </a:spcAft>
            </a:pPr>
            <a:r>
              <a:rPr lang="en-US" sz="2800" b="1" strike="noStrike" spc="-1" dirty="0">
                <a:solidFill>
                  <a:srgbClr val="14213D"/>
                </a:solidFill>
                <a:latin typeface="Palatino Linotype"/>
              </a:rPr>
              <a:t>Three things to take home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900"/>
              </a:spcAft>
            </a:pPr>
            <a:r>
              <a:rPr lang="en-US" sz="2400" b="1" spc="-1" dirty="0">
                <a:solidFill>
                  <a:srgbClr val="D9622B"/>
                </a:solidFill>
                <a:latin typeface="Palatino Linotype"/>
              </a:rPr>
              <a:t>1  </a:t>
            </a:r>
            <a:r>
              <a:rPr lang="en-US" sz="2400" b="1" strike="noStrike" spc="-1" dirty="0">
                <a:solidFill>
                  <a:srgbClr val="14213D"/>
                </a:solidFill>
                <a:latin typeface="Segoe UI"/>
              </a:rPr>
              <a:t>No single winner. </a:t>
            </a:r>
            <a:r>
              <a:rPr lang="en-US" sz="2400" b="0" strike="noStrike" spc="-1" dirty="0">
                <a:solidFill>
                  <a:srgbClr val="3F4C63"/>
                </a:solidFill>
                <a:latin typeface="Segoe UI"/>
              </a:rPr>
              <a:t>2 pre-trained systems win the 4 corpora (Gemini 3.5 Flash, </a:t>
            </a:r>
            <a:r>
              <a:rPr lang="en-US" sz="2400" b="0" strike="noStrike" spc="-1" dirty="0" err="1">
                <a:solidFill>
                  <a:srgbClr val="3F4C63"/>
                </a:solidFill>
                <a:latin typeface="Segoe UI"/>
              </a:rPr>
              <a:t>Transkribus</a:t>
            </a:r>
            <a:r>
              <a:rPr lang="en-US" sz="2400" b="0" strike="noStrike" spc="-1" dirty="0">
                <a:solidFill>
                  <a:srgbClr val="3F4C63"/>
                </a:solidFill>
                <a:latin typeface="Segoe UI"/>
              </a:rPr>
              <a:t> 	German Genius); which tool is the right one depends on </a:t>
            </a:r>
            <a:r>
              <a:rPr lang="en-US" sz="2400" b="1" strike="noStrike" spc="-1" dirty="0">
                <a:solidFill>
                  <a:srgbClr val="3F4C63"/>
                </a:solidFill>
                <a:latin typeface="Segoe UI"/>
              </a:rPr>
              <a:t>source material</a:t>
            </a:r>
            <a:r>
              <a:rPr lang="en-US" sz="2400" strike="noStrike" spc="-1" dirty="0">
                <a:solidFill>
                  <a:srgbClr val="3F4C63"/>
                </a:solidFill>
                <a:latin typeface="Segoe UI"/>
              </a:rPr>
              <a:t>, and</a:t>
            </a:r>
            <a:r>
              <a:rPr lang="en-US" sz="2400" b="1" strike="noStrike" spc="-1" dirty="0">
                <a:solidFill>
                  <a:srgbClr val="3F4C63"/>
                </a:solidFill>
                <a:latin typeface="Segoe UI"/>
              </a:rPr>
              <a:t> budget</a:t>
            </a:r>
            <a:r>
              <a:rPr lang="en-US" sz="2400" strike="noStrike" spc="-1" dirty="0">
                <a:solidFill>
                  <a:srgbClr val="3F4C63"/>
                </a:solidFill>
                <a:latin typeface="Segoe UI"/>
              </a:rPr>
              <a:t>. </a:t>
            </a:r>
          </a:p>
          <a:p>
            <a:pPr defTabSz="457200">
              <a:lnSpc>
                <a:spcPct val="112000"/>
              </a:lnSpc>
              <a:spcAft>
                <a:spcPts val="900"/>
              </a:spcAft>
            </a:pPr>
            <a:r>
              <a:rPr lang="en-US" sz="2400" strike="noStrike" spc="-1" dirty="0">
                <a:solidFill>
                  <a:srgbClr val="3F4C63"/>
                </a:solidFill>
                <a:latin typeface="Segoe UI"/>
              </a:rPr>
              <a:t>I</a:t>
            </a:r>
            <a:r>
              <a:rPr lang="en-US" sz="2400" spc="-1" dirty="0">
                <a:solidFill>
                  <a:srgbClr val="3F4C63"/>
                </a:solidFill>
                <a:latin typeface="Segoe UI"/>
              </a:rPr>
              <a:t>f ground truth data for fine-tuning is obtainable, a specialist model might be the best choice.</a:t>
            </a:r>
          </a:p>
          <a:p>
            <a:pPr defTabSz="457200">
              <a:lnSpc>
                <a:spcPct val="112000"/>
              </a:lnSpc>
              <a:spcAft>
                <a:spcPts val="900"/>
              </a:spcAft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900"/>
              </a:spcAft>
            </a:pPr>
            <a:r>
              <a:rPr lang="en-US" sz="2400" b="1" spc="-1" dirty="0">
                <a:solidFill>
                  <a:srgbClr val="D9622B"/>
                </a:solidFill>
                <a:latin typeface="Palatino Linotype"/>
              </a:rPr>
              <a:t>2  </a:t>
            </a:r>
            <a:r>
              <a:rPr lang="en-US" sz="2400" b="1" strike="noStrike" spc="-1" dirty="0">
                <a:solidFill>
                  <a:srgbClr val="14213D"/>
                </a:solidFill>
                <a:latin typeface="Segoe UI"/>
              </a:rPr>
              <a:t>Open-weight VLMs natively do not read </a:t>
            </a:r>
            <a:r>
              <a:rPr lang="en-US" sz="2400" b="1" strike="noStrike" spc="-1" dirty="0" err="1">
                <a:solidFill>
                  <a:srgbClr val="14213D"/>
                </a:solidFill>
                <a:latin typeface="Segoe UI"/>
              </a:rPr>
              <a:t>Kurrent</a:t>
            </a:r>
            <a:r>
              <a:rPr lang="en-US" sz="2400" b="1" strike="noStrike" spc="-1" dirty="0">
                <a:solidFill>
                  <a:srgbClr val="14213D"/>
                </a:solidFill>
                <a:latin typeface="Segoe UI"/>
              </a:rPr>
              <a:t> yet. </a:t>
            </a:r>
            <a:r>
              <a:rPr lang="en-US" sz="2400" b="0" strike="noStrike" spc="-1" dirty="0">
                <a:solidFill>
                  <a:srgbClr val="3F4C63"/>
                </a:solidFill>
                <a:latin typeface="Segoe UI"/>
              </a:rPr>
              <a:t>The best of 7 (olmOCR-2 7B) gets 60.2% of the page wrong. </a:t>
            </a:r>
          </a:p>
          <a:p>
            <a:pPr defTabSz="457200">
              <a:lnSpc>
                <a:spcPct val="112000"/>
              </a:lnSpc>
              <a:spcAft>
                <a:spcPts val="900"/>
              </a:spcAft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900"/>
              </a:spcAft>
            </a:pPr>
            <a:r>
              <a:rPr lang="en-US" sz="2400" b="1" strike="noStrike" spc="-1" dirty="0">
                <a:solidFill>
                  <a:srgbClr val="D9622B"/>
                </a:solidFill>
                <a:latin typeface="Palatino Linotype"/>
              </a:rPr>
              <a:t>3  </a:t>
            </a:r>
            <a:r>
              <a:rPr lang="en-US" sz="2400" b="1" strike="noStrike" spc="-1" dirty="0">
                <a:solidFill>
                  <a:srgbClr val="14213D"/>
                </a:solidFill>
                <a:latin typeface="Segoe UI"/>
              </a:rPr>
              <a:t>The fluent reader's errors are the ones nobody sees. </a:t>
            </a:r>
            <a:r>
              <a:rPr lang="en-US" sz="2400" b="0" strike="noStrike" spc="-1" dirty="0">
                <a:solidFill>
                  <a:srgbClr val="3F4C63"/>
                </a:solidFill>
                <a:latin typeface="Segoe UI"/>
              </a:rPr>
              <a:t>69 % of the frontier VLM's misread words are real words (line model: 40 %). Plausible errors are difficult to identify. </a:t>
            </a:r>
          </a:p>
          <a:p>
            <a:pPr defTabSz="457200">
              <a:lnSpc>
                <a:spcPct val="112000"/>
              </a:lnSpc>
              <a:spcAft>
                <a:spcPts val="900"/>
              </a:spcAft>
            </a:pP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96" name="Connector 1047"/>
          <p:cNvCxnSpPr/>
          <p:nvPr/>
        </p:nvCxnSpPr>
        <p:spPr>
          <a:xfrm>
            <a:off x="864000" y="40687200"/>
            <a:ext cx="28548360" cy="360"/>
          </a:xfrm>
          <a:prstGeom prst="straightConnector1">
            <a:avLst/>
          </a:prstGeom>
          <a:ln w="12700">
            <a:solidFill>
              <a:srgbClr val="14213D"/>
            </a:solidFill>
            <a:round/>
          </a:ln>
        </p:spPr>
      </p:cxnSp>
      <p:sp>
        <p:nvSpPr>
          <p:cNvPr id="898" name="TextBox 1049"/>
          <p:cNvSpPr/>
          <p:nvPr/>
        </p:nvSpPr>
        <p:spPr>
          <a:xfrm>
            <a:off x="864000" y="40903200"/>
            <a:ext cx="6840000" cy="11480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en-US" sz="1000" b="1" strike="noStrike" spc="-1" dirty="0">
                <a:solidFill>
                  <a:srgbClr val="3F4C63"/>
                </a:solidFill>
                <a:latin typeface="Segoe UI"/>
              </a:rPr>
              <a:t>Data: 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en-US" sz="1000" b="0" strike="noStrike" spc="-1" dirty="0" err="1">
                <a:solidFill>
                  <a:srgbClr val="3F4C63"/>
                </a:solidFill>
                <a:latin typeface="Segoe UI"/>
              </a:rPr>
              <a:t>Archiv</a:t>
            </a:r>
            <a:r>
              <a:rPr lang="en-US" sz="1000" b="0" strike="noStrike" spc="-1" dirty="0">
                <a:solidFill>
                  <a:srgbClr val="3F4C63"/>
                </a:solidFill>
                <a:latin typeface="Segoe UI"/>
              </a:rPr>
              <a:t> des </a:t>
            </a:r>
            <a:r>
              <a:rPr lang="en-US" sz="1000" b="0" strike="noStrike" spc="-1" dirty="0" err="1">
                <a:solidFill>
                  <a:srgbClr val="3F4C63"/>
                </a:solidFill>
                <a:latin typeface="Segoe UI"/>
              </a:rPr>
              <a:t>Bistums</a:t>
            </a:r>
            <a:r>
              <a:rPr lang="en-US" sz="1000" b="0" strike="noStrike" spc="-1" dirty="0">
                <a:solidFill>
                  <a:srgbClr val="3F4C63"/>
                </a:solidFill>
                <a:latin typeface="Segoe UI"/>
              </a:rPr>
              <a:t> Passau (</a:t>
            </a:r>
            <a:r>
              <a:rPr lang="en-US" sz="1000" b="0" strike="noStrike" spc="-1" dirty="0" err="1">
                <a:solidFill>
                  <a:srgbClr val="3F4C63"/>
                </a:solidFill>
                <a:latin typeface="Segoe UI"/>
              </a:rPr>
              <a:t>Ratsprotokolle</a:t>
            </a:r>
            <a:r>
              <a:rPr lang="en-US" sz="1000" b="0" strike="noStrike" spc="-1" dirty="0">
                <a:solidFill>
                  <a:srgbClr val="3F4C63"/>
                </a:solidFill>
                <a:latin typeface="Segoe UI"/>
              </a:rPr>
              <a:t>);  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en-US" sz="1000" b="0" strike="noStrike" spc="-1" dirty="0">
                <a:solidFill>
                  <a:srgbClr val="3F4C63"/>
                </a:solidFill>
                <a:latin typeface="Segoe UI"/>
              </a:rPr>
              <a:t>BBAW, edition </a:t>
            </a:r>
            <a:r>
              <a:rPr lang="en-US" sz="1000" b="0" strike="noStrike" spc="-1" dirty="0" err="1">
                <a:solidFill>
                  <a:srgbClr val="3F4C63"/>
                </a:solidFill>
                <a:latin typeface="Segoe UI"/>
              </a:rPr>
              <a:t>humboldt</a:t>
            </a:r>
            <a:r>
              <a:rPr lang="en-US" sz="1000" b="0" strike="noStrike" spc="-1" dirty="0">
                <a:solidFill>
                  <a:srgbClr val="3F4C63"/>
                </a:solidFill>
                <a:latin typeface="Segoe UI"/>
              </a:rPr>
              <a:t> digital (Humboldt); 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en-US" sz="1000" b="0" strike="noStrike" spc="-1" dirty="0" err="1">
                <a:solidFill>
                  <a:srgbClr val="3F4C63"/>
                </a:solidFill>
                <a:latin typeface="Segoe UI"/>
              </a:rPr>
              <a:t>Staatsarchiv</a:t>
            </a:r>
            <a:r>
              <a:rPr lang="en-US" sz="1000" b="0" strike="noStrike" spc="-1" dirty="0">
                <a:solidFill>
                  <a:srgbClr val="3F4C63"/>
                </a:solidFill>
                <a:latin typeface="Segoe UI"/>
              </a:rPr>
              <a:t> Landshut / </a:t>
            </a:r>
            <a:r>
              <a:rPr lang="en-US" sz="1000" b="0" strike="noStrike" spc="-1" dirty="0" err="1">
                <a:solidFill>
                  <a:srgbClr val="3F4C63"/>
                </a:solidFill>
                <a:latin typeface="Segoe UI"/>
              </a:rPr>
              <a:t>Regierung</a:t>
            </a:r>
            <a:r>
              <a:rPr lang="en-US" sz="1000" b="0" strike="noStrike" spc="-1" dirty="0">
                <a:solidFill>
                  <a:srgbClr val="3F4C63"/>
                </a:solidFill>
                <a:latin typeface="Segoe UI"/>
              </a:rPr>
              <a:t> von </a:t>
            </a:r>
            <a:r>
              <a:rPr lang="en-US" sz="1000" b="0" strike="noStrike" spc="-1" dirty="0" err="1">
                <a:solidFill>
                  <a:srgbClr val="3F4C63"/>
                </a:solidFill>
                <a:latin typeface="Segoe UI"/>
              </a:rPr>
              <a:t>Niederbayern</a:t>
            </a:r>
            <a:r>
              <a:rPr lang="en-US" sz="1000" b="0" strike="noStrike" spc="-1" dirty="0">
                <a:solidFill>
                  <a:srgbClr val="3F4C63"/>
                </a:solidFill>
                <a:latin typeface="Segoe UI"/>
              </a:rPr>
              <a:t> (</a:t>
            </a:r>
            <a:r>
              <a:rPr lang="en-US" sz="1000" b="0" strike="noStrike" spc="-1" dirty="0" err="1">
                <a:solidFill>
                  <a:srgbClr val="3F4C63"/>
                </a:solidFill>
                <a:latin typeface="Segoe UI"/>
              </a:rPr>
              <a:t>Forsteinrichtungsoperate</a:t>
            </a:r>
            <a:r>
              <a:rPr lang="en-US" sz="1000" b="0" strike="noStrike" spc="-1" dirty="0">
                <a:solidFill>
                  <a:srgbClr val="3F4C63"/>
                </a:solidFill>
                <a:latin typeface="Segoe UI"/>
              </a:rPr>
              <a:t>)  </a:t>
            </a:r>
            <a:r>
              <a:rPr lang="en-US" sz="1000" b="0" strike="noStrike" spc="-1" dirty="0" err="1">
                <a:solidFill>
                  <a:srgbClr val="3F4C63"/>
                </a:solidFill>
                <a:latin typeface="Segoe UI"/>
              </a:rPr>
              <a:t>Bayerisches</a:t>
            </a:r>
            <a:r>
              <a:rPr lang="en-US" sz="1000" b="0" strike="noStrike" spc="-1" dirty="0">
                <a:solidFill>
                  <a:srgbClr val="3F4C63"/>
                </a:solidFill>
                <a:latin typeface="Segoe UI"/>
              </a:rPr>
              <a:t> </a:t>
            </a:r>
            <a:r>
              <a:rPr lang="en-US" sz="1000" b="0" strike="noStrike" spc="-1" dirty="0" err="1">
                <a:solidFill>
                  <a:srgbClr val="3F4C63"/>
                </a:solidFill>
                <a:latin typeface="Segoe UI"/>
              </a:rPr>
              <a:t>Hauptstaatsarchiv</a:t>
            </a:r>
            <a:r>
              <a:rPr lang="en-US" sz="1000" b="0" strike="noStrike" spc="-1" dirty="0">
                <a:solidFill>
                  <a:srgbClr val="3F4C63"/>
                </a:solidFill>
                <a:latin typeface="Segoe UI"/>
              </a:rPr>
              <a:t>/GDA </a:t>
            </a:r>
            <a:r>
              <a:rPr lang="en-US" sz="1000" b="0" strike="noStrike" spc="-1" dirty="0" err="1">
                <a:solidFill>
                  <a:srgbClr val="3F4C63"/>
                </a:solidFill>
                <a:latin typeface="Segoe UI"/>
              </a:rPr>
              <a:t>Nachlass</a:t>
            </a:r>
            <a:r>
              <a:rPr lang="en-US" sz="1000" b="0" strike="noStrike" spc="-1" dirty="0">
                <a:solidFill>
                  <a:srgbClr val="3F4C63"/>
                </a:solidFill>
                <a:latin typeface="Segoe UI"/>
              </a:rPr>
              <a:t> Alfred </a:t>
            </a:r>
            <a:r>
              <a:rPr lang="en-US" sz="1000" b="0" strike="noStrike" spc="-1" dirty="0" err="1">
                <a:solidFill>
                  <a:srgbClr val="3F4C63"/>
                </a:solidFill>
                <a:latin typeface="Segoe UI"/>
              </a:rPr>
              <a:t>Laubmann</a:t>
            </a:r>
            <a:r>
              <a:rPr lang="en-US" sz="1000" b="0" strike="noStrike" spc="-1" dirty="0">
                <a:solidFill>
                  <a:srgbClr val="3F4C63"/>
                </a:solidFill>
                <a:latin typeface="Segoe UI"/>
              </a:rPr>
              <a:t> (</a:t>
            </a:r>
            <a:r>
              <a:rPr lang="en-US" sz="1000" b="0" strike="noStrike" spc="-1" dirty="0" err="1">
                <a:solidFill>
                  <a:srgbClr val="3F4C63"/>
                </a:solidFill>
                <a:latin typeface="Segoe UI"/>
              </a:rPr>
              <a:t>Laubmann</a:t>
            </a:r>
            <a:r>
              <a:rPr lang="en-US" sz="1000" b="0" strike="noStrike" spc="-1" dirty="0">
                <a:solidFill>
                  <a:srgbClr val="3F4C63"/>
                </a:solidFill>
                <a:latin typeface="Segoe UI"/>
              </a:rPr>
              <a:t>)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TextBox 1052"/>
          <p:cNvSpPr/>
          <p:nvPr/>
        </p:nvSpPr>
        <p:spPr>
          <a:xfrm>
            <a:off x="8280000" y="41101200"/>
            <a:ext cx="9745200" cy="12081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0" tIns="28800" rIns="18000" bIns="28800" anchor="t">
            <a:noAutofit/>
          </a:bodyPr>
          <a:lstStyle/>
          <a:p>
            <a:pPr defTabSz="457200">
              <a:lnSpc>
                <a:spcPct val="112000"/>
              </a:lnSpc>
              <a:spcAft>
                <a:spcPts val="60"/>
              </a:spcAft>
            </a:pPr>
            <a:r>
              <a:rPr lang="en-US" sz="850" b="0" strike="noStrike" spc="-1" dirty="0">
                <a:solidFill>
                  <a:srgbClr val="3F4C63"/>
                </a:solidFill>
                <a:latin typeface="Segoe UI"/>
              </a:rPr>
              <a:t>[1] Humphries, M. (2025). Gemini 3 Solves Handwriting Recognition and it's a Bitter Lesson. Generative History (Substack).</a:t>
            </a:r>
            <a:endParaRPr lang="en-US" sz="85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60"/>
              </a:spcAft>
            </a:pPr>
            <a:r>
              <a:rPr lang="en-US" sz="850" b="0" strike="noStrike" spc="-1" dirty="0">
                <a:solidFill>
                  <a:srgbClr val="3F4C63"/>
                </a:solidFill>
                <a:latin typeface="Segoe UI"/>
              </a:rPr>
              <a:t>[2] </a:t>
            </a:r>
            <a:r>
              <a:rPr lang="en-US" sz="850" b="0" strike="noStrike" spc="-1" dirty="0" err="1">
                <a:solidFill>
                  <a:srgbClr val="3F4C63"/>
                </a:solidFill>
                <a:latin typeface="Segoe UI"/>
              </a:rPr>
              <a:t>Boillet</a:t>
            </a:r>
            <a:r>
              <a:rPr lang="en-US" sz="850" b="0" strike="noStrike" spc="-1" dirty="0">
                <a:solidFill>
                  <a:srgbClr val="3F4C63"/>
                </a:solidFill>
                <a:latin typeface="Segoe UI"/>
              </a:rPr>
              <a:t>, M. et al. (2026). METATR: A Multilingual, Evolving Benchmark for Automatic Text Recognition. arXiv:2605.26712.</a:t>
            </a:r>
            <a:endParaRPr lang="en-US" sz="85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60"/>
              </a:spcAft>
            </a:pPr>
            <a:r>
              <a:rPr lang="en-US" sz="850" b="0" strike="noStrike" spc="-1" dirty="0">
                <a:solidFill>
                  <a:srgbClr val="3F4C63"/>
                </a:solidFill>
                <a:latin typeface="Segoe UI"/>
              </a:rPr>
              <a:t>[3] Clifford, J. et al. (2026). Reading the Archive by Machine: An OCR Benchmark for Historians, 1612–1921. Working Papers in Critical Search, no. 4.</a:t>
            </a:r>
            <a:endParaRPr lang="en-US" sz="85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60"/>
              </a:spcAft>
            </a:pPr>
            <a:r>
              <a:rPr lang="en-US" sz="850" b="0" strike="noStrike" spc="-1" dirty="0">
                <a:solidFill>
                  <a:srgbClr val="3F4C63"/>
                </a:solidFill>
                <a:latin typeface="Segoe UI"/>
              </a:rPr>
              <a:t>[4] Levchenko, M. (2025). Evaluating LLMs for Historical Document OCR: A Methodological Framework for Digital Humanities. arXiv:2510.06743 (LM4DH @ RANLP 2025).</a:t>
            </a:r>
            <a:endParaRPr lang="en-US" sz="85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60"/>
              </a:spcAft>
            </a:pPr>
            <a:r>
              <a:rPr lang="en-US" sz="850" b="0" strike="noStrike" spc="-1" dirty="0">
                <a:solidFill>
                  <a:srgbClr val="3F4C63"/>
                </a:solidFill>
                <a:latin typeface="Segoe UI"/>
              </a:rPr>
              <a:t>[5] Gardella, M. et al. (2026). When Low CER is Not Enough: An Analysis of Hallucinations in Vision-Language OCR Systems on Historical Uruguayan Documents. arXiv:2607.24077.</a:t>
            </a:r>
            <a:endParaRPr lang="en-US" sz="8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TextBox 1053"/>
          <p:cNvSpPr/>
          <p:nvPr/>
        </p:nvSpPr>
        <p:spPr>
          <a:xfrm>
            <a:off x="18385200" y="41101200"/>
            <a:ext cx="9745200" cy="12081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0" tIns="28800" rIns="18000" bIns="28800" anchor="t">
            <a:noAutofit/>
          </a:bodyPr>
          <a:lstStyle/>
          <a:p>
            <a:pPr defTabSz="457200">
              <a:lnSpc>
                <a:spcPct val="112000"/>
              </a:lnSpc>
              <a:spcAft>
                <a:spcPts val="60"/>
              </a:spcAft>
            </a:pPr>
            <a:r>
              <a:rPr lang="en-US" sz="850" b="0" strike="noStrike" spc="-1" dirty="0">
                <a:solidFill>
                  <a:srgbClr val="3F4C63"/>
                </a:solidFill>
                <a:latin typeface="Segoe UI"/>
              </a:rPr>
              <a:t>[6] Bourne, J. et al. (2026). The Character Error Vector: Decomposable errors for page-level OCR evaluation. arXiv:2604.06160 (ACL 2026).</a:t>
            </a:r>
            <a:endParaRPr lang="en-US" sz="85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60"/>
              </a:spcAft>
            </a:pPr>
            <a:r>
              <a:rPr lang="en-US" sz="850" b="0" strike="noStrike" spc="-1" dirty="0">
                <a:solidFill>
                  <a:srgbClr val="3F4C63"/>
                </a:solidFill>
                <a:latin typeface="Segoe UI"/>
              </a:rPr>
              <a:t>[7] OECD and JRC European Commission (2008). Handbook on Constructing Composite Indicators: Methodology and User Guide. OECD Publishing.</a:t>
            </a:r>
            <a:endParaRPr lang="en-US" sz="85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60"/>
              </a:spcAft>
            </a:pPr>
            <a:r>
              <a:rPr lang="en-US" sz="850" b="0" strike="noStrike" spc="-1" dirty="0">
                <a:solidFill>
                  <a:srgbClr val="3F4C63"/>
                </a:solidFill>
                <a:latin typeface="Segoe UI"/>
              </a:rPr>
              <a:t>[8] Luccioni, S., </a:t>
            </a:r>
            <a:r>
              <a:rPr lang="en-US" sz="850" b="0" strike="noStrike" spc="-1" dirty="0" err="1">
                <a:solidFill>
                  <a:srgbClr val="3F4C63"/>
                </a:solidFill>
                <a:latin typeface="Segoe UI"/>
              </a:rPr>
              <a:t>Jernite</a:t>
            </a:r>
            <a:r>
              <a:rPr lang="en-US" sz="850" b="0" strike="noStrike" spc="-1" dirty="0">
                <a:solidFill>
                  <a:srgbClr val="3F4C63"/>
                </a:solidFill>
                <a:latin typeface="Segoe UI"/>
              </a:rPr>
              <a:t>, Y. and </a:t>
            </a:r>
            <a:r>
              <a:rPr lang="en-US" sz="850" b="0" strike="noStrike" spc="-1" dirty="0" err="1">
                <a:solidFill>
                  <a:srgbClr val="3F4C63"/>
                </a:solidFill>
                <a:latin typeface="Segoe UI"/>
              </a:rPr>
              <a:t>Strubell</a:t>
            </a:r>
            <a:r>
              <a:rPr lang="en-US" sz="850" b="0" strike="noStrike" spc="-1" dirty="0">
                <a:solidFill>
                  <a:srgbClr val="3F4C63"/>
                </a:solidFill>
                <a:latin typeface="Segoe UI"/>
              </a:rPr>
              <a:t>, E. (2024). Power Hungry Processing: Watts Driving the Cost of AI Deployment? Proc. ACM </a:t>
            </a:r>
            <a:r>
              <a:rPr lang="en-US" sz="850" b="0" strike="noStrike" spc="-1" dirty="0" err="1">
                <a:solidFill>
                  <a:srgbClr val="3F4C63"/>
                </a:solidFill>
                <a:latin typeface="Segoe UI"/>
              </a:rPr>
              <a:t>FAccT</a:t>
            </a:r>
            <a:r>
              <a:rPr lang="en-US" sz="850" b="0" strike="noStrike" spc="-1" dirty="0">
                <a:solidFill>
                  <a:srgbClr val="3F4C63"/>
                </a:solidFill>
                <a:latin typeface="Segoe UI"/>
              </a:rPr>
              <a:t>.</a:t>
            </a:r>
            <a:endParaRPr lang="en-US" sz="85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2000"/>
              </a:lnSpc>
              <a:spcAft>
                <a:spcPts val="60"/>
              </a:spcAft>
            </a:pPr>
            <a:r>
              <a:rPr lang="en-US" sz="850" b="0" strike="noStrike" spc="-1" dirty="0">
                <a:solidFill>
                  <a:srgbClr val="3F4C63"/>
                </a:solidFill>
                <a:latin typeface="Segoe UI"/>
              </a:rPr>
              <a:t>[9] </a:t>
            </a:r>
            <a:r>
              <a:rPr lang="en-US" sz="850" b="0" strike="noStrike" spc="-1" dirty="0" err="1">
                <a:solidFill>
                  <a:srgbClr val="3F4C63"/>
                </a:solidFill>
                <a:latin typeface="Segoe UI"/>
              </a:rPr>
              <a:t>Semnani</a:t>
            </a:r>
            <a:r>
              <a:rPr lang="en-US" sz="850" b="0" strike="noStrike" spc="-1" dirty="0">
                <a:solidFill>
                  <a:srgbClr val="3F4C63"/>
                </a:solidFill>
                <a:latin typeface="Segoe UI"/>
              </a:rPr>
              <a:t>, S. J. et al. (2025). CHURRO: Making History Readable with an Open-Weight Large Vision-Language Model for High-Accuracy, Low-Cost Historical Text Recognition. arXiv:2509.19768.</a:t>
            </a:r>
            <a:endParaRPr lang="en-US" sz="85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3" name="Grafik 1057"/>
          <p:cNvPicPr/>
          <p:nvPr/>
        </p:nvPicPr>
        <p:blipFill>
          <a:blip r:embed="rId10"/>
          <a:stretch/>
        </p:blipFill>
        <p:spPr>
          <a:xfrm>
            <a:off x="28563480" y="41083200"/>
            <a:ext cx="848520" cy="848520"/>
          </a:xfrm>
          <a:prstGeom prst="rect">
            <a:avLst/>
          </a:prstGeom>
          <a:ln w="0">
            <a:noFill/>
          </a:ln>
        </p:spPr>
      </p:pic>
      <p:sp>
        <p:nvSpPr>
          <p:cNvPr id="976" name="TextBox 1126"/>
          <p:cNvSpPr/>
          <p:nvPr/>
        </p:nvSpPr>
        <p:spPr>
          <a:xfrm>
            <a:off x="22453200" y="25452000"/>
            <a:ext cx="2055240" cy="21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1" strike="noStrike" spc="-1">
                <a:solidFill>
                  <a:srgbClr val="5B6B85"/>
                </a:solidFill>
                <a:latin typeface="Segoe UI"/>
              </a:rPr>
              <a:t>speed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" name="TextBox 1127"/>
          <p:cNvSpPr/>
          <p:nvPr/>
        </p:nvSpPr>
        <p:spPr>
          <a:xfrm>
            <a:off x="24508800" y="25452000"/>
            <a:ext cx="2055240" cy="21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1" strike="noStrike" spc="-1">
                <a:solidFill>
                  <a:srgbClr val="5B6B85"/>
                </a:solidFill>
                <a:latin typeface="Segoe UI"/>
              </a:rPr>
              <a:t>hardware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8" name="TextBox 1128"/>
          <p:cNvSpPr/>
          <p:nvPr/>
        </p:nvSpPr>
        <p:spPr>
          <a:xfrm>
            <a:off x="26564400" y="25452000"/>
            <a:ext cx="2055240" cy="21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1" strike="noStrike" spc="-1">
                <a:solidFill>
                  <a:srgbClr val="5B6B85"/>
                </a:solidFill>
                <a:latin typeface="Segoe UI"/>
              </a:rPr>
              <a:t>price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TextBox 1129"/>
          <p:cNvSpPr/>
          <p:nvPr/>
        </p:nvSpPr>
        <p:spPr>
          <a:xfrm>
            <a:off x="28620000" y="25452000"/>
            <a:ext cx="539640" cy="21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t">
            <a:noAutofit/>
          </a:bodyPr>
          <a:lstStyle/>
          <a:p>
            <a:pPr algn="r" defTabSz="457200">
              <a:lnSpc>
                <a:spcPct val="112000"/>
              </a:lnSpc>
            </a:pPr>
            <a:r>
              <a:rPr lang="en-US" sz="900" b="1" strike="noStrike" spc="-1">
                <a:solidFill>
                  <a:srgbClr val="5B6B85"/>
                </a:solidFill>
                <a:latin typeface="Palatino Linotype"/>
              </a:rPr>
              <a:t>D5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80" name="Connector 1130"/>
          <p:cNvCxnSpPr/>
          <p:nvPr/>
        </p:nvCxnSpPr>
        <p:spPr>
          <a:xfrm>
            <a:off x="20437200" y="25668000"/>
            <a:ext cx="8723160" cy="360"/>
          </a:xfrm>
          <a:prstGeom prst="straightConnector1">
            <a:avLst/>
          </a:prstGeom>
          <a:ln w="6350">
            <a:solidFill>
              <a:srgbClr val="CBD6E4"/>
            </a:solidFill>
            <a:round/>
          </a:ln>
        </p:spPr>
      </p:cxnSp>
      <p:sp>
        <p:nvSpPr>
          <p:cNvPr id="981" name="TextBox 1131"/>
          <p:cNvSpPr/>
          <p:nvPr/>
        </p:nvSpPr>
        <p:spPr>
          <a:xfrm>
            <a:off x="20437200" y="25689600"/>
            <a:ext cx="1979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000" b="1" strike="noStrike" spc="-1">
                <a:solidFill>
                  <a:srgbClr val="14213D"/>
                </a:solidFill>
                <a:latin typeface="Segoe UI"/>
              </a:rPr>
              <a:t>Kraken 19th-c. Kurrent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Rectangle 1132"/>
          <p:cNvSpPr/>
          <p:nvPr/>
        </p:nvSpPr>
        <p:spPr>
          <a:xfrm>
            <a:off x="22453200" y="25750800"/>
            <a:ext cx="719640" cy="114840"/>
          </a:xfrm>
          <a:prstGeom prst="rect">
            <a:avLst/>
          </a:prstGeom>
          <a:solidFill>
            <a:srgbClr val="E3EB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3" name="Rectangle 1133"/>
          <p:cNvSpPr/>
          <p:nvPr/>
        </p:nvSpPr>
        <p:spPr>
          <a:xfrm>
            <a:off x="22453200" y="25750800"/>
            <a:ext cx="674280" cy="114840"/>
          </a:xfrm>
          <a:prstGeom prst="rect">
            <a:avLst/>
          </a:prstGeom>
          <a:solidFill>
            <a:srgbClr val="7B61C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4" name="TextBox 1134"/>
          <p:cNvSpPr/>
          <p:nvPr/>
        </p:nvSpPr>
        <p:spPr>
          <a:xfrm>
            <a:off x="23216400" y="25689600"/>
            <a:ext cx="128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Bahnschrift"/>
              </a:rPr>
              <a:t>1.3 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Rectangle 1135"/>
          <p:cNvSpPr/>
          <p:nvPr/>
        </p:nvSpPr>
        <p:spPr>
          <a:xfrm>
            <a:off x="24508800" y="25750800"/>
            <a:ext cx="719640" cy="114840"/>
          </a:xfrm>
          <a:prstGeom prst="rect">
            <a:avLst/>
          </a:prstGeom>
          <a:solidFill>
            <a:srgbClr val="E3EB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6" name="Rectangle 1136"/>
          <p:cNvSpPr/>
          <p:nvPr/>
        </p:nvSpPr>
        <p:spPr>
          <a:xfrm>
            <a:off x="24508800" y="25750800"/>
            <a:ext cx="719640" cy="114840"/>
          </a:xfrm>
          <a:prstGeom prst="rect">
            <a:avLst/>
          </a:prstGeom>
          <a:solidFill>
            <a:srgbClr val="7B61C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7" name="TextBox 1137"/>
          <p:cNvSpPr/>
          <p:nvPr/>
        </p:nvSpPr>
        <p:spPr>
          <a:xfrm>
            <a:off x="25272000" y="25689600"/>
            <a:ext cx="128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Bahnschrift"/>
              </a:rPr>
              <a:t>laptop CPU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Rectangle 1138"/>
          <p:cNvSpPr/>
          <p:nvPr/>
        </p:nvSpPr>
        <p:spPr>
          <a:xfrm>
            <a:off x="26564400" y="25750800"/>
            <a:ext cx="719640" cy="114840"/>
          </a:xfrm>
          <a:prstGeom prst="rect">
            <a:avLst/>
          </a:prstGeom>
          <a:solidFill>
            <a:srgbClr val="E3EB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9" name="Rectangle 1139"/>
          <p:cNvSpPr/>
          <p:nvPr/>
        </p:nvSpPr>
        <p:spPr>
          <a:xfrm>
            <a:off x="26564400" y="25750800"/>
            <a:ext cx="719640" cy="114840"/>
          </a:xfrm>
          <a:prstGeom prst="rect">
            <a:avLst/>
          </a:prstGeom>
          <a:solidFill>
            <a:srgbClr val="7B61C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0" name="TextBox 1140"/>
          <p:cNvSpPr/>
          <p:nvPr/>
        </p:nvSpPr>
        <p:spPr>
          <a:xfrm>
            <a:off x="27327600" y="25689600"/>
            <a:ext cx="128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Bahnschrift"/>
              </a:rPr>
              <a:t>&lt; 0.1 ¢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TextBox 1141"/>
          <p:cNvSpPr/>
          <p:nvPr/>
        </p:nvSpPr>
        <p:spPr>
          <a:xfrm>
            <a:off x="28620000" y="25689600"/>
            <a:ext cx="539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algn="r" defTabSz="457200">
              <a:lnSpc>
                <a:spcPct val="112000"/>
              </a:lnSpc>
            </a:pPr>
            <a:r>
              <a:rPr lang="en-US" sz="1150" b="1" strike="noStrike" spc="-1">
                <a:solidFill>
                  <a:srgbClr val="14213D"/>
                </a:solidFill>
                <a:latin typeface="Bahnschrift"/>
              </a:rPr>
              <a:t>0.97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TextBox 1142"/>
          <p:cNvSpPr/>
          <p:nvPr/>
        </p:nvSpPr>
        <p:spPr>
          <a:xfrm>
            <a:off x="20437200" y="25927200"/>
            <a:ext cx="1979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000" b="1" strike="noStrike" spc="-1">
                <a:solidFill>
                  <a:srgbClr val="14213D"/>
                </a:solidFill>
                <a:latin typeface="Segoe UI"/>
              </a:rPr>
              <a:t>TrOCR Kurrent XVI–XVII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Rectangle 1143"/>
          <p:cNvSpPr/>
          <p:nvPr/>
        </p:nvSpPr>
        <p:spPr>
          <a:xfrm>
            <a:off x="22453200" y="25988400"/>
            <a:ext cx="719640" cy="114840"/>
          </a:xfrm>
          <a:prstGeom prst="rect">
            <a:avLst/>
          </a:prstGeom>
          <a:solidFill>
            <a:srgbClr val="E3EB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4" name="Rectangle 1144"/>
          <p:cNvSpPr/>
          <p:nvPr/>
        </p:nvSpPr>
        <p:spPr>
          <a:xfrm>
            <a:off x="22453200" y="25988400"/>
            <a:ext cx="495000" cy="114840"/>
          </a:xfrm>
          <a:prstGeom prst="rect">
            <a:avLst/>
          </a:prstGeom>
          <a:solidFill>
            <a:srgbClr val="63B7B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5" name="TextBox 1145"/>
          <p:cNvSpPr/>
          <p:nvPr/>
        </p:nvSpPr>
        <p:spPr>
          <a:xfrm>
            <a:off x="23216400" y="25927200"/>
            <a:ext cx="128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Bahnschrift"/>
              </a:rPr>
              <a:t>4.2 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Rectangle 1146"/>
          <p:cNvSpPr/>
          <p:nvPr/>
        </p:nvSpPr>
        <p:spPr>
          <a:xfrm>
            <a:off x="24508800" y="25988400"/>
            <a:ext cx="719640" cy="114840"/>
          </a:xfrm>
          <a:prstGeom prst="rect">
            <a:avLst/>
          </a:prstGeom>
          <a:solidFill>
            <a:srgbClr val="E3EB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7" name="Rectangle 1147"/>
          <p:cNvSpPr/>
          <p:nvPr/>
        </p:nvSpPr>
        <p:spPr>
          <a:xfrm>
            <a:off x="24508800" y="25988400"/>
            <a:ext cx="575640" cy="114840"/>
          </a:xfrm>
          <a:prstGeom prst="rect">
            <a:avLst/>
          </a:prstGeom>
          <a:solidFill>
            <a:srgbClr val="63B7B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8" name="TextBox 1148"/>
          <p:cNvSpPr/>
          <p:nvPr/>
        </p:nvSpPr>
        <p:spPr>
          <a:xfrm>
            <a:off x="25272000" y="25927200"/>
            <a:ext cx="128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Bahnschrift"/>
              </a:rPr>
              <a:t>GPU 8 GB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Rectangle 1149"/>
          <p:cNvSpPr/>
          <p:nvPr/>
        </p:nvSpPr>
        <p:spPr>
          <a:xfrm>
            <a:off x="26564400" y="25988400"/>
            <a:ext cx="719640" cy="114840"/>
          </a:xfrm>
          <a:prstGeom prst="rect">
            <a:avLst/>
          </a:prstGeom>
          <a:solidFill>
            <a:srgbClr val="E3EB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0" name="Rectangle 1150"/>
          <p:cNvSpPr/>
          <p:nvPr/>
        </p:nvSpPr>
        <p:spPr>
          <a:xfrm>
            <a:off x="26564400" y="25988400"/>
            <a:ext cx="719640" cy="114840"/>
          </a:xfrm>
          <a:prstGeom prst="rect">
            <a:avLst/>
          </a:prstGeom>
          <a:solidFill>
            <a:srgbClr val="63B7B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1" name="TextBox 1151"/>
          <p:cNvSpPr/>
          <p:nvPr/>
        </p:nvSpPr>
        <p:spPr>
          <a:xfrm>
            <a:off x="27327600" y="25927200"/>
            <a:ext cx="128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Bahnschrift"/>
              </a:rPr>
              <a:t>&lt; 0.1 ¢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" name="TextBox 1152"/>
          <p:cNvSpPr/>
          <p:nvPr/>
        </p:nvSpPr>
        <p:spPr>
          <a:xfrm>
            <a:off x="28620000" y="25927200"/>
            <a:ext cx="539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algn="r" defTabSz="457200">
              <a:lnSpc>
                <a:spcPct val="112000"/>
              </a:lnSpc>
            </a:pPr>
            <a:r>
              <a:rPr lang="en-US" sz="1150" b="1" strike="noStrike" spc="-1">
                <a:solidFill>
                  <a:srgbClr val="14213D"/>
                </a:solidFill>
                <a:latin typeface="Bahnschrift"/>
              </a:rPr>
              <a:t>0.79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TextBox 1153"/>
          <p:cNvSpPr/>
          <p:nvPr/>
        </p:nvSpPr>
        <p:spPr>
          <a:xfrm>
            <a:off x="20437200" y="26164800"/>
            <a:ext cx="1979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000" b="1" strike="noStrike" spc="-1">
                <a:solidFill>
                  <a:srgbClr val="14213D"/>
                </a:solidFill>
                <a:latin typeface="Segoe UI"/>
              </a:rPr>
              <a:t>PaddleOCR-VL 1.6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Rectangle 1154"/>
          <p:cNvSpPr/>
          <p:nvPr/>
        </p:nvSpPr>
        <p:spPr>
          <a:xfrm>
            <a:off x="22453200" y="26226000"/>
            <a:ext cx="719640" cy="114840"/>
          </a:xfrm>
          <a:prstGeom prst="rect">
            <a:avLst/>
          </a:prstGeom>
          <a:solidFill>
            <a:srgbClr val="E3EB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5" name="Rectangle 1155"/>
          <p:cNvSpPr/>
          <p:nvPr/>
        </p:nvSpPr>
        <p:spPr>
          <a:xfrm>
            <a:off x="22453200" y="26226000"/>
            <a:ext cx="322200" cy="114840"/>
          </a:xfrm>
          <a:prstGeom prst="rect">
            <a:avLst/>
          </a:prstGeom>
          <a:solidFill>
            <a:srgbClr val="A6A6C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6" name="TextBox 1156"/>
          <p:cNvSpPr/>
          <p:nvPr/>
        </p:nvSpPr>
        <p:spPr>
          <a:xfrm>
            <a:off x="23216400" y="26164800"/>
            <a:ext cx="128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Bahnschrift"/>
              </a:rPr>
              <a:t>12.7 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Rectangle 1157"/>
          <p:cNvSpPr/>
          <p:nvPr/>
        </p:nvSpPr>
        <p:spPr>
          <a:xfrm>
            <a:off x="24508800" y="26226000"/>
            <a:ext cx="719640" cy="114840"/>
          </a:xfrm>
          <a:prstGeom prst="rect">
            <a:avLst/>
          </a:prstGeom>
          <a:solidFill>
            <a:srgbClr val="E3EB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8" name="Rectangle 1158"/>
          <p:cNvSpPr/>
          <p:nvPr/>
        </p:nvSpPr>
        <p:spPr>
          <a:xfrm>
            <a:off x="24508800" y="26226000"/>
            <a:ext cx="575640" cy="114840"/>
          </a:xfrm>
          <a:prstGeom prst="rect">
            <a:avLst/>
          </a:prstGeom>
          <a:solidFill>
            <a:srgbClr val="A6A6C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9" name="TextBox 1159"/>
          <p:cNvSpPr/>
          <p:nvPr/>
        </p:nvSpPr>
        <p:spPr>
          <a:xfrm>
            <a:off x="25272000" y="26164800"/>
            <a:ext cx="128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Bahnschrift"/>
              </a:rPr>
              <a:t>GPU 8 GB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0" name="Rectangle 1160"/>
          <p:cNvSpPr/>
          <p:nvPr/>
        </p:nvSpPr>
        <p:spPr>
          <a:xfrm>
            <a:off x="26564400" y="26226000"/>
            <a:ext cx="719640" cy="114840"/>
          </a:xfrm>
          <a:prstGeom prst="rect">
            <a:avLst/>
          </a:prstGeom>
          <a:solidFill>
            <a:srgbClr val="E3EB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1" name="Rectangle 1161"/>
          <p:cNvSpPr/>
          <p:nvPr/>
        </p:nvSpPr>
        <p:spPr>
          <a:xfrm>
            <a:off x="26564400" y="26226000"/>
            <a:ext cx="719640" cy="114840"/>
          </a:xfrm>
          <a:prstGeom prst="rect">
            <a:avLst/>
          </a:prstGeom>
          <a:solidFill>
            <a:srgbClr val="A6A6C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2" name="TextBox 1162"/>
          <p:cNvSpPr/>
          <p:nvPr/>
        </p:nvSpPr>
        <p:spPr>
          <a:xfrm>
            <a:off x="27327600" y="26164800"/>
            <a:ext cx="128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Bahnschrift"/>
              </a:rPr>
              <a:t>&lt; 0.1 ¢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3" name="TextBox 1163"/>
          <p:cNvSpPr/>
          <p:nvPr/>
        </p:nvSpPr>
        <p:spPr>
          <a:xfrm>
            <a:off x="28620000" y="26164800"/>
            <a:ext cx="539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algn="r" defTabSz="457200">
              <a:lnSpc>
                <a:spcPct val="112000"/>
              </a:lnSpc>
            </a:pPr>
            <a:r>
              <a:rPr lang="en-US" sz="1150" b="1" strike="noStrike" spc="-1">
                <a:solidFill>
                  <a:srgbClr val="14213D"/>
                </a:solidFill>
                <a:latin typeface="Bahnschrift"/>
              </a:rPr>
              <a:t>0.67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4" name="TextBox 1164"/>
          <p:cNvSpPr/>
          <p:nvPr/>
        </p:nvSpPr>
        <p:spPr>
          <a:xfrm>
            <a:off x="20437200" y="26402400"/>
            <a:ext cx="1979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000" b="1" strike="noStrike" spc="-1">
                <a:solidFill>
                  <a:srgbClr val="14213D"/>
                </a:solidFill>
                <a:latin typeface="Segoe UI"/>
              </a:rPr>
              <a:t>olmOCR-2 7B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Rectangle 1165"/>
          <p:cNvSpPr/>
          <p:nvPr/>
        </p:nvSpPr>
        <p:spPr>
          <a:xfrm>
            <a:off x="22453200" y="26463600"/>
            <a:ext cx="719640" cy="114840"/>
          </a:xfrm>
          <a:prstGeom prst="rect">
            <a:avLst/>
          </a:prstGeom>
          <a:solidFill>
            <a:srgbClr val="E3EB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6" name="Rectangle 1166"/>
          <p:cNvSpPr/>
          <p:nvPr/>
        </p:nvSpPr>
        <p:spPr>
          <a:xfrm>
            <a:off x="22453200" y="26463600"/>
            <a:ext cx="315360" cy="114840"/>
          </a:xfrm>
          <a:prstGeom prst="rect">
            <a:avLst/>
          </a:prstGeom>
          <a:solidFill>
            <a:srgbClr val="5C7A9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7" name="TextBox 1167"/>
          <p:cNvSpPr/>
          <p:nvPr/>
        </p:nvSpPr>
        <p:spPr>
          <a:xfrm>
            <a:off x="23216400" y="26402400"/>
            <a:ext cx="128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Bahnschrift"/>
              </a:rPr>
              <a:t>13.3 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Rectangle 1168"/>
          <p:cNvSpPr/>
          <p:nvPr/>
        </p:nvSpPr>
        <p:spPr>
          <a:xfrm>
            <a:off x="24508800" y="26463600"/>
            <a:ext cx="719640" cy="114840"/>
          </a:xfrm>
          <a:prstGeom prst="rect">
            <a:avLst/>
          </a:prstGeom>
          <a:solidFill>
            <a:srgbClr val="E3EB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9" name="Rectangle 1169"/>
          <p:cNvSpPr/>
          <p:nvPr/>
        </p:nvSpPr>
        <p:spPr>
          <a:xfrm>
            <a:off x="24508800" y="26463600"/>
            <a:ext cx="359640" cy="114840"/>
          </a:xfrm>
          <a:prstGeom prst="rect">
            <a:avLst/>
          </a:prstGeom>
          <a:solidFill>
            <a:srgbClr val="5C7A9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0" name="TextBox 1170"/>
          <p:cNvSpPr/>
          <p:nvPr/>
        </p:nvSpPr>
        <p:spPr>
          <a:xfrm>
            <a:off x="25272000" y="26402400"/>
            <a:ext cx="128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Bahnschrift"/>
              </a:rPr>
              <a:t>GPU 24 GB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1" name="Rectangle 1171"/>
          <p:cNvSpPr/>
          <p:nvPr/>
        </p:nvSpPr>
        <p:spPr>
          <a:xfrm>
            <a:off x="26564400" y="26463600"/>
            <a:ext cx="719640" cy="114840"/>
          </a:xfrm>
          <a:prstGeom prst="rect">
            <a:avLst/>
          </a:prstGeom>
          <a:solidFill>
            <a:srgbClr val="E3EB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2" name="Rectangle 1172"/>
          <p:cNvSpPr/>
          <p:nvPr/>
        </p:nvSpPr>
        <p:spPr>
          <a:xfrm>
            <a:off x="26564400" y="26463600"/>
            <a:ext cx="719640" cy="114840"/>
          </a:xfrm>
          <a:prstGeom prst="rect">
            <a:avLst/>
          </a:prstGeom>
          <a:solidFill>
            <a:srgbClr val="5C7A9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3" name="TextBox 1173"/>
          <p:cNvSpPr/>
          <p:nvPr/>
        </p:nvSpPr>
        <p:spPr>
          <a:xfrm>
            <a:off x="27327600" y="26402400"/>
            <a:ext cx="128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Bahnschrift"/>
              </a:rPr>
              <a:t>&lt; 0.1 ¢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TextBox 1174"/>
          <p:cNvSpPr/>
          <p:nvPr/>
        </p:nvSpPr>
        <p:spPr>
          <a:xfrm>
            <a:off x="28620000" y="26402400"/>
            <a:ext cx="539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algn="r" defTabSz="457200">
              <a:lnSpc>
                <a:spcPct val="112000"/>
              </a:lnSpc>
            </a:pPr>
            <a:r>
              <a:rPr lang="en-US" sz="1150" b="1" strike="noStrike" spc="-1">
                <a:solidFill>
                  <a:srgbClr val="14213D"/>
                </a:solidFill>
                <a:latin typeface="Bahnschrift"/>
              </a:rPr>
              <a:t>0.59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5" name="TextBox 1175"/>
          <p:cNvSpPr/>
          <p:nvPr/>
        </p:nvSpPr>
        <p:spPr>
          <a:xfrm>
            <a:off x="20437200" y="26640000"/>
            <a:ext cx="1979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000" b="1" strike="noStrike" spc="-1">
                <a:solidFill>
                  <a:srgbClr val="14213D"/>
                </a:solidFill>
                <a:latin typeface="Segoe UI"/>
              </a:rPr>
              <a:t>Gemini 3.5 Flash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6" name="Rectangle 1176"/>
          <p:cNvSpPr/>
          <p:nvPr/>
        </p:nvSpPr>
        <p:spPr>
          <a:xfrm>
            <a:off x="22453200" y="26701200"/>
            <a:ext cx="719640" cy="114840"/>
          </a:xfrm>
          <a:prstGeom prst="rect">
            <a:avLst/>
          </a:prstGeom>
          <a:solidFill>
            <a:srgbClr val="E3EB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7" name="Rectangle 1177"/>
          <p:cNvSpPr/>
          <p:nvPr/>
        </p:nvSpPr>
        <p:spPr>
          <a:xfrm>
            <a:off x="22453200" y="26701200"/>
            <a:ext cx="505080" cy="114840"/>
          </a:xfrm>
          <a:prstGeom prst="rect">
            <a:avLst/>
          </a:prstGeom>
          <a:solidFill>
            <a:srgbClr val="1F5FA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8" name="TextBox 1178"/>
          <p:cNvSpPr/>
          <p:nvPr/>
        </p:nvSpPr>
        <p:spPr>
          <a:xfrm>
            <a:off x="23216400" y="26640000"/>
            <a:ext cx="128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Bahnschrift"/>
              </a:rPr>
              <a:t>3.9 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Rectangle 1179"/>
          <p:cNvSpPr/>
          <p:nvPr/>
        </p:nvSpPr>
        <p:spPr>
          <a:xfrm>
            <a:off x="24508800" y="26701200"/>
            <a:ext cx="719640" cy="114840"/>
          </a:xfrm>
          <a:prstGeom prst="rect">
            <a:avLst/>
          </a:prstGeom>
          <a:solidFill>
            <a:srgbClr val="E3EB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0" name="Rectangle 1180"/>
          <p:cNvSpPr/>
          <p:nvPr/>
        </p:nvSpPr>
        <p:spPr>
          <a:xfrm>
            <a:off x="24508800" y="26701200"/>
            <a:ext cx="71640" cy="114840"/>
          </a:xfrm>
          <a:prstGeom prst="rect">
            <a:avLst/>
          </a:prstGeom>
          <a:solidFill>
            <a:srgbClr val="1F5FA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1" name="TextBox 1181"/>
          <p:cNvSpPr/>
          <p:nvPr/>
        </p:nvSpPr>
        <p:spPr>
          <a:xfrm>
            <a:off x="25272000" y="26640000"/>
            <a:ext cx="128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Bahnschrift"/>
              </a:rPr>
              <a:t>API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Rectangle 1182"/>
          <p:cNvSpPr/>
          <p:nvPr/>
        </p:nvSpPr>
        <p:spPr>
          <a:xfrm>
            <a:off x="26564400" y="26701200"/>
            <a:ext cx="719640" cy="114840"/>
          </a:xfrm>
          <a:prstGeom prst="rect">
            <a:avLst/>
          </a:prstGeom>
          <a:solidFill>
            <a:srgbClr val="E3EB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3" name="Rectangle 1183"/>
          <p:cNvSpPr/>
          <p:nvPr/>
        </p:nvSpPr>
        <p:spPr>
          <a:xfrm>
            <a:off x="26564400" y="26701200"/>
            <a:ext cx="529200" cy="114840"/>
          </a:xfrm>
          <a:prstGeom prst="rect">
            <a:avLst/>
          </a:prstGeom>
          <a:solidFill>
            <a:srgbClr val="1F5FA8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4" name="TextBox 1184"/>
          <p:cNvSpPr/>
          <p:nvPr/>
        </p:nvSpPr>
        <p:spPr>
          <a:xfrm>
            <a:off x="27327600" y="26640000"/>
            <a:ext cx="128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Bahnschrift"/>
              </a:rPr>
              <a:t>0.6 ¢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TextBox 1185"/>
          <p:cNvSpPr/>
          <p:nvPr/>
        </p:nvSpPr>
        <p:spPr>
          <a:xfrm>
            <a:off x="28620000" y="26640000"/>
            <a:ext cx="539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algn="r" defTabSz="457200">
              <a:lnSpc>
                <a:spcPct val="112000"/>
              </a:lnSpc>
            </a:pPr>
            <a:r>
              <a:rPr lang="en-US" sz="1150" b="1" strike="noStrike" spc="-1">
                <a:solidFill>
                  <a:srgbClr val="14213D"/>
                </a:solidFill>
                <a:latin typeface="Bahnschrift"/>
              </a:rPr>
              <a:t>0.56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TextBox 1186"/>
          <p:cNvSpPr/>
          <p:nvPr/>
        </p:nvSpPr>
        <p:spPr>
          <a:xfrm>
            <a:off x="20437200" y="26877600"/>
            <a:ext cx="1979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000" b="1" strike="noStrike" spc="-1">
                <a:solidFill>
                  <a:srgbClr val="14213D"/>
                </a:solidFill>
                <a:latin typeface="Segoe UI"/>
              </a:rPr>
              <a:t>Claude Sonnet 5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Rectangle 1187"/>
          <p:cNvSpPr/>
          <p:nvPr/>
        </p:nvSpPr>
        <p:spPr>
          <a:xfrm>
            <a:off x="22453200" y="26938800"/>
            <a:ext cx="719640" cy="114840"/>
          </a:xfrm>
          <a:prstGeom prst="rect">
            <a:avLst/>
          </a:prstGeom>
          <a:solidFill>
            <a:srgbClr val="E3EB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8" name="Rectangle 1188"/>
          <p:cNvSpPr/>
          <p:nvPr/>
        </p:nvSpPr>
        <p:spPr>
          <a:xfrm>
            <a:off x="22453200" y="26938800"/>
            <a:ext cx="305280" cy="114840"/>
          </a:xfrm>
          <a:prstGeom prst="rect">
            <a:avLst/>
          </a:prstGeom>
          <a:solidFill>
            <a:srgbClr val="6C93C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9" name="TextBox 1189"/>
          <p:cNvSpPr/>
          <p:nvPr/>
        </p:nvSpPr>
        <p:spPr>
          <a:xfrm>
            <a:off x="23216400" y="26877600"/>
            <a:ext cx="128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Bahnschrift"/>
              </a:rPr>
              <a:t>14.2 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Rectangle 1190"/>
          <p:cNvSpPr/>
          <p:nvPr/>
        </p:nvSpPr>
        <p:spPr>
          <a:xfrm>
            <a:off x="24508800" y="26938800"/>
            <a:ext cx="719640" cy="114840"/>
          </a:xfrm>
          <a:prstGeom prst="rect">
            <a:avLst/>
          </a:prstGeom>
          <a:solidFill>
            <a:srgbClr val="E3EB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1" name="Rectangle 1191"/>
          <p:cNvSpPr/>
          <p:nvPr/>
        </p:nvSpPr>
        <p:spPr>
          <a:xfrm>
            <a:off x="24508800" y="26938800"/>
            <a:ext cx="71640" cy="114840"/>
          </a:xfrm>
          <a:prstGeom prst="rect">
            <a:avLst/>
          </a:prstGeom>
          <a:solidFill>
            <a:srgbClr val="6C93C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2" name="TextBox 1192"/>
          <p:cNvSpPr/>
          <p:nvPr/>
        </p:nvSpPr>
        <p:spPr>
          <a:xfrm>
            <a:off x="25272000" y="26877600"/>
            <a:ext cx="128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Bahnschrift"/>
              </a:rPr>
              <a:t>API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" name="Rectangle 1193"/>
          <p:cNvSpPr/>
          <p:nvPr/>
        </p:nvSpPr>
        <p:spPr>
          <a:xfrm>
            <a:off x="26564400" y="26938800"/>
            <a:ext cx="719640" cy="114840"/>
          </a:xfrm>
          <a:prstGeom prst="rect">
            <a:avLst/>
          </a:prstGeom>
          <a:solidFill>
            <a:srgbClr val="E3EB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4" name="Rectangle 1194"/>
          <p:cNvSpPr/>
          <p:nvPr/>
        </p:nvSpPr>
        <p:spPr>
          <a:xfrm>
            <a:off x="26564400" y="26938800"/>
            <a:ext cx="436320" cy="114840"/>
          </a:xfrm>
          <a:prstGeom prst="rect">
            <a:avLst/>
          </a:prstGeom>
          <a:solidFill>
            <a:srgbClr val="6C93CF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5" name="TextBox 1195"/>
          <p:cNvSpPr/>
          <p:nvPr/>
        </p:nvSpPr>
        <p:spPr>
          <a:xfrm>
            <a:off x="27327600" y="26877600"/>
            <a:ext cx="128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Bahnschrift"/>
              </a:rPr>
              <a:t>1.5 ¢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6" name="TextBox 1196"/>
          <p:cNvSpPr/>
          <p:nvPr/>
        </p:nvSpPr>
        <p:spPr>
          <a:xfrm>
            <a:off x="28620000" y="26877600"/>
            <a:ext cx="539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algn="r" defTabSz="457200">
              <a:lnSpc>
                <a:spcPct val="112000"/>
              </a:lnSpc>
            </a:pPr>
            <a:r>
              <a:rPr lang="en-US" sz="1150" b="1" strike="noStrike" spc="-1">
                <a:solidFill>
                  <a:srgbClr val="14213D"/>
                </a:solidFill>
                <a:latin typeface="Bahnschrift"/>
              </a:rPr>
              <a:t>0.39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TextBox 1197"/>
          <p:cNvSpPr/>
          <p:nvPr/>
        </p:nvSpPr>
        <p:spPr>
          <a:xfrm>
            <a:off x="20437200" y="27115200"/>
            <a:ext cx="1979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000" b="1" strike="noStrike" spc="-1">
                <a:solidFill>
                  <a:srgbClr val="14213D"/>
                </a:solidFill>
                <a:latin typeface="Segoe UI"/>
              </a:rPr>
              <a:t>Transkribus German Genius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" name="Rectangle 1198"/>
          <p:cNvSpPr/>
          <p:nvPr/>
        </p:nvSpPr>
        <p:spPr>
          <a:xfrm>
            <a:off x="22453200" y="27176400"/>
            <a:ext cx="719640" cy="114840"/>
          </a:xfrm>
          <a:prstGeom prst="rect">
            <a:avLst/>
          </a:prstGeom>
          <a:solidFill>
            <a:srgbClr val="E3EB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9" name="Rectangle 1199"/>
          <p:cNvSpPr/>
          <p:nvPr/>
        </p:nvSpPr>
        <p:spPr>
          <a:xfrm>
            <a:off x="22453200" y="27176400"/>
            <a:ext cx="343800" cy="114840"/>
          </a:xfrm>
          <a:prstGeom prst="rect">
            <a:avLst/>
          </a:prstGeom>
          <a:solidFill>
            <a:srgbClr val="8BD0A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0" name="TextBox 1200"/>
          <p:cNvSpPr/>
          <p:nvPr/>
        </p:nvSpPr>
        <p:spPr>
          <a:xfrm>
            <a:off x="23216400" y="27115200"/>
            <a:ext cx="128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Bahnschrift"/>
              </a:rPr>
              <a:t>11.1 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Rectangle 1201"/>
          <p:cNvSpPr/>
          <p:nvPr/>
        </p:nvSpPr>
        <p:spPr>
          <a:xfrm>
            <a:off x="24508800" y="27176400"/>
            <a:ext cx="719640" cy="114840"/>
          </a:xfrm>
          <a:prstGeom prst="rect">
            <a:avLst/>
          </a:prstGeom>
          <a:solidFill>
            <a:srgbClr val="E3EB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2" name="Rectangle 1202"/>
          <p:cNvSpPr/>
          <p:nvPr/>
        </p:nvSpPr>
        <p:spPr>
          <a:xfrm>
            <a:off x="24508800" y="27176400"/>
            <a:ext cx="71640" cy="114840"/>
          </a:xfrm>
          <a:prstGeom prst="rect">
            <a:avLst/>
          </a:prstGeom>
          <a:solidFill>
            <a:srgbClr val="8BD0A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3" name="TextBox 1203"/>
          <p:cNvSpPr/>
          <p:nvPr/>
        </p:nvSpPr>
        <p:spPr>
          <a:xfrm>
            <a:off x="25272000" y="27115200"/>
            <a:ext cx="128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Bahnschrift"/>
              </a:rPr>
              <a:t>web app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4" name="Rectangle 1204"/>
          <p:cNvSpPr/>
          <p:nvPr/>
        </p:nvSpPr>
        <p:spPr>
          <a:xfrm>
            <a:off x="26564400" y="27176400"/>
            <a:ext cx="719640" cy="114840"/>
          </a:xfrm>
          <a:prstGeom prst="rect">
            <a:avLst/>
          </a:prstGeom>
          <a:solidFill>
            <a:srgbClr val="E3EB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5" name="Rectangle 1205"/>
          <p:cNvSpPr/>
          <p:nvPr/>
        </p:nvSpPr>
        <p:spPr>
          <a:xfrm>
            <a:off x="26564400" y="27176400"/>
            <a:ext cx="141120" cy="114840"/>
          </a:xfrm>
          <a:prstGeom prst="rect">
            <a:avLst/>
          </a:prstGeom>
          <a:solidFill>
            <a:srgbClr val="8BD0A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6" name="TextBox 1206"/>
          <p:cNvSpPr/>
          <p:nvPr/>
        </p:nvSpPr>
        <p:spPr>
          <a:xfrm>
            <a:off x="27327600" y="27115200"/>
            <a:ext cx="128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Bahnschrift"/>
              </a:rPr>
              <a:t>26 ¢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TextBox 1207"/>
          <p:cNvSpPr/>
          <p:nvPr/>
        </p:nvSpPr>
        <p:spPr>
          <a:xfrm>
            <a:off x="28620000" y="27115200"/>
            <a:ext cx="539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algn="r" defTabSz="457200">
              <a:lnSpc>
                <a:spcPct val="112000"/>
              </a:lnSpc>
            </a:pPr>
            <a:r>
              <a:rPr lang="en-US" sz="1150" b="1" strike="noStrike" spc="-1">
                <a:solidFill>
                  <a:srgbClr val="14213D"/>
                </a:solidFill>
                <a:latin typeface="Bahnschrift"/>
              </a:rPr>
              <a:t>0.31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" name="TextBox 1208"/>
          <p:cNvSpPr/>
          <p:nvPr/>
        </p:nvSpPr>
        <p:spPr>
          <a:xfrm>
            <a:off x="20437200" y="27352800"/>
            <a:ext cx="1979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000" b="1" strike="noStrike" spc="-1">
                <a:solidFill>
                  <a:srgbClr val="14213D"/>
                </a:solidFill>
                <a:latin typeface="Segoe UI"/>
              </a:rPr>
              <a:t>Transkribus Text Titan II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" name="Rectangle 1209"/>
          <p:cNvSpPr/>
          <p:nvPr/>
        </p:nvSpPr>
        <p:spPr>
          <a:xfrm>
            <a:off x="22453200" y="27414000"/>
            <a:ext cx="719640" cy="114840"/>
          </a:xfrm>
          <a:prstGeom prst="rect">
            <a:avLst/>
          </a:prstGeom>
          <a:solidFill>
            <a:srgbClr val="E3EB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0" name="Rectangle 1210"/>
          <p:cNvSpPr/>
          <p:nvPr/>
        </p:nvSpPr>
        <p:spPr>
          <a:xfrm>
            <a:off x="22453200" y="27414000"/>
            <a:ext cx="298440" cy="114840"/>
          </a:xfrm>
          <a:prstGeom prst="rect">
            <a:avLst/>
          </a:prstGeom>
          <a:solidFill>
            <a:srgbClr val="2E9E6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1" name="TextBox 1211"/>
          <p:cNvSpPr/>
          <p:nvPr/>
        </p:nvSpPr>
        <p:spPr>
          <a:xfrm>
            <a:off x="23216400" y="27352800"/>
            <a:ext cx="128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Bahnschrift"/>
              </a:rPr>
              <a:t>14.8 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2" name="Rectangle 1212"/>
          <p:cNvSpPr/>
          <p:nvPr/>
        </p:nvSpPr>
        <p:spPr>
          <a:xfrm>
            <a:off x="24508800" y="27414000"/>
            <a:ext cx="719640" cy="114840"/>
          </a:xfrm>
          <a:prstGeom prst="rect">
            <a:avLst/>
          </a:prstGeom>
          <a:solidFill>
            <a:srgbClr val="E3EB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3" name="Rectangle 1213"/>
          <p:cNvSpPr/>
          <p:nvPr/>
        </p:nvSpPr>
        <p:spPr>
          <a:xfrm>
            <a:off x="24508800" y="27414000"/>
            <a:ext cx="71640" cy="114840"/>
          </a:xfrm>
          <a:prstGeom prst="rect">
            <a:avLst/>
          </a:prstGeom>
          <a:solidFill>
            <a:srgbClr val="2E9E6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4" name="TextBox 1214"/>
          <p:cNvSpPr/>
          <p:nvPr/>
        </p:nvSpPr>
        <p:spPr>
          <a:xfrm>
            <a:off x="25272000" y="27352800"/>
            <a:ext cx="128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Bahnschrift"/>
              </a:rPr>
              <a:t>web app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Rectangle 1215"/>
          <p:cNvSpPr/>
          <p:nvPr/>
        </p:nvSpPr>
        <p:spPr>
          <a:xfrm>
            <a:off x="26564400" y="27414000"/>
            <a:ext cx="719640" cy="114840"/>
          </a:xfrm>
          <a:prstGeom prst="rect">
            <a:avLst/>
          </a:prstGeom>
          <a:solidFill>
            <a:srgbClr val="E3EBF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6" name="Rectangle 1216"/>
          <p:cNvSpPr/>
          <p:nvPr/>
        </p:nvSpPr>
        <p:spPr>
          <a:xfrm>
            <a:off x="26564400" y="27414000"/>
            <a:ext cx="141120" cy="114840"/>
          </a:xfrm>
          <a:prstGeom prst="rect">
            <a:avLst/>
          </a:prstGeom>
          <a:solidFill>
            <a:srgbClr val="2E9E6B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7" name="TextBox 1217"/>
          <p:cNvSpPr/>
          <p:nvPr/>
        </p:nvSpPr>
        <p:spPr>
          <a:xfrm>
            <a:off x="27327600" y="27352800"/>
            <a:ext cx="12812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3F4C63"/>
                </a:solidFill>
                <a:latin typeface="Bahnschrift"/>
              </a:rPr>
              <a:t>26 ¢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TextBox 1218"/>
          <p:cNvSpPr/>
          <p:nvPr/>
        </p:nvSpPr>
        <p:spPr>
          <a:xfrm>
            <a:off x="28620000" y="27352800"/>
            <a:ext cx="539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ctr">
            <a:noAutofit/>
          </a:bodyPr>
          <a:lstStyle/>
          <a:p>
            <a:pPr algn="r" defTabSz="457200">
              <a:lnSpc>
                <a:spcPct val="112000"/>
              </a:lnSpc>
            </a:pPr>
            <a:r>
              <a:rPr lang="en-US" sz="1150" b="1" strike="noStrike" spc="-1">
                <a:solidFill>
                  <a:srgbClr val="14213D"/>
                </a:solidFill>
                <a:latin typeface="Bahnschrift"/>
              </a:rPr>
              <a:t>0.28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69" name="Connector 1219"/>
          <p:cNvCxnSpPr/>
          <p:nvPr/>
        </p:nvCxnSpPr>
        <p:spPr>
          <a:xfrm>
            <a:off x="20545200" y="28022400"/>
            <a:ext cx="8507160" cy="360"/>
          </a:xfrm>
          <a:prstGeom prst="straightConnector1">
            <a:avLst/>
          </a:prstGeom>
          <a:ln w="12700">
            <a:solidFill>
              <a:srgbClr val="A9B7C9"/>
            </a:solidFill>
            <a:round/>
          </a:ln>
        </p:spPr>
      </p:cxnSp>
      <p:cxnSp>
        <p:nvCxnSpPr>
          <p:cNvPr id="1070" name="Connector 1220"/>
          <p:cNvCxnSpPr/>
          <p:nvPr/>
        </p:nvCxnSpPr>
        <p:spPr>
          <a:xfrm>
            <a:off x="20545200" y="27968400"/>
            <a:ext cx="360" cy="108360"/>
          </a:xfrm>
          <a:prstGeom prst="straightConnector1">
            <a:avLst/>
          </a:prstGeom>
          <a:ln w="9525">
            <a:solidFill>
              <a:srgbClr val="A9B7C9"/>
            </a:solidFill>
            <a:round/>
          </a:ln>
        </p:spPr>
      </p:cxnSp>
      <p:sp>
        <p:nvSpPr>
          <p:cNvPr id="1071" name="TextBox 1221"/>
          <p:cNvSpPr/>
          <p:nvPr/>
        </p:nvSpPr>
        <p:spPr>
          <a:xfrm>
            <a:off x="20329200" y="28094400"/>
            <a:ext cx="431640" cy="1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t">
            <a:noAutofit/>
          </a:bodyPr>
          <a:lstStyle/>
          <a:p>
            <a:pPr algn="ctr"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5B6B85"/>
                </a:solidFill>
                <a:latin typeface="Segoe UI"/>
              </a:rPr>
              <a:t>0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72" name="Connector 1222"/>
          <p:cNvCxnSpPr/>
          <p:nvPr/>
        </p:nvCxnSpPr>
        <p:spPr>
          <a:xfrm>
            <a:off x="24798600" y="27968400"/>
            <a:ext cx="360" cy="108360"/>
          </a:xfrm>
          <a:prstGeom prst="straightConnector1">
            <a:avLst/>
          </a:prstGeom>
          <a:ln w="9525">
            <a:solidFill>
              <a:srgbClr val="A9B7C9"/>
            </a:solidFill>
            <a:round/>
          </a:ln>
        </p:spPr>
      </p:cxnSp>
      <p:sp>
        <p:nvSpPr>
          <p:cNvPr id="1073" name="TextBox 1223"/>
          <p:cNvSpPr/>
          <p:nvPr/>
        </p:nvSpPr>
        <p:spPr>
          <a:xfrm>
            <a:off x="24582600" y="28094400"/>
            <a:ext cx="431640" cy="1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t">
            <a:noAutofit/>
          </a:bodyPr>
          <a:lstStyle/>
          <a:p>
            <a:pPr algn="ctr"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5B6B85"/>
                </a:solidFill>
                <a:latin typeface="Segoe UI"/>
              </a:rPr>
              <a:t>.5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74" name="Connector 1224"/>
          <p:cNvCxnSpPr/>
          <p:nvPr/>
        </p:nvCxnSpPr>
        <p:spPr>
          <a:xfrm>
            <a:off x="29052000" y="27968400"/>
            <a:ext cx="360" cy="108360"/>
          </a:xfrm>
          <a:prstGeom prst="straightConnector1">
            <a:avLst/>
          </a:prstGeom>
          <a:ln w="9525">
            <a:solidFill>
              <a:srgbClr val="A9B7C9"/>
            </a:solidFill>
            <a:round/>
          </a:ln>
        </p:spPr>
      </p:cxnSp>
      <p:sp>
        <p:nvSpPr>
          <p:cNvPr id="1075" name="TextBox 1225"/>
          <p:cNvSpPr/>
          <p:nvPr/>
        </p:nvSpPr>
        <p:spPr>
          <a:xfrm>
            <a:off x="28836000" y="28094400"/>
            <a:ext cx="431640" cy="1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28800" rIns="0" bIns="28800" anchor="t">
            <a:noAutofit/>
          </a:bodyPr>
          <a:lstStyle/>
          <a:p>
            <a:pPr algn="ctr" defTabSz="457200">
              <a:lnSpc>
                <a:spcPct val="112000"/>
              </a:lnSpc>
            </a:pPr>
            <a:r>
              <a:rPr lang="en-US" sz="900" b="0" strike="noStrike" spc="-1">
                <a:solidFill>
                  <a:srgbClr val="5B6B85"/>
                </a:solidFill>
                <a:latin typeface="Segoe UI"/>
              </a:rPr>
              <a:t>1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6" name="Oval 1226"/>
          <p:cNvSpPr/>
          <p:nvPr/>
        </p:nvSpPr>
        <p:spPr>
          <a:xfrm>
            <a:off x="22842000" y="27923400"/>
            <a:ext cx="197640" cy="197640"/>
          </a:xfrm>
          <a:prstGeom prst="ellipse">
            <a:avLst/>
          </a:prstGeom>
          <a:solidFill>
            <a:srgbClr val="2E9E6B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7" name="Oval 1227"/>
          <p:cNvSpPr/>
          <p:nvPr/>
        </p:nvSpPr>
        <p:spPr>
          <a:xfrm>
            <a:off x="23110200" y="27923400"/>
            <a:ext cx="197640" cy="197640"/>
          </a:xfrm>
          <a:prstGeom prst="ellipse">
            <a:avLst/>
          </a:prstGeom>
          <a:solidFill>
            <a:srgbClr val="8BD0AE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8" name="Oval 1228"/>
          <p:cNvSpPr/>
          <p:nvPr/>
        </p:nvSpPr>
        <p:spPr>
          <a:xfrm>
            <a:off x="23753880" y="27923400"/>
            <a:ext cx="197640" cy="197640"/>
          </a:xfrm>
          <a:prstGeom prst="ellipse">
            <a:avLst/>
          </a:prstGeom>
          <a:solidFill>
            <a:srgbClr val="6C93CF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9" name="Oval 1229"/>
          <p:cNvSpPr/>
          <p:nvPr/>
        </p:nvSpPr>
        <p:spPr>
          <a:xfrm>
            <a:off x="25209720" y="27923400"/>
            <a:ext cx="197640" cy="197640"/>
          </a:xfrm>
          <a:prstGeom prst="ellipse">
            <a:avLst/>
          </a:prstGeom>
          <a:solidFill>
            <a:srgbClr val="1F5FA8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0" name="Oval 1230"/>
          <p:cNvSpPr/>
          <p:nvPr/>
        </p:nvSpPr>
        <p:spPr>
          <a:xfrm>
            <a:off x="25500600" y="27923400"/>
            <a:ext cx="197640" cy="197640"/>
          </a:xfrm>
          <a:prstGeom prst="ellipse">
            <a:avLst/>
          </a:prstGeom>
          <a:solidFill>
            <a:srgbClr val="5C7A99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1" name="Oval 1231"/>
          <p:cNvSpPr/>
          <p:nvPr/>
        </p:nvSpPr>
        <p:spPr>
          <a:xfrm>
            <a:off x="26178840" y="27923400"/>
            <a:ext cx="197640" cy="197640"/>
          </a:xfrm>
          <a:prstGeom prst="ellipse">
            <a:avLst/>
          </a:prstGeom>
          <a:solidFill>
            <a:srgbClr val="A6A6C8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2" name="Oval 1232"/>
          <p:cNvSpPr/>
          <p:nvPr/>
        </p:nvSpPr>
        <p:spPr>
          <a:xfrm>
            <a:off x="27199800" y="27923400"/>
            <a:ext cx="197640" cy="197640"/>
          </a:xfrm>
          <a:prstGeom prst="ellipse">
            <a:avLst/>
          </a:prstGeom>
          <a:solidFill>
            <a:srgbClr val="63B7B9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3" name="Oval 1233"/>
          <p:cNvSpPr/>
          <p:nvPr/>
        </p:nvSpPr>
        <p:spPr>
          <a:xfrm>
            <a:off x="28684440" y="27923400"/>
            <a:ext cx="197640" cy="197640"/>
          </a:xfrm>
          <a:prstGeom prst="ellipse">
            <a:avLst/>
          </a:prstGeom>
          <a:solidFill>
            <a:srgbClr val="7B61C4"/>
          </a:solidFill>
          <a:ln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4" name="TextBox 1234"/>
          <p:cNvSpPr/>
          <p:nvPr/>
        </p:nvSpPr>
        <p:spPr>
          <a:xfrm>
            <a:off x="20437200" y="28274400"/>
            <a:ext cx="8722440" cy="23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28800" rIns="10800" bIns="28800" anchor="t">
            <a:noAutofit/>
          </a:bodyPr>
          <a:lstStyle/>
          <a:p>
            <a:pPr defTabSz="457200">
              <a:lnSpc>
                <a:spcPct val="112000"/>
              </a:lnSpc>
            </a:pPr>
            <a:r>
              <a:rPr lang="en-US" sz="1100" b="1" strike="noStrike" spc="-1">
                <a:solidFill>
                  <a:srgbClr val="7B61C4"/>
                </a:solidFill>
                <a:latin typeface="Segoe UI"/>
              </a:rPr>
              <a:t>▲ </a:t>
            </a:r>
            <a:r>
              <a:rPr lang="en-US" sz="1100" b="0" strike="noStrike" spc="-1">
                <a:solidFill>
                  <a:srgbClr val="5B6B85"/>
                </a:solidFill>
                <a:latin typeface="Segoe UI"/>
              </a:rPr>
              <a:t>Kraken 19th-c. Kurrent 0.97</a:t>
            </a:r>
            <a:r>
              <a:rPr lang="en-US" sz="1100" b="1" strike="noStrike" spc="-1">
                <a:solidFill>
                  <a:srgbClr val="2E9E6B"/>
                </a:solidFill>
                <a:latin typeface="Segoe UI"/>
              </a:rPr>
              <a:t>    ▼ </a:t>
            </a:r>
            <a:r>
              <a:rPr lang="en-US" sz="1100" b="0" strike="noStrike" spc="-1">
                <a:solidFill>
                  <a:srgbClr val="5B6B85"/>
                </a:solidFill>
                <a:latin typeface="Segoe UI"/>
              </a:rPr>
              <a:t>Transkribus Text Titan II 0.28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1" name="TextBox 1150"/>
          <p:cNvSpPr txBox="1"/>
          <p:nvPr/>
        </p:nvSpPr>
        <p:spPr>
          <a:xfrm>
            <a:off x="12096000" y="3456000"/>
            <a:ext cx="17316000" cy="504000"/>
          </a:xfrm>
          <a:prstGeom prst="rect">
            <a:avLst/>
          </a:prstGeom>
          <a:noFill/>
        </p:spPr>
        <p:txBody>
          <a:bodyPr wrap="square" lIns="43200" tIns="28800" rIns="43200" bIns="2880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Palatino Linotype"/>
              </a:rPr>
              <a:t>Which system, for which need?</a:t>
            </a:r>
          </a:p>
        </p:txBody>
      </p:sp>
      <p:sp>
        <p:nvSpPr>
          <p:cNvPr id="1152" name="TextBox 1151"/>
          <p:cNvSpPr txBox="1"/>
          <p:nvPr/>
        </p:nvSpPr>
        <p:spPr>
          <a:xfrm>
            <a:off x="12096000" y="3960000"/>
            <a:ext cx="17316000" cy="324000"/>
          </a:xfrm>
          <a:prstGeom prst="rect">
            <a:avLst/>
          </a:prstGeom>
          <a:noFill/>
        </p:spPr>
        <p:txBody>
          <a:bodyPr wrap="square" lIns="43200" tIns="28800" rIns="43200" bIns="2880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0" i="0" dirty="0">
                <a:solidFill>
                  <a:srgbClr val="5B6B85"/>
                </a:solidFill>
                <a:latin typeface="Segoe UI"/>
              </a:rPr>
              <a:t>One score 0–1 per dimension; </a:t>
            </a:r>
            <a:r>
              <a:rPr lang="en-US" sz="1350" b="0" i="0" dirty="0">
                <a:solidFill>
                  <a:srgbClr val="5B6B85"/>
                </a:solidFill>
                <a:latin typeface="Segoe UI"/>
              </a:rPr>
              <a:t>orange</a:t>
            </a:r>
            <a:r>
              <a:rPr sz="1350" b="0" i="0" dirty="0">
                <a:solidFill>
                  <a:srgbClr val="5B6B85"/>
                </a:solidFill>
                <a:latin typeface="Segoe UI"/>
              </a:rPr>
              <a:t> = best</a:t>
            </a:r>
          </a:p>
        </p:txBody>
      </p:sp>
      <p:sp>
        <p:nvSpPr>
          <p:cNvPr id="1153" name="Oval 1152"/>
          <p:cNvSpPr/>
          <p:nvPr/>
        </p:nvSpPr>
        <p:spPr>
          <a:xfrm>
            <a:off x="16416000" y="4446000"/>
            <a:ext cx="216000" cy="21600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4" name="TextBox 1153"/>
          <p:cNvSpPr txBox="1"/>
          <p:nvPr/>
        </p:nvSpPr>
        <p:spPr>
          <a:xfrm>
            <a:off x="16668000" y="4374000"/>
            <a:ext cx="1309500" cy="864000"/>
          </a:xfrm>
          <a:prstGeom prst="rect">
            <a:avLst/>
          </a:prstGeom>
          <a:noFill/>
        </p:spPr>
        <p:txBody>
          <a:bodyPr wrap="square" lIns="18000" tIns="28800" rIns="18000" bIns="2880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Segoe UI"/>
              </a:rPr>
              <a:t>Gemini
3.5 Flash</a:t>
            </a:r>
          </a:p>
        </p:txBody>
      </p:sp>
      <p:sp>
        <p:nvSpPr>
          <p:cNvPr id="1155" name="Oval 1154"/>
          <p:cNvSpPr/>
          <p:nvPr/>
        </p:nvSpPr>
        <p:spPr>
          <a:xfrm>
            <a:off x="18049500" y="4446000"/>
            <a:ext cx="216000" cy="216000"/>
          </a:xfrm>
          <a:prstGeom prst="ellipse">
            <a:avLst/>
          </a:prstGeom>
          <a:solidFill>
            <a:srgbClr val="8BD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6" name="TextBox 1155"/>
          <p:cNvSpPr txBox="1"/>
          <p:nvPr/>
        </p:nvSpPr>
        <p:spPr>
          <a:xfrm>
            <a:off x="18301500" y="4374000"/>
            <a:ext cx="1309500" cy="864000"/>
          </a:xfrm>
          <a:prstGeom prst="rect">
            <a:avLst/>
          </a:prstGeom>
          <a:noFill/>
        </p:spPr>
        <p:txBody>
          <a:bodyPr wrap="square" lIns="18000" tIns="28800" rIns="18000" bIns="2880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Segoe UI"/>
              </a:rPr>
              <a:t>Transkribus
German Genius</a:t>
            </a:r>
          </a:p>
        </p:txBody>
      </p:sp>
      <p:sp>
        <p:nvSpPr>
          <p:cNvPr id="1157" name="Oval 1156"/>
          <p:cNvSpPr/>
          <p:nvPr/>
        </p:nvSpPr>
        <p:spPr>
          <a:xfrm>
            <a:off x="19683000" y="4446000"/>
            <a:ext cx="216000" cy="21600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8" name="TextBox 1157"/>
          <p:cNvSpPr txBox="1"/>
          <p:nvPr/>
        </p:nvSpPr>
        <p:spPr>
          <a:xfrm>
            <a:off x="19935000" y="4374000"/>
            <a:ext cx="1309500" cy="864000"/>
          </a:xfrm>
          <a:prstGeom prst="rect">
            <a:avLst/>
          </a:prstGeom>
          <a:noFill/>
        </p:spPr>
        <p:txBody>
          <a:bodyPr wrap="square" lIns="18000" tIns="28800" rIns="18000" bIns="2880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Segoe UI"/>
              </a:rPr>
              <a:t>Transkribus
Text Titan II</a:t>
            </a:r>
          </a:p>
        </p:txBody>
      </p:sp>
      <p:sp>
        <p:nvSpPr>
          <p:cNvPr id="1159" name="Oval 1158"/>
          <p:cNvSpPr/>
          <p:nvPr/>
        </p:nvSpPr>
        <p:spPr>
          <a:xfrm>
            <a:off x="21316500" y="4446000"/>
            <a:ext cx="216000" cy="216000"/>
          </a:xfrm>
          <a:prstGeom prst="ellipse">
            <a:avLst/>
          </a:prstGeom>
          <a:solidFill>
            <a:srgbClr val="6C9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0" name="TextBox 1159"/>
          <p:cNvSpPr txBox="1"/>
          <p:nvPr/>
        </p:nvSpPr>
        <p:spPr>
          <a:xfrm>
            <a:off x="21568500" y="4374000"/>
            <a:ext cx="1309500" cy="864000"/>
          </a:xfrm>
          <a:prstGeom prst="rect">
            <a:avLst/>
          </a:prstGeom>
          <a:noFill/>
        </p:spPr>
        <p:txBody>
          <a:bodyPr wrap="square" lIns="18000" tIns="28800" rIns="18000" bIns="2880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Segoe UI"/>
              </a:rPr>
              <a:t>Claude
Sonnet 5</a:t>
            </a:r>
          </a:p>
        </p:txBody>
      </p:sp>
      <p:sp>
        <p:nvSpPr>
          <p:cNvPr id="1161" name="Oval 1160"/>
          <p:cNvSpPr/>
          <p:nvPr/>
        </p:nvSpPr>
        <p:spPr>
          <a:xfrm>
            <a:off x="22950000" y="4446000"/>
            <a:ext cx="216000" cy="216000"/>
          </a:xfrm>
          <a:prstGeom prst="ellipse">
            <a:avLst/>
          </a:prstGeom>
          <a:solidFill>
            <a:srgbClr val="63B7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2" name="TextBox 1161"/>
          <p:cNvSpPr txBox="1"/>
          <p:nvPr/>
        </p:nvSpPr>
        <p:spPr>
          <a:xfrm>
            <a:off x="23202000" y="4374000"/>
            <a:ext cx="1309500" cy="864000"/>
          </a:xfrm>
          <a:prstGeom prst="rect">
            <a:avLst/>
          </a:prstGeom>
          <a:noFill/>
        </p:spPr>
        <p:txBody>
          <a:bodyPr wrap="square" lIns="18000" tIns="28800" rIns="18000" bIns="2880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Segoe UI"/>
              </a:rPr>
              <a:t>TrOCR
Kurrent XVI–XVII</a:t>
            </a:r>
          </a:p>
        </p:txBody>
      </p:sp>
      <p:sp>
        <p:nvSpPr>
          <p:cNvPr id="1163" name="Oval 1162"/>
          <p:cNvSpPr/>
          <p:nvPr/>
        </p:nvSpPr>
        <p:spPr>
          <a:xfrm>
            <a:off x="24583500" y="4446000"/>
            <a:ext cx="216000" cy="216000"/>
          </a:xfrm>
          <a:prstGeom prst="ellipse">
            <a:avLst/>
          </a:prstGeom>
          <a:solidFill>
            <a:srgbClr val="7B6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4" name="TextBox 1163"/>
          <p:cNvSpPr txBox="1"/>
          <p:nvPr/>
        </p:nvSpPr>
        <p:spPr>
          <a:xfrm>
            <a:off x="24835500" y="4374000"/>
            <a:ext cx="1309500" cy="864000"/>
          </a:xfrm>
          <a:prstGeom prst="rect">
            <a:avLst/>
          </a:prstGeom>
          <a:noFill/>
        </p:spPr>
        <p:txBody>
          <a:bodyPr wrap="square" lIns="18000" tIns="28800" rIns="18000" bIns="2880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Segoe UI"/>
              </a:rPr>
              <a:t>Kraken
19th-c. Kurrent</a:t>
            </a:r>
          </a:p>
        </p:txBody>
      </p:sp>
      <p:sp>
        <p:nvSpPr>
          <p:cNvPr id="1165" name="Oval 1164"/>
          <p:cNvSpPr/>
          <p:nvPr/>
        </p:nvSpPr>
        <p:spPr>
          <a:xfrm>
            <a:off x="26217000" y="4446000"/>
            <a:ext cx="216000" cy="216000"/>
          </a:xfrm>
          <a:prstGeom prst="ellipse">
            <a:avLst/>
          </a:prstGeom>
          <a:solidFill>
            <a:srgbClr val="5C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6" name="TextBox 1165"/>
          <p:cNvSpPr txBox="1"/>
          <p:nvPr/>
        </p:nvSpPr>
        <p:spPr>
          <a:xfrm>
            <a:off x="26469000" y="4374000"/>
            <a:ext cx="1309500" cy="864000"/>
          </a:xfrm>
          <a:prstGeom prst="rect">
            <a:avLst/>
          </a:prstGeom>
          <a:noFill/>
        </p:spPr>
        <p:txBody>
          <a:bodyPr wrap="square" lIns="18000" tIns="28800" rIns="18000" bIns="2880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Segoe UI"/>
              </a:rPr>
              <a:t>olmOCR-2
7B</a:t>
            </a:r>
          </a:p>
        </p:txBody>
      </p:sp>
      <p:sp>
        <p:nvSpPr>
          <p:cNvPr id="1167" name="Oval 1166"/>
          <p:cNvSpPr/>
          <p:nvPr/>
        </p:nvSpPr>
        <p:spPr>
          <a:xfrm>
            <a:off x="27850500" y="4446000"/>
            <a:ext cx="216000" cy="216000"/>
          </a:xfrm>
          <a:prstGeom prst="ellipse">
            <a:avLst/>
          </a:prstGeom>
          <a:solidFill>
            <a:srgbClr val="A6A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8" name="TextBox 1167"/>
          <p:cNvSpPr txBox="1"/>
          <p:nvPr/>
        </p:nvSpPr>
        <p:spPr>
          <a:xfrm>
            <a:off x="28102500" y="4374000"/>
            <a:ext cx="1309500" cy="864000"/>
          </a:xfrm>
          <a:prstGeom prst="rect">
            <a:avLst/>
          </a:prstGeom>
          <a:noFill/>
        </p:spPr>
        <p:txBody>
          <a:bodyPr wrap="square" lIns="18000" tIns="28800" rIns="18000" bIns="2880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Segoe UI"/>
              </a:rPr>
              <a:t>PaddleOCR-VL
1.6</a:t>
            </a:r>
          </a:p>
        </p:txBody>
      </p:sp>
      <p:sp>
        <p:nvSpPr>
          <p:cNvPr id="2" name="Freeform 1"/>
          <p:cNvSpPr/>
          <p:nvPr/>
        </p:nvSpPr>
        <p:spPr>
          <a:xfrm>
            <a:off x="13781452" y="5886000"/>
            <a:ext cx="445095" cy="423309"/>
          </a:xfrm>
          <a:custGeom>
            <a:avLst/>
            <a:gdLst/>
            <a:ahLst/>
            <a:cxnLst/>
            <a:rect l="l" t="t" r="r" b="b"/>
            <a:pathLst>
              <a:path w="445095" h="423309">
                <a:moveTo>
                  <a:pt x="222548" y="0"/>
                </a:moveTo>
                <a:lnTo>
                  <a:pt x="445095" y="161690"/>
                </a:lnTo>
                <a:lnTo>
                  <a:pt x="360089" y="423309"/>
                </a:lnTo>
                <a:lnTo>
                  <a:pt x="85006" y="423309"/>
                </a:lnTo>
                <a:lnTo>
                  <a:pt x="0" y="161690"/>
                </a:lnTo>
                <a:close/>
              </a:path>
            </a:pathLst>
          </a:custGeom>
          <a:noFill/>
          <a:ln w="762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reeform 2"/>
          <p:cNvSpPr/>
          <p:nvPr/>
        </p:nvSpPr>
        <p:spPr>
          <a:xfrm>
            <a:off x="13558905" y="5652000"/>
            <a:ext cx="890189" cy="846619"/>
          </a:xfrm>
          <a:custGeom>
            <a:avLst/>
            <a:gdLst/>
            <a:ahLst/>
            <a:cxnLst/>
            <a:rect l="l" t="t" r="r" b="b"/>
            <a:pathLst>
              <a:path w="890189" h="846619">
                <a:moveTo>
                  <a:pt x="445095" y="0"/>
                </a:moveTo>
                <a:lnTo>
                  <a:pt x="890189" y="323380"/>
                </a:lnTo>
                <a:lnTo>
                  <a:pt x="720178" y="846619"/>
                </a:lnTo>
                <a:lnTo>
                  <a:pt x="170011" y="846619"/>
                </a:lnTo>
                <a:lnTo>
                  <a:pt x="0" y="323380"/>
                </a:lnTo>
                <a:close/>
              </a:path>
            </a:pathLst>
          </a:custGeom>
          <a:noFill/>
          <a:ln w="762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69" name="Connector 1168"/>
          <p:cNvCxnSpPr/>
          <p:nvPr/>
        </p:nvCxnSpPr>
        <p:spPr>
          <a:xfrm flipV="1">
            <a:off x="14004000" y="5652000"/>
            <a:ext cx="0" cy="468000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0" name="Connector 1169"/>
          <p:cNvCxnSpPr/>
          <p:nvPr/>
        </p:nvCxnSpPr>
        <p:spPr>
          <a:xfrm flipV="1">
            <a:off x="14004000" y="5975380"/>
            <a:ext cx="445094" cy="144620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1" name="Connector 1170"/>
          <p:cNvCxnSpPr/>
          <p:nvPr/>
        </p:nvCxnSpPr>
        <p:spPr>
          <a:xfrm>
            <a:off x="14004000" y="6120000"/>
            <a:ext cx="275083" cy="378619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2" name="Connector 1171"/>
          <p:cNvCxnSpPr/>
          <p:nvPr/>
        </p:nvCxnSpPr>
        <p:spPr>
          <a:xfrm flipH="1">
            <a:off x="13728916" y="6120000"/>
            <a:ext cx="275084" cy="378619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3" name="Connector 1172"/>
          <p:cNvCxnSpPr/>
          <p:nvPr/>
        </p:nvCxnSpPr>
        <p:spPr>
          <a:xfrm flipH="1" flipV="1">
            <a:off x="13558905" y="5975380"/>
            <a:ext cx="445095" cy="144620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4" name="TextBox 1173"/>
          <p:cNvSpPr txBox="1"/>
          <p:nvPr/>
        </p:nvSpPr>
        <p:spPr>
          <a:xfrm>
            <a:off x="13788000" y="5361840"/>
            <a:ext cx="432000" cy="180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B6B85"/>
                </a:solidFill>
                <a:latin typeface="Segoe UI"/>
              </a:rPr>
              <a:t>D1</a:t>
            </a:r>
          </a:p>
        </p:txBody>
      </p:sp>
      <p:sp>
        <p:nvSpPr>
          <p:cNvPr id="1175" name="TextBox 1174"/>
          <p:cNvSpPr txBox="1"/>
          <p:nvPr/>
        </p:nvSpPr>
        <p:spPr>
          <a:xfrm>
            <a:off x="14420034" y="5821039"/>
            <a:ext cx="432000" cy="180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B6B85"/>
                </a:solidFill>
                <a:latin typeface="Segoe UI"/>
              </a:rPr>
              <a:t>D2</a:t>
            </a:r>
          </a:p>
        </p:txBody>
      </p:sp>
      <p:sp>
        <p:nvSpPr>
          <p:cNvPr id="1176" name="TextBox 1175"/>
          <p:cNvSpPr txBox="1"/>
          <p:nvPr/>
        </p:nvSpPr>
        <p:spPr>
          <a:xfrm>
            <a:off x="14178618" y="6564040"/>
            <a:ext cx="432000" cy="180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B6B85"/>
                </a:solidFill>
                <a:latin typeface="Segoe UI"/>
              </a:rPr>
              <a:t>D3</a:t>
            </a:r>
          </a:p>
        </p:txBody>
      </p:sp>
      <p:sp>
        <p:nvSpPr>
          <p:cNvPr id="1177" name="TextBox 1176"/>
          <p:cNvSpPr txBox="1"/>
          <p:nvPr/>
        </p:nvSpPr>
        <p:spPr>
          <a:xfrm>
            <a:off x="13397381" y="6564040"/>
            <a:ext cx="432000" cy="180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B6B85"/>
                </a:solidFill>
                <a:latin typeface="Segoe UI"/>
              </a:rPr>
              <a:t>D4</a:t>
            </a:r>
          </a:p>
        </p:txBody>
      </p:sp>
      <p:sp>
        <p:nvSpPr>
          <p:cNvPr id="1178" name="TextBox 1177"/>
          <p:cNvSpPr txBox="1"/>
          <p:nvPr/>
        </p:nvSpPr>
        <p:spPr>
          <a:xfrm>
            <a:off x="13155965" y="5821039"/>
            <a:ext cx="432000" cy="180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1" i="0">
                <a:solidFill>
                  <a:srgbClr val="5B6B85"/>
                </a:solidFill>
                <a:latin typeface="Segoe UI"/>
              </a:rPr>
              <a:t>D5</a:t>
            </a:r>
          </a:p>
        </p:txBody>
      </p:sp>
      <p:sp>
        <p:nvSpPr>
          <p:cNvPr id="4" name="Freeform 3"/>
          <p:cNvSpPr/>
          <p:nvPr/>
        </p:nvSpPr>
        <p:spPr>
          <a:xfrm>
            <a:off x="16878286" y="5823000"/>
            <a:ext cx="564927" cy="537278"/>
          </a:xfrm>
          <a:custGeom>
            <a:avLst/>
            <a:gdLst/>
            <a:ahLst/>
            <a:cxnLst/>
            <a:rect l="l" t="t" r="r" b="b"/>
            <a:pathLst>
              <a:path w="564927" h="537278">
                <a:moveTo>
                  <a:pt x="282464" y="0"/>
                </a:moveTo>
                <a:lnTo>
                  <a:pt x="564927" y="205221"/>
                </a:lnTo>
                <a:lnTo>
                  <a:pt x="457036" y="537278"/>
                </a:lnTo>
                <a:lnTo>
                  <a:pt x="107891" y="537278"/>
                </a:lnTo>
                <a:lnTo>
                  <a:pt x="0" y="205221"/>
                </a:lnTo>
                <a:close/>
              </a:path>
            </a:pathLst>
          </a:custGeom>
          <a:noFill/>
          <a:ln w="762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Freeform 4"/>
          <p:cNvSpPr/>
          <p:nvPr/>
        </p:nvSpPr>
        <p:spPr>
          <a:xfrm>
            <a:off x="16595822" y="5526000"/>
            <a:ext cx="1129855" cy="1074556"/>
          </a:xfrm>
          <a:custGeom>
            <a:avLst/>
            <a:gdLst/>
            <a:ahLst/>
            <a:cxnLst/>
            <a:rect l="l" t="t" r="r" b="b"/>
            <a:pathLst>
              <a:path w="1129855" h="1074556">
                <a:moveTo>
                  <a:pt x="564928" y="0"/>
                </a:moveTo>
                <a:lnTo>
                  <a:pt x="1129855" y="410443"/>
                </a:lnTo>
                <a:lnTo>
                  <a:pt x="914072" y="1074556"/>
                </a:lnTo>
                <a:lnTo>
                  <a:pt x="215783" y="1074556"/>
                </a:lnTo>
                <a:lnTo>
                  <a:pt x="0" y="410443"/>
                </a:lnTo>
                <a:close/>
              </a:path>
            </a:pathLst>
          </a:custGeom>
          <a:noFill/>
          <a:ln w="762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79" name="Connector 1178"/>
          <p:cNvCxnSpPr/>
          <p:nvPr/>
        </p:nvCxnSpPr>
        <p:spPr>
          <a:xfrm flipV="1">
            <a:off x="17160750" y="5526000"/>
            <a:ext cx="0" cy="594000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0" name="Connector 1179"/>
          <p:cNvCxnSpPr/>
          <p:nvPr/>
        </p:nvCxnSpPr>
        <p:spPr>
          <a:xfrm flipV="1">
            <a:off x="17160750" y="5936443"/>
            <a:ext cx="564927" cy="183557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1" name="Connector 1180"/>
          <p:cNvCxnSpPr/>
          <p:nvPr/>
        </p:nvCxnSpPr>
        <p:spPr>
          <a:xfrm>
            <a:off x="17160750" y="6120000"/>
            <a:ext cx="349144" cy="480556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2" name="Connector 1181"/>
          <p:cNvCxnSpPr/>
          <p:nvPr/>
        </p:nvCxnSpPr>
        <p:spPr>
          <a:xfrm flipH="1">
            <a:off x="16811605" y="6120000"/>
            <a:ext cx="349145" cy="480556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3" name="Connector 1182"/>
          <p:cNvCxnSpPr/>
          <p:nvPr/>
        </p:nvCxnSpPr>
        <p:spPr>
          <a:xfrm flipH="1" flipV="1">
            <a:off x="16595822" y="5936443"/>
            <a:ext cx="564928" cy="183557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 5"/>
          <p:cNvSpPr/>
          <p:nvPr/>
        </p:nvSpPr>
        <p:spPr>
          <a:xfrm>
            <a:off x="16844414" y="5633302"/>
            <a:ext cx="669314" cy="865727"/>
          </a:xfrm>
          <a:custGeom>
            <a:avLst/>
            <a:gdLst/>
            <a:ahLst/>
            <a:cxnLst/>
            <a:rect l="l" t="t" r="r" b="b"/>
            <a:pathLst>
              <a:path w="669314" h="865727">
                <a:moveTo>
                  <a:pt x="316336" y="0"/>
                </a:moveTo>
                <a:lnTo>
                  <a:pt x="669314" y="372008"/>
                </a:lnTo>
                <a:lnTo>
                  <a:pt x="558199" y="819595"/>
                </a:lnTo>
                <a:lnTo>
                  <a:pt x="40955" y="865727"/>
                </a:lnTo>
                <a:lnTo>
                  <a:pt x="0" y="383914"/>
                </a:lnTo>
                <a:close/>
              </a:path>
            </a:pathLst>
          </a:custGeom>
          <a:solidFill>
            <a:srgbClr val="A5BFDC"/>
          </a:solidFill>
          <a:ln w="19050">
            <a:solidFill>
              <a:srgbClr val="1F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4" name="Oval 1183"/>
          <p:cNvSpPr/>
          <p:nvPr/>
        </p:nvSpPr>
        <p:spPr>
          <a:xfrm>
            <a:off x="17131950" y="5604502"/>
            <a:ext cx="57600" cy="5760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5" name="Oval 1184"/>
          <p:cNvSpPr/>
          <p:nvPr/>
        </p:nvSpPr>
        <p:spPr>
          <a:xfrm>
            <a:off x="17484928" y="5976510"/>
            <a:ext cx="57600" cy="5760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6" name="Oval 1185"/>
          <p:cNvSpPr/>
          <p:nvPr/>
        </p:nvSpPr>
        <p:spPr>
          <a:xfrm>
            <a:off x="17373813" y="6424097"/>
            <a:ext cx="57600" cy="5760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7" name="Oval 1186"/>
          <p:cNvSpPr/>
          <p:nvPr/>
        </p:nvSpPr>
        <p:spPr>
          <a:xfrm>
            <a:off x="16856569" y="6470229"/>
            <a:ext cx="57600" cy="5760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8" name="Oval 1187"/>
          <p:cNvSpPr/>
          <p:nvPr/>
        </p:nvSpPr>
        <p:spPr>
          <a:xfrm>
            <a:off x="16815614" y="5988416"/>
            <a:ext cx="57600" cy="5760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Freeform 6"/>
          <p:cNvSpPr/>
          <p:nvPr/>
        </p:nvSpPr>
        <p:spPr>
          <a:xfrm>
            <a:off x="18511786" y="5823000"/>
            <a:ext cx="564927" cy="537278"/>
          </a:xfrm>
          <a:custGeom>
            <a:avLst/>
            <a:gdLst/>
            <a:ahLst/>
            <a:cxnLst/>
            <a:rect l="l" t="t" r="r" b="b"/>
            <a:pathLst>
              <a:path w="564927" h="537278">
                <a:moveTo>
                  <a:pt x="282464" y="0"/>
                </a:moveTo>
                <a:lnTo>
                  <a:pt x="564927" y="205221"/>
                </a:lnTo>
                <a:lnTo>
                  <a:pt x="457036" y="537278"/>
                </a:lnTo>
                <a:lnTo>
                  <a:pt x="107891" y="537278"/>
                </a:lnTo>
                <a:lnTo>
                  <a:pt x="0" y="205221"/>
                </a:lnTo>
                <a:close/>
              </a:path>
            </a:pathLst>
          </a:custGeom>
          <a:noFill/>
          <a:ln w="762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Freeform 7"/>
          <p:cNvSpPr/>
          <p:nvPr/>
        </p:nvSpPr>
        <p:spPr>
          <a:xfrm>
            <a:off x="18229322" y="5526000"/>
            <a:ext cx="1129855" cy="1074556"/>
          </a:xfrm>
          <a:custGeom>
            <a:avLst/>
            <a:gdLst/>
            <a:ahLst/>
            <a:cxnLst/>
            <a:rect l="l" t="t" r="r" b="b"/>
            <a:pathLst>
              <a:path w="1129855" h="1074556">
                <a:moveTo>
                  <a:pt x="564928" y="0"/>
                </a:moveTo>
                <a:lnTo>
                  <a:pt x="1129855" y="410443"/>
                </a:lnTo>
                <a:lnTo>
                  <a:pt x="914072" y="1074556"/>
                </a:lnTo>
                <a:lnTo>
                  <a:pt x="215783" y="1074556"/>
                </a:lnTo>
                <a:lnTo>
                  <a:pt x="0" y="410443"/>
                </a:lnTo>
                <a:close/>
              </a:path>
            </a:pathLst>
          </a:custGeom>
          <a:noFill/>
          <a:ln w="762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89" name="Connector 1188"/>
          <p:cNvCxnSpPr/>
          <p:nvPr/>
        </p:nvCxnSpPr>
        <p:spPr>
          <a:xfrm flipV="1">
            <a:off x="18794250" y="5526000"/>
            <a:ext cx="0" cy="594000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0" name="Connector 1189"/>
          <p:cNvCxnSpPr/>
          <p:nvPr/>
        </p:nvCxnSpPr>
        <p:spPr>
          <a:xfrm flipV="1">
            <a:off x="18794250" y="5936443"/>
            <a:ext cx="564927" cy="183557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1" name="Connector 1190"/>
          <p:cNvCxnSpPr/>
          <p:nvPr/>
        </p:nvCxnSpPr>
        <p:spPr>
          <a:xfrm>
            <a:off x="18794250" y="6120000"/>
            <a:ext cx="349144" cy="480556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2" name="Connector 1191"/>
          <p:cNvCxnSpPr/>
          <p:nvPr/>
        </p:nvCxnSpPr>
        <p:spPr>
          <a:xfrm flipH="1">
            <a:off x="18445105" y="6120000"/>
            <a:ext cx="349145" cy="480556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3" name="Connector 1192"/>
          <p:cNvCxnSpPr/>
          <p:nvPr/>
        </p:nvCxnSpPr>
        <p:spPr>
          <a:xfrm flipH="1" flipV="1">
            <a:off x="18229322" y="5936443"/>
            <a:ext cx="564928" cy="183557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18526336" y="5632716"/>
            <a:ext cx="595908" cy="856035"/>
          </a:xfrm>
          <a:custGeom>
            <a:avLst/>
            <a:gdLst/>
            <a:ahLst/>
            <a:cxnLst/>
            <a:rect l="l" t="t" r="r" b="b"/>
            <a:pathLst>
              <a:path w="595908" h="856035">
                <a:moveTo>
                  <a:pt x="267914" y="0"/>
                </a:moveTo>
                <a:lnTo>
                  <a:pt x="595908" y="380711"/>
                </a:lnTo>
                <a:lnTo>
                  <a:pt x="463034" y="755844"/>
                </a:lnTo>
                <a:lnTo>
                  <a:pt x="0" y="856035"/>
                </a:lnTo>
                <a:lnTo>
                  <a:pt x="90994" y="429799"/>
                </a:lnTo>
                <a:close/>
              </a:path>
            </a:pathLst>
          </a:custGeom>
          <a:solidFill>
            <a:srgbClr val="D1ECDF"/>
          </a:solidFill>
          <a:ln w="19050">
            <a:solidFill>
              <a:srgbClr val="8BD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4" name="Oval 1193"/>
          <p:cNvSpPr/>
          <p:nvPr/>
        </p:nvSpPr>
        <p:spPr>
          <a:xfrm>
            <a:off x="18765450" y="5603916"/>
            <a:ext cx="57600" cy="57600"/>
          </a:xfrm>
          <a:prstGeom prst="ellipse">
            <a:avLst/>
          </a:prstGeom>
          <a:solidFill>
            <a:srgbClr val="8BD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5" name="Oval 1194"/>
          <p:cNvSpPr/>
          <p:nvPr/>
        </p:nvSpPr>
        <p:spPr>
          <a:xfrm>
            <a:off x="19093444" y="5984627"/>
            <a:ext cx="57600" cy="57600"/>
          </a:xfrm>
          <a:prstGeom prst="ellipse">
            <a:avLst/>
          </a:prstGeom>
          <a:solidFill>
            <a:srgbClr val="8BD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6" name="Oval 1195"/>
          <p:cNvSpPr/>
          <p:nvPr/>
        </p:nvSpPr>
        <p:spPr>
          <a:xfrm>
            <a:off x="18960570" y="6359760"/>
            <a:ext cx="57600" cy="57600"/>
          </a:xfrm>
          <a:prstGeom prst="ellipse">
            <a:avLst/>
          </a:prstGeom>
          <a:solidFill>
            <a:srgbClr val="8BD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7" name="Oval 1196"/>
          <p:cNvSpPr/>
          <p:nvPr/>
        </p:nvSpPr>
        <p:spPr>
          <a:xfrm>
            <a:off x="18497536" y="6459951"/>
            <a:ext cx="57600" cy="57600"/>
          </a:xfrm>
          <a:prstGeom prst="ellipse">
            <a:avLst/>
          </a:prstGeom>
          <a:solidFill>
            <a:srgbClr val="8BD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8" name="Oval 1197"/>
          <p:cNvSpPr/>
          <p:nvPr/>
        </p:nvSpPr>
        <p:spPr>
          <a:xfrm>
            <a:off x="18588530" y="6033715"/>
            <a:ext cx="57600" cy="57600"/>
          </a:xfrm>
          <a:prstGeom prst="ellipse">
            <a:avLst/>
          </a:prstGeom>
          <a:solidFill>
            <a:srgbClr val="8BD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reeform 9"/>
          <p:cNvSpPr/>
          <p:nvPr/>
        </p:nvSpPr>
        <p:spPr>
          <a:xfrm>
            <a:off x="20145286" y="5823000"/>
            <a:ext cx="564927" cy="537278"/>
          </a:xfrm>
          <a:custGeom>
            <a:avLst/>
            <a:gdLst/>
            <a:ahLst/>
            <a:cxnLst/>
            <a:rect l="l" t="t" r="r" b="b"/>
            <a:pathLst>
              <a:path w="564927" h="537278">
                <a:moveTo>
                  <a:pt x="282464" y="0"/>
                </a:moveTo>
                <a:lnTo>
                  <a:pt x="564927" y="205221"/>
                </a:lnTo>
                <a:lnTo>
                  <a:pt x="457036" y="537278"/>
                </a:lnTo>
                <a:lnTo>
                  <a:pt x="107891" y="537278"/>
                </a:lnTo>
                <a:lnTo>
                  <a:pt x="0" y="205221"/>
                </a:lnTo>
                <a:close/>
              </a:path>
            </a:pathLst>
          </a:custGeom>
          <a:noFill/>
          <a:ln w="762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reeform 10"/>
          <p:cNvSpPr/>
          <p:nvPr/>
        </p:nvSpPr>
        <p:spPr>
          <a:xfrm>
            <a:off x="19862822" y="5526000"/>
            <a:ext cx="1129855" cy="1074556"/>
          </a:xfrm>
          <a:custGeom>
            <a:avLst/>
            <a:gdLst/>
            <a:ahLst/>
            <a:cxnLst/>
            <a:rect l="l" t="t" r="r" b="b"/>
            <a:pathLst>
              <a:path w="1129855" h="1074556">
                <a:moveTo>
                  <a:pt x="564928" y="0"/>
                </a:moveTo>
                <a:lnTo>
                  <a:pt x="1129855" y="410443"/>
                </a:lnTo>
                <a:lnTo>
                  <a:pt x="914072" y="1074556"/>
                </a:lnTo>
                <a:lnTo>
                  <a:pt x="215783" y="1074556"/>
                </a:lnTo>
                <a:lnTo>
                  <a:pt x="0" y="410443"/>
                </a:lnTo>
                <a:close/>
              </a:path>
            </a:pathLst>
          </a:custGeom>
          <a:noFill/>
          <a:ln w="762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99" name="Connector 1198"/>
          <p:cNvCxnSpPr/>
          <p:nvPr/>
        </p:nvCxnSpPr>
        <p:spPr>
          <a:xfrm flipV="1">
            <a:off x="20427750" y="5526000"/>
            <a:ext cx="0" cy="594000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0" name="Connector 1199"/>
          <p:cNvCxnSpPr/>
          <p:nvPr/>
        </p:nvCxnSpPr>
        <p:spPr>
          <a:xfrm flipV="1">
            <a:off x="20427750" y="5936443"/>
            <a:ext cx="564927" cy="183557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1" name="Connector 1200"/>
          <p:cNvCxnSpPr/>
          <p:nvPr/>
        </p:nvCxnSpPr>
        <p:spPr>
          <a:xfrm>
            <a:off x="20427750" y="6120000"/>
            <a:ext cx="349144" cy="480556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2" name="Connector 1201"/>
          <p:cNvCxnSpPr/>
          <p:nvPr/>
        </p:nvCxnSpPr>
        <p:spPr>
          <a:xfrm flipH="1">
            <a:off x="20078605" y="6120000"/>
            <a:ext cx="349145" cy="480556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3" name="Connector 1202"/>
          <p:cNvCxnSpPr/>
          <p:nvPr/>
        </p:nvCxnSpPr>
        <p:spPr>
          <a:xfrm flipH="1" flipV="1">
            <a:off x="19862822" y="5936443"/>
            <a:ext cx="564928" cy="183557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20186026" y="5656464"/>
            <a:ext cx="528738" cy="796239"/>
          </a:xfrm>
          <a:custGeom>
            <a:avLst/>
            <a:gdLst/>
            <a:ahLst/>
            <a:cxnLst/>
            <a:rect l="l" t="t" r="r" b="b"/>
            <a:pathLst>
              <a:path w="528738" h="796239">
                <a:moveTo>
                  <a:pt x="241724" y="0"/>
                </a:moveTo>
                <a:lnTo>
                  <a:pt x="528738" y="370279"/>
                </a:lnTo>
                <a:lnTo>
                  <a:pt x="421417" y="710862"/>
                </a:lnTo>
                <a:lnTo>
                  <a:pt x="0" y="796239"/>
                </a:lnTo>
                <a:lnTo>
                  <a:pt x="82618" y="411839"/>
                </a:lnTo>
                <a:close/>
              </a:path>
            </a:pathLst>
          </a:custGeom>
          <a:solidFill>
            <a:srgbClr val="ABD8C4"/>
          </a:solidFill>
          <a:ln w="19050">
            <a:solidFill>
              <a:srgbClr val="2E9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4" name="Oval 1203"/>
          <p:cNvSpPr/>
          <p:nvPr/>
        </p:nvSpPr>
        <p:spPr>
          <a:xfrm>
            <a:off x="20398950" y="5627664"/>
            <a:ext cx="57600" cy="5760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5" name="Oval 1204"/>
          <p:cNvSpPr/>
          <p:nvPr/>
        </p:nvSpPr>
        <p:spPr>
          <a:xfrm>
            <a:off x="20685964" y="5997943"/>
            <a:ext cx="57600" cy="5760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6" name="Oval 1205"/>
          <p:cNvSpPr/>
          <p:nvPr/>
        </p:nvSpPr>
        <p:spPr>
          <a:xfrm>
            <a:off x="20578643" y="6338526"/>
            <a:ext cx="57600" cy="5760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7" name="Oval 1206"/>
          <p:cNvSpPr/>
          <p:nvPr/>
        </p:nvSpPr>
        <p:spPr>
          <a:xfrm>
            <a:off x="20157226" y="6423903"/>
            <a:ext cx="57600" cy="5760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8" name="Oval 1207"/>
          <p:cNvSpPr/>
          <p:nvPr/>
        </p:nvSpPr>
        <p:spPr>
          <a:xfrm>
            <a:off x="20239844" y="6039503"/>
            <a:ext cx="57600" cy="5760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reeform 12"/>
          <p:cNvSpPr/>
          <p:nvPr/>
        </p:nvSpPr>
        <p:spPr>
          <a:xfrm>
            <a:off x="21778786" y="5823000"/>
            <a:ext cx="564927" cy="537278"/>
          </a:xfrm>
          <a:custGeom>
            <a:avLst/>
            <a:gdLst/>
            <a:ahLst/>
            <a:cxnLst/>
            <a:rect l="l" t="t" r="r" b="b"/>
            <a:pathLst>
              <a:path w="564927" h="537278">
                <a:moveTo>
                  <a:pt x="282464" y="0"/>
                </a:moveTo>
                <a:lnTo>
                  <a:pt x="564927" y="205221"/>
                </a:lnTo>
                <a:lnTo>
                  <a:pt x="457036" y="537278"/>
                </a:lnTo>
                <a:lnTo>
                  <a:pt x="107891" y="537278"/>
                </a:lnTo>
                <a:lnTo>
                  <a:pt x="0" y="205221"/>
                </a:lnTo>
                <a:close/>
              </a:path>
            </a:pathLst>
          </a:custGeom>
          <a:noFill/>
          <a:ln w="762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reeform 13"/>
          <p:cNvSpPr/>
          <p:nvPr/>
        </p:nvSpPr>
        <p:spPr>
          <a:xfrm>
            <a:off x="21496322" y="5526000"/>
            <a:ext cx="1129855" cy="1074556"/>
          </a:xfrm>
          <a:custGeom>
            <a:avLst/>
            <a:gdLst/>
            <a:ahLst/>
            <a:cxnLst/>
            <a:rect l="l" t="t" r="r" b="b"/>
            <a:pathLst>
              <a:path w="1129855" h="1074556">
                <a:moveTo>
                  <a:pt x="564928" y="0"/>
                </a:moveTo>
                <a:lnTo>
                  <a:pt x="1129855" y="410443"/>
                </a:lnTo>
                <a:lnTo>
                  <a:pt x="914072" y="1074556"/>
                </a:lnTo>
                <a:lnTo>
                  <a:pt x="215783" y="1074556"/>
                </a:lnTo>
                <a:lnTo>
                  <a:pt x="0" y="410443"/>
                </a:lnTo>
                <a:close/>
              </a:path>
            </a:pathLst>
          </a:custGeom>
          <a:noFill/>
          <a:ln w="762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09" name="Connector 1208"/>
          <p:cNvCxnSpPr/>
          <p:nvPr/>
        </p:nvCxnSpPr>
        <p:spPr>
          <a:xfrm flipV="1">
            <a:off x="22061250" y="5526000"/>
            <a:ext cx="0" cy="594000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0" name="Connector 1209"/>
          <p:cNvCxnSpPr/>
          <p:nvPr/>
        </p:nvCxnSpPr>
        <p:spPr>
          <a:xfrm flipV="1">
            <a:off x="22061250" y="5936443"/>
            <a:ext cx="564927" cy="183557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1" name="Connector 1210"/>
          <p:cNvCxnSpPr/>
          <p:nvPr/>
        </p:nvCxnSpPr>
        <p:spPr>
          <a:xfrm>
            <a:off x="22061250" y="6120000"/>
            <a:ext cx="349144" cy="480556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2" name="Connector 1211"/>
          <p:cNvCxnSpPr/>
          <p:nvPr/>
        </p:nvCxnSpPr>
        <p:spPr>
          <a:xfrm flipH="1">
            <a:off x="21712105" y="6120000"/>
            <a:ext cx="349145" cy="480556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3" name="Connector 1212"/>
          <p:cNvCxnSpPr/>
          <p:nvPr/>
        </p:nvCxnSpPr>
        <p:spPr>
          <a:xfrm flipH="1" flipV="1">
            <a:off x="21496322" y="5936443"/>
            <a:ext cx="564928" cy="183557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21841591" y="5726532"/>
            <a:ext cx="438967" cy="669258"/>
          </a:xfrm>
          <a:custGeom>
            <a:avLst/>
            <a:gdLst/>
            <a:ahLst/>
            <a:cxnLst/>
            <a:rect l="l" t="t" r="r" b="b"/>
            <a:pathLst>
              <a:path w="438967" h="669258">
                <a:moveTo>
                  <a:pt x="219659" y="0"/>
                </a:moveTo>
                <a:lnTo>
                  <a:pt x="438967" y="322210"/>
                </a:lnTo>
                <a:lnTo>
                  <a:pt x="420032" y="669258"/>
                </a:lnTo>
                <a:lnTo>
                  <a:pt x="19528" y="668923"/>
                </a:lnTo>
                <a:lnTo>
                  <a:pt x="0" y="322096"/>
                </a:lnTo>
                <a:close/>
              </a:path>
            </a:pathLst>
          </a:custGeom>
          <a:solidFill>
            <a:srgbClr val="C4D4EC"/>
          </a:solidFill>
          <a:ln w="19050">
            <a:solidFill>
              <a:srgbClr val="6C9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4" name="Oval 1213"/>
          <p:cNvSpPr/>
          <p:nvPr/>
        </p:nvSpPr>
        <p:spPr>
          <a:xfrm>
            <a:off x="22032450" y="5697732"/>
            <a:ext cx="57600" cy="57600"/>
          </a:xfrm>
          <a:prstGeom prst="ellipse">
            <a:avLst/>
          </a:prstGeom>
          <a:solidFill>
            <a:srgbClr val="6C9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5" name="Oval 1214"/>
          <p:cNvSpPr/>
          <p:nvPr/>
        </p:nvSpPr>
        <p:spPr>
          <a:xfrm>
            <a:off x="22251758" y="6019942"/>
            <a:ext cx="57600" cy="57600"/>
          </a:xfrm>
          <a:prstGeom prst="ellipse">
            <a:avLst/>
          </a:prstGeom>
          <a:solidFill>
            <a:srgbClr val="6C9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6" name="Oval 1215"/>
          <p:cNvSpPr/>
          <p:nvPr/>
        </p:nvSpPr>
        <p:spPr>
          <a:xfrm>
            <a:off x="22232823" y="6366990"/>
            <a:ext cx="57600" cy="57600"/>
          </a:xfrm>
          <a:prstGeom prst="ellipse">
            <a:avLst/>
          </a:prstGeom>
          <a:solidFill>
            <a:srgbClr val="6C9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7" name="Oval 1216"/>
          <p:cNvSpPr/>
          <p:nvPr/>
        </p:nvSpPr>
        <p:spPr>
          <a:xfrm>
            <a:off x="21832319" y="6366655"/>
            <a:ext cx="57600" cy="57600"/>
          </a:xfrm>
          <a:prstGeom prst="ellipse">
            <a:avLst/>
          </a:prstGeom>
          <a:solidFill>
            <a:srgbClr val="6C9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8" name="Oval 1217"/>
          <p:cNvSpPr/>
          <p:nvPr/>
        </p:nvSpPr>
        <p:spPr>
          <a:xfrm>
            <a:off x="21812791" y="6019828"/>
            <a:ext cx="57600" cy="57600"/>
          </a:xfrm>
          <a:prstGeom prst="ellipse">
            <a:avLst/>
          </a:prstGeom>
          <a:solidFill>
            <a:srgbClr val="6C9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reeform 15"/>
          <p:cNvSpPr/>
          <p:nvPr/>
        </p:nvSpPr>
        <p:spPr>
          <a:xfrm>
            <a:off x="23412286" y="5823000"/>
            <a:ext cx="564927" cy="537278"/>
          </a:xfrm>
          <a:custGeom>
            <a:avLst/>
            <a:gdLst/>
            <a:ahLst/>
            <a:cxnLst/>
            <a:rect l="l" t="t" r="r" b="b"/>
            <a:pathLst>
              <a:path w="564927" h="537278">
                <a:moveTo>
                  <a:pt x="282464" y="0"/>
                </a:moveTo>
                <a:lnTo>
                  <a:pt x="564927" y="205221"/>
                </a:lnTo>
                <a:lnTo>
                  <a:pt x="457036" y="537278"/>
                </a:lnTo>
                <a:lnTo>
                  <a:pt x="107891" y="537278"/>
                </a:lnTo>
                <a:lnTo>
                  <a:pt x="0" y="205221"/>
                </a:lnTo>
                <a:close/>
              </a:path>
            </a:pathLst>
          </a:custGeom>
          <a:noFill/>
          <a:ln w="762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reeform 16"/>
          <p:cNvSpPr/>
          <p:nvPr/>
        </p:nvSpPr>
        <p:spPr>
          <a:xfrm>
            <a:off x="23129822" y="5526000"/>
            <a:ext cx="1129855" cy="1074556"/>
          </a:xfrm>
          <a:custGeom>
            <a:avLst/>
            <a:gdLst/>
            <a:ahLst/>
            <a:cxnLst/>
            <a:rect l="l" t="t" r="r" b="b"/>
            <a:pathLst>
              <a:path w="1129855" h="1074556">
                <a:moveTo>
                  <a:pt x="564928" y="0"/>
                </a:moveTo>
                <a:lnTo>
                  <a:pt x="1129855" y="410443"/>
                </a:lnTo>
                <a:lnTo>
                  <a:pt x="914072" y="1074556"/>
                </a:lnTo>
                <a:lnTo>
                  <a:pt x="215783" y="1074556"/>
                </a:lnTo>
                <a:lnTo>
                  <a:pt x="0" y="410443"/>
                </a:lnTo>
                <a:close/>
              </a:path>
            </a:pathLst>
          </a:custGeom>
          <a:noFill/>
          <a:ln w="762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19" name="Connector 1218"/>
          <p:cNvCxnSpPr/>
          <p:nvPr/>
        </p:nvCxnSpPr>
        <p:spPr>
          <a:xfrm flipV="1">
            <a:off x="23694750" y="5526000"/>
            <a:ext cx="0" cy="594000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0" name="Connector 1219"/>
          <p:cNvCxnSpPr/>
          <p:nvPr/>
        </p:nvCxnSpPr>
        <p:spPr>
          <a:xfrm flipV="1">
            <a:off x="23694750" y="5936443"/>
            <a:ext cx="564927" cy="183557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1" name="Connector 1220"/>
          <p:cNvCxnSpPr/>
          <p:nvPr/>
        </p:nvCxnSpPr>
        <p:spPr>
          <a:xfrm>
            <a:off x="23694750" y="6120000"/>
            <a:ext cx="349144" cy="480556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2" name="Connector 1221"/>
          <p:cNvCxnSpPr/>
          <p:nvPr/>
        </p:nvCxnSpPr>
        <p:spPr>
          <a:xfrm flipH="1">
            <a:off x="23345605" y="6120000"/>
            <a:ext cx="349145" cy="480556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3" name="Connector 1222"/>
          <p:cNvCxnSpPr/>
          <p:nvPr/>
        </p:nvCxnSpPr>
        <p:spPr>
          <a:xfrm flipH="1" flipV="1">
            <a:off x="23129822" y="5936443"/>
            <a:ext cx="564928" cy="183557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23246259" y="5720508"/>
            <a:ext cx="610988" cy="681760"/>
          </a:xfrm>
          <a:custGeom>
            <a:avLst/>
            <a:gdLst/>
            <a:ahLst/>
            <a:cxnLst/>
            <a:rect l="l" t="t" r="r" b="b"/>
            <a:pathLst>
              <a:path w="610988" h="681760">
                <a:moveTo>
                  <a:pt x="448491" y="0"/>
                </a:moveTo>
                <a:lnTo>
                  <a:pt x="567131" y="360943"/>
                </a:lnTo>
                <a:lnTo>
                  <a:pt x="610988" y="623150"/>
                </a:lnTo>
                <a:lnTo>
                  <a:pt x="243410" y="681760"/>
                </a:lnTo>
                <a:lnTo>
                  <a:pt x="0" y="253768"/>
                </a:lnTo>
                <a:close/>
              </a:path>
            </a:pathLst>
          </a:custGeom>
          <a:solidFill>
            <a:srgbClr val="C1E2E3"/>
          </a:solidFill>
          <a:ln w="19050">
            <a:solidFill>
              <a:srgbClr val="63B7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4" name="Oval 1223"/>
          <p:cNvSpPr/>
          <p:nvPr/>
        </p:nvSpPr>
        <p:spPr>
          <a:xfrm>
            <a:off x="23665950" y="5691708"/>
            <a:ext cx="57600" cy="57600"/>
          </a:xfrm>
          <a:prstGeom prst="ellipse">
            <a:avLst/>
          </a:prstGeom>
          <a:solidFill>
            <a:srgbClr val="63B7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5" name="Oval 1224"/>
          <p:cNvSpPr/>
          <p:nvPr/>
        </p:nvSpPr>
        <p:spPr>
          <a:xfrm>
            <a:off x="23784590" y="6052651"/>
            <a:ext cx="57600" cy="57600"/>
          </a:xfrm>
          <a:prstGeom prst="ellipse">
            <a:avLst/>
          </a:prstGeom>
          <a:solidFill>
            <a:srgbClr val="63B7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6" name="Oval 1225"/>
          <p:cNvSpPr/>
          <p:nvPr/>
        </p:nvSpPr>
        <p:spPr>
          <a:xfrm>
            <a:off x="23828447" y="6314858"/>
            <a:ext cx="57600" cy="57600"/>
          </a:xfrm>
          <a:prstGeom prst="ellipse">
            <a:avLst/>
          </a:prstGeom>
          <a:solidFill>
            <a:srgbClr val="63B7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7" name="Oval 1226"/>
          <p:cNvSpPr/>
          <p:nvPr/>
        </p:nvSpPr>
        <p:spPr>
          <a:xfrm>
            <a:off x="23460869" y="6373468"/>
            <a:ext cx="57600" cy="57600"/>
          </a:xfrm>
          <a:prstGeom prst="ellipse">
            <a:avLst/>
          </a:prstGeom>
          <a:solidFill>
            <a:srgbClr val="63B7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8" name="Oval 1227"/>
          <p:cNvSpPr/>
          <p:nvPr/>
        </p:nvSpPr>
        <p:spPr>
          <a:xfrm>
            <a:off x="23217459" y="5945476"/>
            <a:ext cx="57600" cy="57600"/>
          </a:xfrm>
          <a:prstGeom prst="ellipse">
            <a:avLst/>
          </a:prstGeom>
          <a:solidFill>
            <a:srgbClr val="63B7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reeform 18"/>
          <p:cNvSpPr/>
          <p:nvPr/>
        </p:nvSpPr>
        <p:spPr>
          <a:xfrm>
            <a:off x="25045786" y="5823000"/>
            <a:ext cx="564927" cy="537278"/>
          </a:xfrm>
          <a:custGeom>
            <a:avLst/>
            <a:gdLst/>
            <a:ahLst/>
            <a:cxnLst/>
            <a:rect l="l" t="t" r="r" b="b"/>
            <a:pathLst>
              <a:path w="564927" h="537278">
                <a:moveTo>
                  <a:pt x="282464" y="0"/>
                </a:moveTo>
                <a:lnTo>
                  <a:pt x="564927" y="205221"/>
                </a:lnTo>
                <a:lnTo>
                  <a:pt x="457036" y="537278"/>
                </a:lnTo>
                <a:lnTo>
                  <a:pt x="107891" y="537278"/>
                </a:lnTo>
                <a:lnTo>
                  <a:pt x="0" y="205221"/>
                </a:lnTo>
                <a:close/>
              </a:path>
            </a:pathLst>
          </a:custGeom>
          <a:noFill/>
          <a:ln w="762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reeform 19"/>
          <p:cNvSpPr/>
          <p:nvPr/>
        </p:nvSpPr>
        <p:spPr>
          <a:xfrm>
            <a:off x="24763322" y="5526000"/>
            <a:ext cx="1129855" cy="1074556"/>
          </a:xfrm>
          <a:custGeom>
            <a:avLst/>
            <a:gdLst/>
            <a:ahLst/>
            <a:cxnLst/>
            <a:rect l="l" t="t" r="r" b="b"/>
            <a:pathLst>
              <a:path w="1129855" h="1074556">
                <a:moveTo>
                  <a:pt x="564928" y="0"/>
                </a:moveTo>
                <a:lnTo>
                  <a:pt x="1129855" y="410443"/>
                </a:lnTo>
                <a:lnTo>
                  <a:pt x="914072" y="1074556"/>
                </a:lnTo>
                <a:lnTo>
                  <a:pt x="215783" y="1074556"/>
                </a:lnTo>
                <a:lnTo>
                  <a:pt x="0" y="410443"/>
                </a:lnTo>
                <a:close/>
              </a:path>
            </a:pathLst>
          </a:custGeom>
          <a:noFill/>
          <a:ln w="762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29" name="Connector 1228"/>
          <p:cNvCxnSpPr/>
          <p:nvPr/>
        </p:nvCxnSpPr>
        <p:spPr>
          <a:xfrm flipV="1">
            <a:off x="25328250" y="5526000"/>
            <a:ext cx="0" cy="594000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0" name="Connector 1229"/>
          <p:cNvCxnSpPr/>
          <p:nvPr/>
        </p:nvCxnSpPr>
        <p:spPr>
          <a:xfrm flipV="1">
            <a:off x="25328250" y="5936443"/>
            <a:ext cx="564927" cy="183557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1" name="Connector 1230"/>
          <p:cNvCxnSpPr/>
          <p:nvPr/>
        </p:nvCxnSpPr>
        <p:spPr>
          <a:xfrm>
            <a:off x="25328250" y="6120000"/>
            <a:ext cx="349144" cy="480556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2" name="Connector 1231"/>
          <p:cNvCxnSpPr/>
          <p:nvPr/>
        </p:nvCxnSpPr>
        <p:spPr>
          <a:xfrm flipH="1">
            <a:off x="24979105" y="6120000"/>
            <a:ext cx="349145" cy="480556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3" name="Connector 1232"/>
          <p:cNvCxnSpPr/>
          <p:nvPr/>
        </p:nvCxnSpPr>
        <p:spPr>
          <a:xfrm flipH="1" flipV="1">
            <a:off x="24763322" y="5936443"/>
            <a:ext cx="564928" cy="183557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24781155" y="5795294"/>
            <a:ext cx="729206" cy="575361"/>
          </a:xfrm>
          <a:custGeom>
            <a:avLst/>
            <a:gdLst/>
            <a:ahLst/>
            <a:cxnLst/>
            <a:rect l="l" t="t" r="r" b="b"/>
            <a:pathLst>
              <a:path w="729206" h="575361">
                <a:moveTo>
                  <a:pt x="547095" y="0"/>
                </a:moveTo>
                <a:lnTo>
                  <a:pt x="617280" y="301901"/>
                </a:lnTo>
                <a:lnTo>
                  <a:pt x="729206" y="575361"/>
                </a:lnTo>
                <a:lnTo>
                  <a:pt x="371534" y="566344"/>
                </a:lnTo>
                <a:lnTo>
                  <a:pt x="0" y="146944"/>
                </a:lnTo>
                <a:close/>
              </a:path>
            </a:pathLst>
          </a:custGeom>
          <a:solidFill>
            <a:srgbClr val="CAC0E7"/>
          </a:solidFill>
          <a:ln w="19050">
            <a:solidFill>
              <a:srgbClr val="7B6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4" name="Oval 1233"/>
          <p:cNvSpPr/>
          <p:nvPr/>
        </p:nvSpPr>
        <p:spPr>
          <a:xfrm>
            <a:off x="25299450" y="5766494"/>
            <a:ext cx="57600" cy="57600"/>
          </a:xfrm>
          <a:prstGeom prst="ellipse">
            <a:avLst/>
          </a:prstGeom>
          <a:solidFill>
            <a:srgbClr val="7B6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5" name="Oval 1234"/>
          <p:cNvSpPr/>
          <p:nvPr/>
        </p:nvSpPr>
        <p:spPr>
          <a:xfrm>
            <a:off x="25369635" y="6068395"/>
            <a:ext cx="57600" cy="57600"/>
          </a:xfrm>
          <a:prstGeom prst="ellipse">
            <a:avLst/>
          </a:prstGeom>
          <a:solidFill>
            <a:srgbClr val="7B6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6" name="Oval 1235"/>
          <p:cNvSpPr/>
          <p:nvPr/>
        </p:nvSpPr>
        <p:spPr>
          <a:xfrm>
            <a:off x="25481561" y="6341855"/>
            <a:ext cx="57600" cy="57600"/>
          </a:xfrm>
          <a:prstGeom prst="ellipse">
            <a:avLst/>
          </a:prstGeom>
          <a:solidFill>
            <a:srgbClr val="7B6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7" name="Oval 1236"/>
          <p:cNvSpPr/>
          <p:nvPr/>
        </p:nvSpPr>
        <p:spPr>
          <a:xfrm>
            <a:off x="25123889" y="6332838"/>
            <a:ext cx="57600" cy="57600"/>
          </a:xfrm>
          <a:prstGeom prst="ellipse">
            <a:avLst/>
          </a:prstGeom>
          <a:solidFill>
            <a:srgbClr val="7B6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8" name="Oval 1237"/>
          <p:cNvSpPr/>
          <p:nvPr/>
        </p:nvSpPr>
        <p:spPr>
          <a:xfrm>
            <a:off x="24752355" y="5913438"/>
            <a:ext cx="57600" cy="57600"/>
          </a:xfrm>
          <a:prstGeom prst="ellipse">
            <a:avLst/>
          </a:prstGeom>
          <a:solidFill>
            <a:srgbClr val="7B6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reeform 21"/>
          <p:cNvSpPr/>
          <p:nvPr/>
        </p:nvSpPr>
        <p:spPr>
          <a:xfrm>
            <a:off x="26679286" y="5823000"/>
            <a:ext cx="564927" cy="537278"/>
          </a:xfrm>
          <a:custGeom>
            <a:avLst/>
            <a:gdLst/>
            <a:ahLst/>
            <a:cxnLst/>
            <a:rect l="l" t="t" r="r" b="b"/>
            <a:pathLst>
              <a:path w="564927" h="537278">
                <a:moveTo>
                  <a:pt x="282464" y="0"/>
                </a:moveTo>
                <a:lnTo>
                  <a:pt x="564927" y="205221"/>
                </a:lnTo>
                <a:lnTo>
                  <a:pt x="457036" y="537278"/>
                </a:lnTo>
                <a:lnTo>
                  <a:pt x="107891" y="537278"/>
                </a:lnTo>
                <a:lnTo>
                  <a:pt x="0" y="205221"/>
                </a:lnTo>
                <a:close/>
              </a:path>
            </a:pathLst>
          </a:custGeom>
          <a:noFill/>
          <a:ln w="762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Freeform 22"/>
          <p:cNvSpPr/>
          <p:nvPr/>
        </p:nvSpPr>
        <p:spPr>
          <a:xfrm>
            <a:off x="26396822" y="5526000"/>
            <a:ext cx="1129855" cy="1074556"/>
          </a:xfrm>
          <a:custGeom>
            <a:avLst/>
            <a:gdLst/>
            <a:ahLst/>
            <a:cxnLst/>
            <a:rect l="l" t="t" r="r" b="b"/>
            <a:pathLst>
              <a:path w="1129855" h="1074556">
                <a:moveTo>
                  <a:pt x="564928" y="0"/>
                </a:moveTo>
                <a:lnTo>
                  <a:pt x="1129855" y="410443"/>
                </a:lnTo>
                <a:lnTo>
                  <a:pt x="914072" y="1074556"/>
                </a:lnTo>
                <a:lnTo>
                  <a:pt x="215783" y="1074556"/>
                </a:lnTo>
                <a:lnTo>
                  <a:pt x="0" y="410443"/>
                </a:lnTo>
                <a:close/>
              </a:path>
            </a:pathLst>
          </a:custGeom>
          <a:noFill/>
          <a:ln w="762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39" name="Connector 1238"/>
          <p:cNvCxnSpPr/>
          <p:nvPr/>
        </p:nvCxnSpPr>
        <p:spPr>
          <a:xfrm flipV="1">
            <a:off x="26961750" y="5526000"/>
            <a:ext cx="0" cy="594000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0" name="Connector 1239"/>
          <p:cNvCxnSpPr/>
          <p:nvPr/>
        </p:nvCxnSpPr>
        <p:spPr>
          <a:xfrm flipV="1">
            <a:off x="26961750" y="5936443"/>
            <a:ext cx="564927" cy="183557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1" name="Connector 1240"/>
          <p:cNvCxnSpPr/>
          <p:nvPr/>
        </p:nvCxnSpPr>
        <p:spPr>
          <a:xfrm>
            <a:off x="26961750" y="6120000"/>
            <a:ext cx="349144" cy="480556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2" name="Connector 1241"/>
          <p:cNvCxnSpPr/>
          <p:nvPr/>
        </p:nvCxnSpPr>
        <p:spPr>
          <a:xfrm flipH="1">
            <a:off x="26612605" y="6120000"/>
            <a:ext cx="349145" cy="480556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3" name="Connector 1242"/>
          <p:cNvCxnSpPr/>
          <p:nvPr/>
        </p:nvCxnSpPr>
        <p:spPr>
          <a:xfrm flipH="1" flipV="1">
            <a:off x="26396822" y="5936443"/>
            <a:ext cx="564928" cy="183557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26626100" y="5883568"/>
            <a:ext cx="486465" cy="474962"/>
          </a:xfrm>
          <a:custGeom>
            <a:avLst/>
            <a:gdLst/>
            <a:ahLst/>
            <a:cxnLst/>
            <a:rect l="l" t="t" r="r" b="b"/>
            <a:pathLst>
              <a:path w="486465" h="474962">
                <a:moveTo>
                  <a:pt x="335650" y="0"/>
                </a:moveTo>
                <a:lnTo>
                  <a:pt x="428455" y="206277"/>
                </a:lnTo>
                <a:lnTo>
                  <a:pt x="486465" y="444011"/>
                </a:lnTo>
                <a:lnTo>
                  <a:pt x="162347" y="474962"/>
                </a:lnTo>
                <a:lnTo>
                  <a:pt x="0" y="127373"/>
                </a:lnTo>
                <a:close/>
              </a:path>
            </a:pathLst>
          </a:custGeom>
          <a:solidFill>
            <a:srgbClr val="BECAD6"/>
          </a:solidFill>
          <a:ln w="19050">
            <a:solidFill>
              <a:srgbClr val="5C7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4" name="Oval 1243"/>
          <p:cNvSpPr/>
          <p:nvPr/>
        </p:nvSpPr>
        <p:spPr>
          <a:xfrm>
            <a:off x="26932950" y="5854768"/>
            <a:ext cx="57600" cy="57600"/>
          </a:xfrm>
          <a:prstGeom prst="ellipse">
            <a:avLst/>
          </a:prstGeom>
          <a:solidFill>
            <a:srgbClr val="5C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5" name="Oval 1244"/>
          <p:cNvSpPr/>
          <p:nvPr/>
        </p:nvSpPr>
        <p:spPr>
          <a:xfrm>
            <a:off x="27025755" y="6061045"/>
            <a:ext cx="57600" cy="57600"/>
          </a:xfrm>
          <a:prstGeom prst="ellipse">
            <a:avLst/>
          </a:prstGeom>
          <a:solidFill>
            <a:srgbClr val="5C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6" name="Oval 1245"/>
          <p:cNvSpPr/>
          <p:nvPr/>
        </p:nvSpPr>
        <p:spPr>
          <a:xfrm>
            <a:off x="27083765" y="6298779"/>
            <a:ext cx="57600" cy="57600"/>
          </a:xfrm>
          <a:prstGeom prst="ellipse">
            <a:avLst/>
          </a:prstGeom>
          <a:solidFill>
            <a:srgbClr val="5C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7" name="Oval 1246"/>
          <p:cNvSpPr/>
          <p:nvPr/>
        </p:nvSpPr>
        <p:spPr>
          <a:xfrm>
            <a:off x="26759647" y="6329730"/>
            <a:ext cx="57600" cy="57600"/>
          </a:xfrm>
          <a:prstGeom prst="ellipse">
            <a:avLst/>
          </a:prstGeom>
          <a:solidFill>
            <a:srgbClr val="5C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8" name="Oval 1247"/>
          <p:cNvSpPr/>
          <p:nvPr/>
        </p:nvSpPr>
        <p:spPr>
          <a:xfrm>
            <a:off x="26597300" y="5982141"/>
            <a:ext cx="57600" cy="57600"/>
          </a:xfrm>
          <a:prstGeom prst="ellipse">
            <a:avLst/>
          </a:prstGeom>
          <a:solidFill>
            <a:srgbClr val="5C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Freeform 24"/>
          <p:cNvSpPr/>
          <p:nvPr/>
        </p:nvSpPr>
        <p:spPr>
          <a:xfrm>
            <a:off x="28312786" y="5823000"/>
            <a:ext cx="564927" cy="537278"/>
          </a:xfrm>
          <a:custGeom>
            <a:avLst/>
            <a:gdLst/>
            <a:ahLst/>
            <a:cxnLst/>
            <a:rect l="l" t="t" r="r" b="b"/>
            <a:pathLst>
              <a:path w="564927" h="537278">
                <a:moveTo>
                  <a:pt x="282464" y="0"/>
                </a:moveTo>
                <a:lnTo>
                  <a:pt x="564927" y="205221"/>
                </a:lnTo>
                <a:lnTo>
                  <a:pt x="457036" y="537278"/>
                </a:lnTo>
                <a:lnTo>
                  <a:pt x="107891" y="537278"/>
                </a:lnTo>
                <a:lnTo>
                  <a:pt x="0" y="205221"/>
                </a:lnTo>
                <a:close/>
              </a:path>
            </a:pathLst>
          </a:custGeom>
          <a:noFill/>
          <a:ln w="762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Freeform 25"/>
          <p:cNvSpPr/>
          <p:nvPr/>
        </p:nvSpPr>
        <p:spPr>
          <a:xfrm>
            <a:off x="28030322" y="5526000"/>
            <a:ext cx="1129855" cy="1074556"/>
          </a:xfrm>
          <a:custGeom>
            <a:avLst/>
            <a:gdLst/>
            <a:ahLst/>
            <a:cxnLst/>
            <a:rect l="l" t="t" r="r" b="b"/>
            <a:pathLst>
              <a:path w="1129855" h="1074556">
                <a:moveTo>
                  <a:pt x="564928" y="0"/>
                </a:moveTo>
                <a:lnTo>
                  <a:pt x="1129855" y="410443"/>
                </a:lnTo>
                <a:lnTo>
                  <a:pt x="914072" y="1074556"/>
                </a:lnTo>
                <a:lnTo>
                  <a:pt x="215783" y="1074556"/>
                </a:lnTo>
                <a:lnTo>
                  <a:pt x="0" y="410443"/>
                </a:lnTo>
                <a:close/>
              </a:path>
            </a:pathLst>
          </a:custGeom>
          <a:noFill/>
          <a:ln w="7620"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49" name="Connector 1248"/>
          <p:cNvCxnSpPr/>
          <p:nvPr/>
        </p:nvCxnSpPr>
        <p:spPr>
          <a:xfrm flipV="1">
            <a:off x="28595250" y="5526000"/>
            <a:ext cx="0" cy="594000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0" name="Connector 1249"/>
          <p:cNvCxnSpPr/>
          <p:nvPr/>
        </p:nvCxnSpPr>
        <p:spPr>
          <a:xfrm flipV="1">
            <a:off x="28595250" y="5936443"/>
            <a:ext cx="564927" cy="183557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1" name="Connector 1250"/>
          <p:cNvCxnSpPr/>
          <p:nvPr/>
        </p:nvCxnSpPr>
        <p:spPr>
          <a:xfrm>
            <a:off x="28595250" y="6120000"/>
            <a:ext cx="349144" cy="480556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2" name="Connector 1251"/>
          <p:cNvCxnSpPr/>
          <p:nvPr/>
        </p:nvCxnSpPr>
        <p:spPr>
          <a:xfrm flipH="1">
            <a:off x="28246105" y="6120000"/>
            <a:ext cx="349145" cy="480556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3" name="Connector 1252"/>
          <p:cNvCxnSpPr/>
          <p:nvPr/>
        </p:nvCxnSpPr>
        <p:spPr>
          <a:xfrm flipH="1" flipV="1">
            <a:off x="28030322" y="5936443"/>
            <a:ext cx="564928" cy="183557"/>
          </a:xfrm>
          <a:prstGeom prst="line">
            <a:avLst/>
          </a:prstGeom>
          <a:ln w="6350">
            <a:solidFill>
              <a:srgbClr val="DCE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28214544" y="5918943"/>
            <a:ext cx="530481" cy="481321"/>
          </a:xfrm>
          <a:custGeom>
            <a:avLst/>
            <a:gdLst/>
            <a:ahLst/>
            <a:cxnLst/>
            <a:rect l="l" t="t" r="r" b="b"/>
            <a:pathLst>
              <a:path w="530481" h="481321">
                <a:moveTo>
                  <a:pt x="380706" y="0"/>
                </a:moveTo>
                <a:lnTo>
                  <a:pt x="417270" y="189176"/>
                </a:lnTo>
                <a:lnTo>
                  <a:pt x="530481" y="407205"/>
                </a:lnTo>
                <a:lnTo>
                  <a:pt x="177081" y="481321"/>
                </a:lnTo>
                <a:lnTo>
                  <a:pt x="0" y="77358"/>
                </a:lnTo>
                <a:close/>
              </a:path>
            </a:pathLst>
          </a:custGeom>
          <a:solidFill>
            <a:srgbClr val="DBDBE9"/>
          </a:solidFill>
          <a:ln w="19050">
            <a:solidFill>
              <a:srgbClr val="A6A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4" name="Oval 1253"/>
          <p:cNvSpPr/>
          <p:nvPr/>
        </p:nvSpPr>
        <p:spPr>
          <a:xfrm>
            <a:off x="28566450" y="5890143"/>
            <a:ext cx="57600" cy="57600"/>
          </a:xfrm>
          <a:prstGeom prst="ellipse">
            <a:avLst/>
          </a:prstGeom>
          <a:solidFill>
            <a:srgbClr val="A6A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5" name="Oval 1254"/>
          <p:cNvSpPr/>
          <p:nvPr/>
        </p:nvSpPr>
        <p:spPr>
          <a:xfrm>
            <a:off x="28603014" y="6079319"/>
            <a:ext cx="57600" cy="57600"/>
          </a:xfrm>
          <a:prstGeom prst="ellipse">
            <a:avLst/>
          </a:prstGeom>
          <a:solidFill>
            <a:srgbClr val="A6A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6" name="Oval 1255"/>
          <p:cNvSpPr/>
          <p:nvPr/>
        </p:nvSpPr>
        <p:spPr>
          <a:xfrm>
            <a:off x="28716225" y="6297348"/>
            <a:ext cx="57600" cy="57600"/>
          </a:xfrm>
          <a:prstGeom prst="ellipse">
            <a:avLst/>
          </a:prstGeom>
          <a:solidFill>
            <a:srgbClr val="A6A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7" name="Oval 1256"/>
          <p:cNvSpPr/>
          <p:nvPr/>
        </p:nvSpPr>
        <p:spPr>
          <a:xfrm>
            <a:off x="28362825" y="6371464"/>
            <a:ext cx="57600" cy="57600"/>
          </a:xfrm>
          <a:prstGeom prst="ellipse">
            <a:avLst/>
          </a:prstGeom>
          <a:solidFill>
            <a:srgbClr val="A6A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8" name="Oval 1257"/>
          <p:cNvSpPr/>
          <p:nvPr/>
        </p:nvSpPr>
        <p:spPr>
          <a:xfrm>
            <a:off x="28185744" y="5967501"/>
            <a:ext cx="57600" cy="57600"/>
          </a:xfrm>
          <a:prstGeom prst="ellipse">
            <a:avLst/>
          </a:prstGeom>
          <a:solidFill>
            <a:srgbClr val="A6A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59" name="Connector 1258"/>
          <p:cNvCxnSpPr/>
          <p:nvPr/>
        </p:nvCxnSpPr>
        <p:spPr>
          <a:xfrm>
            <a:off x="12096000" y="6948000"/>
            <a:ext cx="17316000" cy="0"/>
          </a:xfrm>
          <a:prstGeom prst="line">
            <a:avLst/>
          </a:prstGeom>
          <a:ln w="12700">
            <a:solidFill>
              <a:srgbClr val="142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Rectangle 1259"/>
          <p:cNvSpPr/>
          <p:nvPr/>
        </p:nvSpPr>
        <p:spPr>
          <a:xfrm>
            <a:off x="12096000" y="6948000"/>
            <a:ext cx="17316000" cy="1224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61" name="Rounded Rectangle 1260"/>
          <p:cNvSpPr/>
          <p:nvPr/>
        </p:nvSpPr>
        <p:spPr>
          <a:xfrm>
            <a:off x="12132000" y="7398000"/>
            <a:ext cx="432000" cy="324000"/>
          </a:xfrm>
          <a:prstGeom prst="roundRect">
            <a:avLst>
              <a:gd name="adj" fmla="val 16666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Palatino Linotype"/>
              </a:rPr>
              <a:t>D1</a:t>
            </a:r>
          </a:p>
        </p:txBody>
      </p:sp>
      <p:sp>
        <p:nvSpPr>
          <p:cNvPr id="1262" name="TextBox 1261"/>
          <p:cNvSpPr txBox="1"/>
          <p:nvPr/>
        </p:nvSpPr>
        <p:spPr>
          <a:xfrm>
            <a:off x="12636000" y="6984000"/>
            <a:ext cx="3672000" cy="1152000"/>
          </a:xfrm>
          <a:prstGeom prst="rect">
            <a:avLst/>
          </a:prstGeom>
          <a:noFill/>
        </p:spPr>
        <p:txBody>
          <a:bodyPr wrap="square" lIns="18000" tIns="28800" rIns="18000" bIns="2880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Segoe UI"/>
              </a:rPr>
              <a:t>Character accuracy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1">
                <a:solidFill>
                  <a:srgbClr val="5B6B85"/>
                </a:solidFill>
                <a:latin typeface="Segoe UI"/>
              </a:rPr>
              <a:t>How much of the page came back right?</a:t>
            </a:r>
          </a:p>
        </p:txBody>
      </p:sp>
      <p:sp>
        <p:nvSpPr>
          <p:cNvPr id="1263" name="Rectangle 1262"/>
          <p:cNvSpPr/>
          <p:nvPr/>
        </p:nvSpPr>
        <p:spPr>
          <a:xfrm>
            <a:off x="16416000" y="7416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64" name="Rectangle 1263"/>
          <p:cNvSpPr/>
          <p:nvPr/>
        </p:nvSpPr>
        <p:spPr>
          <a:xfrm>
            <a:off x="16416000" y="7416000"/>
            <a:ext cx="748482" cy="2880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65" name="TextBox 1264"/>
          <p:cNvSpPr txBox="1"/>
          <p:nvPr/>
        </p:nvSpPr>
        <p:spPr>
          <a:xfrm>
            <a:off x="17347500" y="7380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 dirty="0">
                <a:solidFill>
                  <a:srgbClr val="14213D"/>
                </a:solidFill>
                <a:latin typeface="Bahnschrift"/>
              </a:rPr>
              <a:t>0.82</a:t>
            </a:r>
          </a:p>
        </p:txBody>
      </p:sp>
      <p:sp>
        <p:nvSpPr>
          <p:cNvPr id="1266" name="Rectangle 1265"/>
          <p:cNvSpPr/>
          <p:nvPr/>
        </p:nvSpPr>
        <p:spPr>
          <a:xfrm>
            <a:off x="18049500" y="7416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67" name="Rectangle 1266"/>
          <p:cNvSpPr/>
          <p:nvPr/>
        </p:nvSpPr>
        <p:spPr>
          <a:xfrm>
            <a:off x="18049500" y="7416000"/>
            <a:ext cx="749382" cy="288000"/>
          </a:xfrm>
          <a:prstGeom prst="rect">
            <a:avLst/>
          </a:prstGeom>
          <a:solidFill>
            <a:srgbClr val="8BD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68" name="TextBox 1267"/>
          <p:cNvSpPr txBox="1"/>
          <p:nvPr/>
        </p:nvSpPr>
        <p:spPr>
          <a:xfrm>
            <a:off x="18981000" y="7380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 dirty="0">
                <a:solidFill>
                  <a:srgbClr val="D9622B"/>
                </a:solidFill>
                <a:latin typeface="Bahnschrift"/>
              </a:rPr>
              <a:t>0.82</a:t>
            </a:r>
          </a:p>
        </p:txBody>
      </p:sp>
      <p:sp>
        <p:nvSpPr>
          <p:cNvPr id="1269" name="Rectangle 1268"/>
          <p:cNvSpPr/>
          <p:nvPr/>
        </p:nvSpPr>
        <p:spPr>
          <a:xfrm>
            <a:off x="19683000" y="7416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0" name="Rectangle 1269"/>
          <p:cNvSpPr/>
          <p:nvPr/>
        </p:nvSpPr>
        <p:spPr>
          <a:xfrm>
            <a:off x="19683000" y="7416000"/>
            <a:ext cx="712860" cy="2880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1" name="TextBox 1270"/>
          <p:cNvSpPr txBox="1"/>
          <p:nvPr/>
        </p:nvSpPr>
        <p:spPr>
          <a:xfrm>
            <a:off x="20614500" y="7380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0.78</a:t>
            </a:r>
          </a:p>
        </p:txBody>
      </p:sp>
      <p:sp>
        <p:nvSpPr>
          <p:cNvPr id="1272" name="Rectangle 1271"/>
          <p:cNvSpPr/>
          <p:nvPr/>
        </p:nvSpPr>
        <p:spPr>
          <a:xfrm>
            <a:off x="21316500" y="7416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3" name="Rectangle 1272"/>
          <p:cNvSpPr/>
          <p:nvPr/>
        </p:nvSpPr>
        <p:spPr>
          <a:xfrm>
            <a:off x="21316500" y="7416000"/>
            <a:ext cx="605105" cy="288000"/>
          </a:xfrm>
          <a:prstGeom prst="rect">
            <a:avLst/>
          </a:prstGeom>
          <a:solidFill>
            <a:srgbClr val="6C9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4" name="TextBox 1273"/>
          <p:cNvSpPr txBox="1"/>
          <p:nvPr/>
        </p:nvSpPr>
        <p:spPr>
          <a:xfrm>
            <a:off x="22248000" y="7380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0.66</a:t>
            </a:r>
          </a:p>
        </p:txBody>
      </p:sp>
      <p:sp>
        <p:nvSpPr>
          <p:cNvPr id="1275" name="Rectangle 1274"/>
          <p:cNvSpPr/>
          <p:nvPr/>
        </p:nvSpPr>
        <p:spPr>
          <a:xfrm>
            <a:off x="22950000" y="7416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6" name="Rectangle 1275"/>
          <p:cNvSpPr/>
          <p:nvPr/>
        </p:nvSpPr>
        <p:spPr>
          <a:xfrm>
            <a:off x="22950000" y="7416000"/>
            <a:ext cx="614369" cy="288000"/>
          </a:xfrm>
          <a:prstGeom prst="rect">
            <a:avLst/>
          </a:prstGeom>
          <a:solidFill>
            <a:srgbClr val="63B7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7" name="TextBox 1276"/>
          <p:cNvSpPr txBox="1"/>
          <p:nvPr/>
        </p:nvSpPr>
        <p:spPr>
          <a:xfrm>
            <a:off x="23881500" y="7380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0.67</a:t>
            </a:r>
          </a:p>
        </p:txBody>
      </p:sp>
      <p:sp>
        <p:nvSpPr>
          <p:cNvPr id="1278" name="Rectangle 1277"/>
          <p:cNvSpPr/>
          <p:nvPr/>
        </p:nvSpPr>
        <p:spPr>
          <a:xfrm>
            <a:off x="24583500" y="7416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9" name="Rectangle 1278"/>
          <p:cNvSpPr/>
          <p:nvPr/>
        </p:nvSpPr>
        <p:spPr>
          <a:xfrm>
            <a:off x="24583500" y="7416000"/>
            <a:ext cx="499356" cy="288000"/>
          </a:xfrm>
          <a:prstGeom prst="rect">
            <a:avLst/>
          </a:prstGeom>
          <a:solidFill>
            <a:srgbClr val="7B6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80" name="TextBox 1279"/>
          <p:cNvSpPr txBox="1"/>
          <p:nvPr/>
        </p:nvSpPr>
        <p:spPr>
          <a:xfrm>
            <a:off x="25515000" y="7380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0.55</a:t>
            </a:r>
          </a:p>
        </p:txBody>
      </p:sp>
      <p:sp>
        <p:nvSpPr>
          <p:cNvPr id="1281" name="Rectangle 1280"/>
          <p:cNvSpPr/>
          <p:nvPr/>
        </p:nvSpPr>
        <p:spPr>
          <a:xfrm>
            <a:off x="26217000" y="7416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82" name="Rectangle 1281"/>
          <p:cNvSpPr/>
          <p:nvPr/>
        </p:nvSpPr>
        <p:spPr>
          <a:xfrm>
            <a:off x="26217000" y="7416000"/>
            <a:ext cx="363603" cy="288000"/>
          </a:xfrm>
          <a:prstGeom prst="rect">
            <a:avLst/>
          </a:prstGeom>
          <a:solidFill>
            <a:srgbClr val="5C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83" name="TextBox 1282"/>
          <p:cNvSpPr txBox="1"/>
          <p:nvPr/>
        </p:nvSpPr>
        <p:spPr>
          <a:xfrm>
            <a:off x="27148500" y="7380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0.40</a:t>
            </a:r>
          </a:p>
        </p:txBody>
      </p:sp>
      <p:sp>
        <p:nvSpPr>
          <p:cNvPr id="1284" name="Rectangle 1283"/>
          <p:cNvSpPr/>
          <p:nvPr/>
        </p:nvSpPr>
        <p:spPr>
          <a:xfrm>
            <a:off x="27850500" y="7416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85" name="Rectangle 1284"/>
          <p:cNvSpPr/>
          <p:nvPr/>
        </p:nvSpPr>
        <p:spPr>
          <a:xfrm>
            <a:off x="27850500" y="7416000"/>
            <a:ext cx="309200" cy="288000"/>
          </a:xfrm>
          <a:prstGeom prst="rect">
            <a:avLst/>
          </a:prstGeom>
          <a:solidFill>
            <a:srgbClr val="A6A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86" name="TextBox 1285"/>
          <p:cNvSpPr txBox="1"/>
          <p:nvPr/>
        </p:nvSpPr>
        <p:spPr>
          <a:xfrm>
            <a:off x="28782000" y="7380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0.34</a:t>
            </a:r>
          </a:p>
        </p:txBody>
      </p:sp>
      <p:cxnSp>
        <p:nvCxnSpPr>
          <p:cNvPr id="1287" name="Connector 1286"/>
          <p:cNvCxnSpPr/>
          <p:nvPr/>
        </p:nvCxnSpPr>
        <p:spPr>
          <a:xfrm>
            <a:off x="12096000" y="8172000"/>
            <a:ext cx="17316000" cy="0"/>
          </a:xfrm>
          <a:prstGeom prst="line">
            <a:avLst/>
          </a:prstGeom>
          <a:ln w="6350">
            <a:solidFill>
              <a:srgbClr val="CBD6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8" name="Rounded Rectangle 1287"/>
          <p:cNvSpPr/>
          <p:nvPr/>
        </p:nvSpPr>
        <p:spPr>
          <a:xfrm>
            <a:off x="12132000" y="8622000"/>
            <a:ext cx="432000" cy="324000"/>
          </a:xfrm>
          <a:prstGeom prst="roundRect">
            <a:avLst>
              <a:gd name="adj" fmla="val 16666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Palatino Linotype"/>
              </a:rPr>
              <a:t>D2</a:t>
            </a:r>
          </a:p>
        </p:txBody>
      </p:sp>
      <p:sp>
        <p:nvSpPr>
          <p:cNvPr id="1289" name="TextBox 1288"/>
          <p:cNvSpPr txBox="1"/>
          <p:nvPr/>
        </p:nvSpPr>
        <p:spPr>
          <a:xfrm>
            <a:off x="12636000" y="8208000"/>
            <a:ext cx="3672000" cy="1152000"/>
          </a:xfrm>
          <a:prstGeom prst="rect">
            <a:avLst/>
          </a:prstGeom>
          <a:noFill/>
        </p:spPr>
        <p:txBody>
          <a:bodyPr wrap="square" lIns="18000" tIns="28800" rIns="18000" bIns="2880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Segoe UI"/>
              </a:rPr>
              <a:t>Word accuracy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1">
                <a:solidFill>
                  <a:srgbClr val="5B6B85"/>
                </a:solidFill>
                <a:latin typeface="Segoe UI"/>
              </a:rPr>
              <a:t>How many of the page's words came back right?</a:t>
            </a:r>
          </a:p>
        </p:txBody>
      </p:sp>
      <p:sp>
        <p:nvSpPr>
          <p:cNvPr id="1290" name="Rectangle 1289"/>
          <p:cNvSpPr/>
          <p:nvPr/>
        </p:nvSpPr>
        <p:spPr>
          <a:xfrm>
            <a:off x="16416000" y="8640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91" name="Rectangle 1290"/>
          <p:cNvSpPr/>
          <p:nvPr/>
        </p:nvSpPr>
        <p:spPr>
          <a:xfrm>
            <a:off x="16416000" y="8640000"/>
            <a:ext cx="570773" cy="2880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92" name="TextBox 1291"/>
          <p:cNvSpPr txBox="1"/>
          <p:nvPr/>
        </p:nvSpPr>
        <p:spPr>
          <a:xfrm>
            <a:off x="17347500" y="8604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Bahnschrift"/>
              </a:rPr>
              <a:t>0.62</a:t>
            </a:r>
          </a:p>
        </p:txBody>
      </p:sp>
      <p:sp>
        <p:nvSpPr>
          <p:cNvPr id="1293" name="Rectangle 1292"/>
          <p:cNvSpPr/>
          <p:nvPr/>
        </p:nvSpPr>
        <p:spPr>
          <a:xfrm>
            <a:off x="18049500" y="8640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94" name="Rectangle 1293"/>
          <p:cNvSpPr/>
          <p:nvPr/>
        </p:nvSpPr>
        <p:spPr>
          <a:xfrm>
            <a:off x="18049500" y="8640000"/>
            <a:ext cx="530374" cy="288000"/>
          </a:xfrm>
          <a:prstGeom prst="rect">
            <a:avLst/>
          </a:prstGeom>
          <a:solidFill>
            <a:srgbClr val="8BD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95" name="TextBox 1294"/>
          <p:cNvSpPr txBox="1"/>
          <p:nvPr/>
        </p:nvSpPr>
        <p:spPr>
          <a:xfrm>
            <a:off x="18981000" y="8604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0.58</a:t>
            </a:r>
          </a:p>
        </p:txBody>
      </p:sp>
      <p:sp>
        <p:nvSpPr>
          <p:cNvPr id="1296" name="Rectangle 1295"/>
          <p:cNvSpPr/>
          <p:nvPr/>
        </p:nvSpPr>
        <p:spPr>
          <a:xfrm>
            <a:off x="19683000" y="8640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97" name="Rectangle 1296"/>
          <p:cNvSpPr/>
          <p:nvPr/>
        </p:nvSpPr>
        <p:spPr>
          <a:xfrm>
            <a:off x="19683000" y="8640000"/>
            <a:ext cx="464109" cy="2880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98" name="TextBox 1297"/>
          <p:cNvSpPr txBox="1"/>
          <p:nvPr/>
        </p:nvSpPr>
        <p:spPr>
          <a:xfrm>
            <a:off x="20614500" y="8604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0.51</a:t>
            </a:r>
          </a:p>
        </p:txBody>
      </p:sp>
      <p:sp>
        <p:nvSpPr>
          <p:cNvPr id="1299" name="Rectangle 1298"/>
          <p:cNvSpPr/>
          <p:nvPr/>
        </p:nvSpPr>
        <p:spPr>
          <a:xfrm>
            <a:off x="21316500" y="8640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00" name="Rectangle 1299"/>
          <p:cNvSpPr/>
          <p:nvPr/>
        </p:nvSpPr>
        <p:spPr>
          <a:xfrm>
            <a:off x="21316500" y="8640000"/>
            <a:ext cx="354627" cy="288000"/>
          </a:xfrm>
          <a:prstGeom prst="rect">
            <a:avLst/>
          </a:prstGeom>
          <a:solidFill>
            <a:srgbClr val="6C9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01" name="TextBox 1300"/>
          <p:cNvSpPr txBox="1"/>
          <p:nvPr/>
        </p:nvSpPr>
        <p:spPr>
          <a:xfrm>
            <a:off x="22248000" y="8604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0.39</a:t>
            </a:r>
          </a:p>
        </p:txBody>
      </p:sp>
      <p:sp>
        <p:nvSpPr>
          <p:cNvPr id="1302" name="Rectangle 1301"/>
          <p:cNvSpPr/>
          <p:nvPr/>
        </p:nvSpPr>
        <p:spPr>
          <a:xfrm>
            <a:off x="22950000" y="8640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03" name="Rectangle 1302"/>
          <p:cNvSpPr/>
          <p:nvPr/>
        </p:nvSpPr>
        <p:spPr>
          <a:xfrm>
            <a:off x="22950000" y="8640000"/>
            <a:ext cx="191844" cy="288000"/>
          </a:xfrm>
          <a:prstGeom prst="rect">
            <a:avLst/>
          </a:prstGeom>
          <a:solidFill>
            <a:srgbClr val="63B7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04" name="TextBox 1303"/>
          <p:cNvSpPr txBox="1"/>
          <p:nvPr/>
        </p:nvSpPr>
        <p:spPr>
          <a:xfrm>
            <a:off x="23881500" y="8604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0.21</a:t>
            </a:r>
          </a:p>
        </p:txBody>
      </p:sp>
      <p:sp>
        <p:nvSpPr>
          <p:cNvPr id="1305" name="Rectangle 1304"/>
          <p:cNvSpPr/>
          <p:nvPr/>
        </p:nvSpPr>
        <p:spPr>
          <a:xfrm>
            <a:off x="24583500" y="8640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06" name="Rectangle 1305"/>
          <p:cNvSpPr/>
          <p:nvPr/>
        </p:nvSpPr>
        <p:spPr>
          <a:xfrm>
            <a:off x="24583500" y="8640000"/>
            <a:ext cx="113490" cy="288000"/>
          </a:xfrm>
          <a:prstGeom prst="rect">
            <a:avLst/>
          </a:prstGeom>
          <a:solidFill>
            <a:srgbClr val="7B6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07" name="TextBox 1306"/>
          <p:cNvSpPr txBox="1"/>
          <p:nvPr/>
        </p:nvSpPr>
        <p:spPr>
          <a:xfrm>
            <a:off x="25515000" y="8604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0.12</a:t>
            </a:r>
          </a:p>
        </p:txBody>
      </p:sp>
      <p:sp>
        <p:nvSpPr>
          <p:cNvPr id="1308" name="Rectangle 1307"/>
          <p:cNvSpPr/>
          <p:nvPr/>
        </p:nvSpPr>
        <p:spPr>
          <a:xfrm>
            <a:off x="26217000" y="8640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09" name="Rectangle 1308"/>
          <p:cNvSpPr/>
          <p:nvPr/>
        </p:nvSpPr>
        <p:spPr>
          <a:xfrm>
            <a:off x="26217000" y="8640000"/>
            <a:ext cx="150068" cy="288000"/>
          </a:xfrm>
          <a:prstGeom prst="rect">
            <a:avLst/>
          </a:prstGeom>
          <a:solidFill>
            <a:srgbClr val="5C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10" name="TextBox 1309"/>
          <p:cNvSpPr txBox="1"/>
          <p:nvPr/>
        </p:nvSpPr>
        <p:spPr>
          <a:xfrm>
            <a:off x="27148500" y="8604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0.16</a:t>
            </a:r>
          </a:p>
        </p:txBody>
      </p:sp>
      <p:sp>
        <p:nvSpPr>
          <p:cNvPr id="1311" name="Rectangle 1310"/>
          <p:cNvSpPr/>
          <p:nvPr/>
        </p:nvSpPr>
        <p:spPr>
          <a:xfrm>
            <a:off x="27850500" y="8640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12" name="Rectangle 1311"/>
          <p:cNvSpPr/>
          <p:nvPr/>
        </p:nvSpPr>
        <p:spPr>
          <a:xfrm>
            <a:off x="27850500" y="8640000"/>
            <a:ext cx="59125" cy="288000"/>
          </a:xfrm>
          <a:prstGeom prst="rect">
            <a:avLst/>
          </a:prstGeom>
          <a:solidFill>
            <a:srgbClr val="A6A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13" name="TextBox 1312"/>
          <p:cNvSpPr txBox="1"/>
          <p:nvPr/>
        </p:nvSpPr>
        <p:spPr>
          <a:xfrm>
            <a:off x="28782000" y="8604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0.06</a:t>
            </a:r>
          </a:p>
        </p:txBody>
      </p:sp>
      <p:cxnSp>
        <p:nvCxnSpPr>
          <p:cNvPr id="1314" name="Connector 1313"/>
          <p:cNvCxnSpPr/>
          <p:nvPr/>
        </p:nvCxnSpPr>
        <p:spPr>
          <a:xfrm>
            <a:off x="12096000" y="9396000"/>
            <a:ext cx="17316000" cy="0"/>
          </a:xfrm>
          <a:prstGeom prst="line">
            <a:avLst/>
          </a:prstGeom>
          <a:ln w="6350">
            <a:solidFill>
              <a:srgbClr val="CBD6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5" name="Rectangle 1314"/>
          <p:cNvSpPr/>
          <p:nvPr/>
        </p:nvSpPr>
        <p:spPr>
          <a:xfrm>
            <a:off x="12096000" y="9396000"/>
            <a:ext cx="17316000" cy="1224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16" name="Rounded Rectangle 1315"/>
          <p:cNvSpPr/>
          <p:nvPr/>
        </p:nvSpPr>
        <p:spPr>
          <a:xfrm>
            <a:off x="12132000" y="9846000"/>
            <a:ext cx="432000" cy="324000"/>
          </a:xfrm>
          <a:prstGeom prst="roundRect">
            <a:avLst>
              <a:gd name="adj" fmla="val 16666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Palatino Linotype"/>
              </a:rPr>
              <a:t>D3</a:t>
            </a:r>
          </a:p>
        </p:txBody>
      </p:sp>
      <p:sp>
        <p:nvSpPr>
          <p:cNvPr id="1317" name="TextBox 1316"/>
          <p:cNvSpPr txBox="1"/>
          <p:nvPr/>
        </p:nvSpPr>
        <p:spPr>
          <a:xfrm>
            <a:off x="12636000" y="9432000"/>
            <a:ext cx="3672000" cy="1152000"/>
          </a:xfrm>
          <a:prstGeom prst="rect">
            <a:avLst/>
          </a:prstGeom>
          <a:noFill/>
        </p:spPr>
        <p:txBody>
          <a:bodyPr wrap="square" lIns="18000" tIns="28800" rIns="18000" bIns="2880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Segoe UI"/>
              </a:rPr>
              <a:t>Diplomatic fidelity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1">
                <a:solidFill>
                  <a:srgbClr val="5B6B85"/>
                </a:solidFill>
                <a:latin typeface="Segoe UI"/>
              </a:rPr>
              <a:t>Is the text kept as written – letter forms, punctuation, capitals?</a:t>
            </a:r>
          </a:p>
        </p:txBody>
      </p:sp>
      <p:sp>
        <p:nvSpPr>
          <p:cNvPr id="1318" name="Rectangle 1317"/>
          <p:cNvSpPr/>
          <p:nvPr/>
        </p:nvSpPr>
        <p:spPr>
          <a:xfrm>
            <a:off x="16416000" y="9864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19" name="Rectangle 1318"/>
          <p:cNvSpPr/>
          <p:nvPr/>
        </p:nvSpPr>
        <p:spPr>
          <a:xfrm>
            <a:off x="16416000" y="9864000"/>
            <a:ext cx="632811" cy="2880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0" name="TextBox 1319"/>
          <p:cNvSpPr txBox="1"/>
          <p:nvPr/>
        </p:nvSpPr>
        <p:spPr>
          <a:xfrm>
            <a:off x="17347500" y="9828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Bahnschrift"/>
              </a:rPr>
              <a:t>0.69</a:t>
            </a:r>
          </a:p>
        </p:txBody>
      </p:sp>
      <p:sp>
        <p:nvSpPr>
          <p:cNvPr id="1321" name="Rectangle 1320"/>
          <p:cNvSpPr/>
          <p:nvPr/>
        </p:nvSpPr>
        <p:spPr>
          <a:xfrm>
            <a:off x="18049500" y="9864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2" name="Rectangle 1321"/>
          <p:cNvSpPr/>
          <p:nvPr/>
        </p:nvSpPr>
        <p:spPr>
          <a:xfrm>
            <a:off x="18049500" y="9864000"/>
            <a:ext cx="510512" cy="288000"/>
          </a:xfrm>
          <a:prstGeom prst="rect">
            <a:avLst/>
          </a:prstGeom>
          <a:solidFill>
            <a:srgbClr val="8BD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3" name="TextBox 1322"/>
          <p:cNvSpPr txBox="1"/>
          <p:nvPr/>
        </p:nvSpPr>
        <p:spPr>
          <a:xfrm>
            <a:off x="18981000" y="9828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0.56</a:t>
            </a:r>
          </a:p>
        </p:txBody>
      </p:sp>
      <p:sp>
        <p:nvSpPr>
          <p:cNvPr id="1324" name="Rectangle 1323"/>
          <p:cNvSpPr/>
          <p:nvPr/>
        </p:nvSpPr>
        <p:spPr>
          <a:xfrm>
            <a:off x="19683000" y="9864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5" name="Rectangle 1324"/>
          <p:cNvSpPr/>
          <p:nvPr/>
        </p:nvSpPr>
        <p:spPr>
          <a:xfrm>
            <a:off x="19683000" y="9864000"/>
            <a:ext cx="470148" cy="2880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6" name="TextBox 1325"/>
          <p:cNvSpPr txBox="1"/>
          <p:nvPr/>
        </p:nvSpPr>
        <p:spPr>
          <a:xfrm>
            <a:off x="20614500" y="9828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0.51</a:t>
            </a:r>
          </a:p>
        </p:txBody>
      </p:sp>
      <p:sp>
        <p:nvSpPr>
          <p:cNvPr id="1327" name="Rectangle 1326"/>
          <p:cNvSpPr/>
          <p:nvPr/>
        </p:nvSpPr>
        <p:spPr>
          <a:xfrm>
            <a:off x="21316500" y="9864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8" name="Rectangle 1327"/>
          <p:cNvSpPr/>
          <p:nvPr/>
        </p:nvSpPr>
        <p:spPr>
          <a:xfrm>
            <a:off x="21316500" y="9864000"/>
            <a:ext cx="524256" cy="288000"/>
          </a:xfrm>
          <a:prstGeom prst="rect">
            <a:avLst/>
          </a:prstGeom>
          <a:solidFill>
            <a:srgbClr val="6C9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9" name="TextBox 1328"/>
          <p:cNvSpPr txBox="1"/>
          <p:nvPr/>
        </p:nvSpPr>
        <p:spPr>
          <a:xfrm>
            <a:off x="22248000" y="9828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0.57</a:t>
            </a:r>
          </a:p>
        </p:txBody>
      </p:sp>
      <p:sp>
        <p:nvSpPr>
          <p:cNvPr id="1330" name="Rectangle 1329"/>
          <p:cNvSpPr/>
          <p:nvPr/>
        </p:nvSpPr>
        <p:spPr>
          <a:xfrm>
            <a:off x="22950000" y="9864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31" name="Rectangle 1330"/>
          <p:cNvSpPr/>
          <p:nvPr/>
        </p:nvSpPr>
        <p:spPr>
          <a:xfrm>
            <a:off x="22950000" y="9864000"/>
            <a:ext cx="425157" cy="288000"/>
          </a:xfrm>
          <a:prstGeom prst="rect">
            <a:avLst/>
          </a:prstGeom>
          <a:solidFill>
            <a:srgbClr val="63B7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32" name="TextBox 1331"/>
          <p:cNvSpPr txBox="1"/>
          <p:nvPr/>
        </p:nvSpPr>
        <p:spPr>
          <a:xfrm>
            <a:off x="23881500" y="9828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0.47</a:t>
            </a:r>
          </a:p>
        </p:txBody>
      </p:sp>
      <p:sp>
        <p:nvSpPr>
          <p:cNvPr id="1333" name="Rectangle 1332"/>
          <p:cNvSpPr/>
          <p:nvPr/>
        </p:nvSpPr>
        <p:spPr>
          <a:xfrm>
            <a:off x="24583500" y="9864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34" name="Rectangle 1333"/>
          <p:cNvSpPr/>
          <p:nvPr/>
        </p:nvSpPr>
        <p:spPr>
          <a:xfrm>
            <a:off x="24583500" y="9864000"/>
            <a:ext cx="476476" cy="288000"/>
          </a:xfrm>
          <a:prstGeom prst="rect">
            <a:avLst/>
          </a:prstGeom>
          <a:solidFill>
            <a:srgbClr val="7B6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35" name="TextBox 1334"/>
          <p:cNvSpPr txBox="1"/>
          <p:nvPr/>
        </p:nvSpPr>
        <p:spPr>
          <a:xfrm>
            <a:off x="25515000" y="9828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0.52</a:t>
            </a:r>
          </a:p>
        </p:txBody>
      </p:sp>
      <p:sp>
        <p:nvSpPr>
          <p:cNvPr id="1336" name="Rectangle 1335"/>
          <p:cNvSpPr/>
          <p:nvPr/>
        </p:nvSpPr>
        <p:spPr>
          <a:xfrm>
            <a:off x="26217000" y="9864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37" name="Rectangle 1336"/>
          <p:cNvSpPr/>
          <p:nvPr/>
        </p:nvSpPr>
        <p:spPr>
          <a:xfrm>
            <a:off x="26217000" y="9864000"/>
            <a:ext cx="394593" cy="288000"/>
          </a:xfrm>
          <a:prstGeom prst="rect">
            <a:avLst/>
          </a:prstGeom>
          <a:solidFill>
            <a:srgbClr val="5C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38" name="TextBox 1337"/>
          <p:cNvSpPr txBox="1"/>
          <p:nvPr/>
        </p:nvSpPr>
        <p:spPr>
          <a:xfrm>
            <a:off x="27148500" y="9828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0.43</a:t>
            </a:r>
          </a:p>
        </p:txBody>
      </p:sp>
      <p:sp>
        <p:nvSpPr>
          <p:cNvPr id="1339" name="Rectangle 1338"/>
          <p:cNvSpPr/>
          <p:nvPr/>
        </p:nvSpPr>
        <p:spPr>
          <a:xfrm>
            <a:off x="27850500" y="9864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40" name="Rectangle 1339"/>
          <p:cNvSpPr/>
          <p:nvPr/>
        </p:nvSpPr>
        <p:spPr>
          <a:xfrm>
            <a:off x="27850500" y="9864000"/>
            <a:ext cx="391872" cy="288000"/>
          </a:xfrm>
          <a:prstGeom prst="rect">
            <a:avLst/>
          </a:prstGeom>
          <a:solidFill>
            <a:srgbClr val="A6A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41" name="TextBox 1340"/>
          <p:cNvSpPr txBox="1"/>
          <p:nvPr/>
        </p:nvSpPr>
        <p:spPr>
          <a:xfrm>
            <a:off x="28782000" y="9828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0.43</a:t>
            </a:r>
          </a:p>
        </p:txBody>
      </p:sp>
      <p:cxnSp>
        <p:nvCxnSpPr>
          <p:cNvPr id="1342" name="Connector 1341"/>
          <p:cNvCxnSpPr/>
          <p:nvPr/>
        </p:nvCxnSpPr>
        <p:spPr>
          <a:xfrm>
            <a:off x="12096000" y="10620000"/>
            <a:ext cx="17316000" cy="0"/>
          </a:xfrm>
          <a:prstGeom prst="line">
            <a:avLst/>
          </a:prstGeom>
          <a:ln w="6350">
            <a:solidFill>
              <a:srgbClr val="CBD6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3" name="Rounded Rectangle 1342"/>
          <p:cNvSpPr/>
          <p:nvPr/>
        </p:nvSpPr>
        <p:spPr>
          <a:xfrm>
            <a:off x="12132000" y="11070000"/>
            <a:ext cx="432000" cy="324000"/>
          </a:xfrm>
          <a:prstGeom prst="roundRect">
            <a:avLst>
              <a:gd name="adj" fmla="val 16666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Palatino Linotype"/>
              </a:rPr>
              <a:t>D4</a:t>
            </a:r>
          </a:p>
        </p:txBody>
      </p:sp>
      <p:sp>
        <p:nvSpPr>
          <p:cNvPr id="1344" name="TextBox 1343"/>
          <p:cNvSpPr txBox="1"/>
          <p:nvPr/>
        </p:nvSpPr>
        <p:spPr>
          <a:xfrm>
            <a:off x="12636000" y="10656000"/>
            <a:ext cx="3672000" cy="1152000"/>
          </a:xfrm>
          <a:prstGeom prst="rect">
            <a:avLst/>
          </a:prstGeom>
          <a:noFill/>
        </p:spPr>
        <p:txBody>
          <a:bodyPr wrap="square" lIns="18000" tIns="28800" rIns="18000" bIns="2880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Segoe UI"/>
              </a:rPr>
              <a:t>Content integrity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1">
                <a:solidFill>
                  <a:srgbClr val="5B6B85"/>
                </a:solidFill>
                <a:latin typeface="Segoe UI"/>
              </a:rPr>
              <a:t>Do the mistakes change the meaning – would a reader be misled?</a:t>
            </a:r>
          </a:p>
        </p:txBody>
      </p:sp>
      <p:sp>
        <p:nvSpPr>
          <p:cNvPr id="1345" name="Rectangle 1344"/>
          <p:cNvSpPr/>
          <p:nvPr/>
        </p:nvSpPr>
        <p:spPr>
          <a:xfrm>
            <a:off x="16416000" y="11088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46" name="Rectangle 1345"/>
          <p:cNvSpPr/>
          <p:nvPr/>
        </p:nvSpPr>
        <p:spPr>
          <a:xfrm>
            <a:off x="16416000" y="11088000"/>
            <a:ext cx="720505" cy="2880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47" name="TextBox 1346"/>
          <p:cNvSpPr txBox="1"/>
          <p:nvPr/>
        </p:nvSpPr>
        <p:spPr>
          <a:xfrm>
            <a:off x="17347500" y="11052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Bahnschrift"/>
              </a:rPr>
              <a:t>0.79</a:t>
            </a:r>
          </a:p>
        </p:txBody>
      </p:sp>
      <p:sp>
        <p:nvSpPr>
          <p:cNvPr id="1348" name="Rectangle 1347"/>
          <p:cNvSpPr/>
          <p:nvPr/>
        </p:nvSpPr>
        <p:spPr>
          <a:xfrm>
            <a:off x="18049500" y="11088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49" name="Rectangle 1348"/>
          <p:cNvSpPr/>
          <p:nvPr/>
        </p:nvSpPr>
        <p:spPr>
          <a:xfrm>
            <a:off x="18049500" y="11088000"/>
            <a:ext cx="700967" cy="288000"/>
          </a:xfrm>
          <a:prstGeom prst="rect">
            <a:avLst/>
          </a:prstGeom>
          <a:solidFill>
            <a:srgbClr val="8BD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0" name="TextBox 1349"/>
          <p:cNvSpPr txBox="1"/>
          <p:nvPr/>
        </p:nvSpPr>
        <p:spPr>
          <a:xfrm>
            <a:off x="18981000" y="11052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0.77</a:t>
            </a:r>
          </a:p>
        </p:txBody>
      </p:sp>
      <p:sp>
        <p:nvSpPr>
          <p:cNvPr id="1351" name="Rectangle 1350"/>
          <p:cNvSpPr/>
          <p:nvPr/>
        </p:nvSpPr>
        <p:spPr>
          <a:xfrm>
            <a:off x="19683000" y="11088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2" name="Rectangle 1351"/>
          <p:cNvSpPr/>
          <p:nvPr/>
        </p:nvSpPr>
        <p:spPr>
          <a:xfrm>
            <a:off x="19683000" y="11088000"/>
            <a:ext cx="632443" cy="2880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3" name="TextBox 1352"/>
          <p:cNvSpPr txBox="1"/>
          <p:nvPr/>
        </p:nvSpPr>
        <p:spPr>
          <a:xfrm>
            <a:off x="20614500" y="11052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0.69</a:t>
            </a:r>
          </a:p>
        </p:txBody>
      </p:sp>
      <p:sp>
        <p:nvSpPr>
          <p:cNvPr id="1354" name="Rectangle 1353"/>
          <p:cNvSpPr/>
          <p:nvPr/>
        </p:nvSpPr>
        <p:spPr>
          <a:xfrm>
            <a:off x="21316500" y="11088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5" name="Rectangle 1354"/>
          <p:cNvSpPr/>
          <p:nvPr/>
        </p:nvSpPr>
        <p:spPr>
          <a:xfrm>
            <a:off x="21316500" y="11088000"/>
            <a:ext cx="523619" cy="288000"/>
          </a:xfrm>
          <a:prstGeom prst="rect">
            <a:avLst/>
          </a:prstGeom>
          <a:solidFill>
            <a:srgbClr val="6C9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6" name="TextBox 1355"/>
          <p:cNvSpPr txBox="1"/>
          <p:nvPr/>
        </p:nvSpPr>
        <p:spPr>
          <a:xfrm>
            <a:off x="22248000" y="11052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0.57</a:t>
            </a:r>
          </a:p>
        </p:txBody>
      </p:sp>
      <p:sp>
        <p:nvSpPr>
          <p:cNvPr id="1357" name="Rectangle 1356"/>
          <p:cNvSpPr/>
          <p:nvPr/>
        </p:nvSpPr>
        <p:spPr>
          <a:xfrm>
            <a:off x="22950000" y="11088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8" name="Rectangle 1357"/>
          <p:cNvSpPr/>
          <p:nvPr/>
        </p:nvSpPr>
        <p:spPr>
          <a:xfrm>
            <a:off x="22950000" y="11088000"/>
            <a:ext cx="536570" cy="288000"/>
          </a:xfrm>
          <a:prstGeom prst="rect">
            <a:avLst/>
          </a:prstGeom>
          <a:solidFill>
            <a:srgbClr val="63B7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9" name="TextBox 1358"/>
          <p:cNvSpPr txBox="1"/>
          <p:nvPr/>
        </p:nvSpPr>
        <p:spPr>
          <a:xfrm>
            <a:off x="23881500" y="11052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0.59</a:t>
            </a:r>
          </a:p>
        </p:txBody>
      </p:sp>
      <p:sp>
        <p:nvSpPr>
          <p:cNvPr id="1360" name="Rectangle 1359"/>
          <p:cNvSpPr/>
          <p:nvPr/>
        </p:nvSpPr>
        <p:spPr>
          <a:xfrm>
            <a:off x="24583500" y="11088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1" name="Rectangle 1360"/>
          <p:cNvSpPr/>
          <p:nvPr/>
        </p:nvSpPr>
        <p:spPr>
          <a:xfrm>
            <a:off x="24583500" y="11088000"/>
            <a:ext cx="459336" cy="288000"/>
          </a:xfrm>
          <a:prstGeom prst="rect">
            <a:avLst/>
          </a:prstGeom>
          <a:solidFill>
            <a:srgbClr val="7B6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2" name="TextBox 1361"/>
          <p:cNvSpPr txBox="1"/>
          <p:nvPr/>
        </p:nvSpPr>
        <p:spPr>
          <a:xfrm>
            <a:off x="25515000" y="11052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0.50</a:t>
            </a:r>
          </a:p>
        </p:txBody>
      </p:sp>
      <p:sp>
        <p:nvSpPr>
          <p:cNvPr id="1363" name="Rectangle 1362"/>
          <p:cNvSpPr/>
          <p:nvPr/>
        </p:nvSpPr>
        <p:spPr>
          <a:xfrm>
            <a:off x="26217000" y="11088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4" name="Rectangle 1363"/>
          <p:cNvSpPr/>
          <p:nvPr/>
        </p:nvSpPr>
        <p:spPr>
          <a:xfrm>
            <a:off x="26217000" y="11088000"/>
            <a:ext cx="453428" cy="288000"/>
          </a:xfrm>
          <a:prstGeom prst="rect">
            <a:avLst/>
          </a:prstGeom>
          <a:solidFill>
            <a:srgbClr val="5C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5" name="TextBox 1364"/>
          <p:cNvSpPr txBox="1"/>
          <p:nvPr/>
        </p:nvSpPr>
        <p:spPr>
          <a:xfrm>
            <a:off x="27148500" y="11052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0.50</a:t>
            </a:r>
          </a:p>
        </p:txBody>
      </p:sp>
      <p:sp>
        <p:nvSpPr>
          <p:cNvPr id="1366" name="Rectangle 1365"/>
          <p:cNvSpPr/>
          <p:nvPr/>
        </p:nvSpPr>
        <p:spPr>
          <a:xfrm>
            <a:off x="27850500" y="11088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7" name="Rectangle 1366"/>
          <p:cNvSpPr/>
          <p:nvPr/>
        </p:nvSpPr>
        <p:spPr>
          <a:xfrm>
            <a:off x="27850500" y="11088000"/>
            <a:ext cx="532761" cy="288000"/>
          </a:xfrm>
          <a:prstGeom prst="rect">
            <a:avLst/>
          </a:prstGeom>
          <a:solidFill>
            <a:srgbClr val="A6A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8" name="TextBox 1367"/>
          <p:cNvSpPr txBox="1"/>
          <p:nvPr/>
        </p:nvSpPr>
        <p:spPr>
          <a:xfrm>
            <a:off x="28782000" y="11052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0.58</a:t>
            </a:r>
          </a:p>
        </p:txBody>
      </p:sp>
      <p:cxnSp>
        <p:nvCxnSpPr>
          <p:cNvPr id="1369" name="Connector 1368"/>
          <p:cNvCxnSpPr/>
          <p:nvPr/>
        </p:nvCxnSpPr>
        <p:spPr>
          <a:xfrm>
            <a:off x="12096000" y="11844000"/>
            <a:ext cx="17316000" cy="0"/>
          </a:xfrm>
          <a:prstGeom prst="line">
            <a:avLst/>
          </a:prstGeom>
          <a:ln w="6350">
            <a:solidFill>
              <a:srgbClr val="CBD6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0" name="Rectangle 1369"/>
          <p:cNvSpPr/>
          <p:nvPr/>
        </p:nvSpPr>
        <p:spPr>
          <a:xfrm>
            <a:off x="12096000" y="11844000"/>
            <a:ext cx="17316000" cy="1224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71" name="Rounded Rectangle 1370"/>
          <p:cNvSpPr/>
          <p:nvPr/>
        </p:nvSpPr>
        <p:spPr>
          <a:xfrm>
            <a:off x="12132000" y="12294000"/>
            <a:ext cx="432000" cy="324000"/>
          </a:xfrm>
          <a:prstGeom prst="roundRect">
            <a:avLst>
              <a:gd name="adj" fmla="val 16666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Palatino Linotype"/>
              </a:rPr>
              <a:t>D5</a:t>
            </a:r>
          </a:p>
        </p:txBody>
      </p:sp>
      <p:sp>
        <p:nvSpPr>
          <p:cNvPr id="1372" name="TextBox 1371"/>
          <p:cNvSpPr txBox="1"/>
          <p:nvPr/>
        </p:nvSpPr>
        <p:spPr>
          <a:xfrm>
            <a:off x="12636000" y="11880000"/>
            <a:ext cx="3672000" cy="1152000"/>
          </a:xfrm>
          <a:prstGeom prst="rect">
            <a:avLst/>
          </a:prstGeom>
          <a:noFill/>
        </p:spPr>
        <p:txBody>
          <a:bodyPr wrap="square" lIns="18000" tIns="28800" rIns="18000" bIns="2880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Segoe UI"/>
              </a:rPr>
              <a:t>Efficiency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1">
                <a:solidFill>
                  <a:srgbClr val="5B6B85"/>
                </a:solidFill>
                <a:latin typeface="Segoe UI"/>
              </a:rPr>
              <a:t>What does a page cost – in time, hardware and money?</a:t>
            </a:r>
          </a:p>
        </p:txBody>
      </p:sp>
      <p:sp>
        <p:nvSpPr>
          <p:cNvPr id="1373" name="Rectangle 1372"/>
          <p:cNvSpPr/>
          <p:nvPr/>
        </p:nvSpPr>
        <p:spPr>
          <a:xfrm>
            <a:off x="16416000" y="12312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74" name="Rectangle 1373"/>
          <p:cNvSpPr/>
          <p:nvPr/>
        </p:nvSpPr>
        <p:spPr>
          <a:xfrm>
            <a:off x="16416000" y="12312000"/>
            <a:ext cx="511521" cy="288000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75" name="TextBox 1374"/>
          <p:cNvSpPr txBox="1"/>
          <p:nvPr/>
        </p:nvSpPr>
        <p:spPr>
          <a:xfrm>
            <a:off x="17347500" y="12276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0.56</a:t>
            </a:r>
          </a:p>
        </p:txBody>
      </p:sp>
      <p:sp>
        <p:nvSpPr>
          <p:cNvPr id="1376" name="Rectangle 1375"/>
          <p:cNvSpPr/>
          <p:nvPr/>
        </p:nvSpPr>
        <p:spPr>
          <a:xfrm>
            <a:off x="18049500" y="12312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77" name="Rectangle 1376"/>
          <p:cNvSpPr/>
          <p:nvPr/>
        </p:nvSpPr>
        <p:spPr>
          <a:xfrm>
            <a:off x="18049500" y="12312000"/>
            <a:ext cx="286082" cy="288000"/>
          </a:xfrm>
          <a:prstGeom prst="rect">
            <a:avLst/>
          </a:prstGeom>
          <a:solidFill>
            <a:srgbClr val="8BD0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78" name="TextBox 1377"/>
          <p:cNvSpPr txBox="1"/>
          <p:nvPr/>
        </p:nvSpPr>
        <p:spPr>
          <a:xfrm>
            <a:off x="18981000" y="12276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0.31</a:t>
            </a:r>
          </a:p>
        </p:txBody>
      </p:sp>
      <p:sp>
        <p:nvSpPr>
          <p:cNvPr id="1379" name="Rectangle 1378"/>
          <p:cNvSpPr/>
          <p:nvPr/>
        </p:nvSpPr>
        <p:spPr>
          <a:xfrm>
            <a:off x="19683000" y="12312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80" name="Rectangle 1379"/>
          <p:cNvSpPr/>
          <p:nvPr/>
        </p:nvSpPr>
        <p:spPr>
          <a:xfrm>
            <a:off x="19683000" y="12312000"/>
            <a:ext cx="257276" cy="28800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81" name="TextBox 1380"/>
          <p:cNvSpPr txBox="1"/>
          <p:nvPr/>
        </p:nvSpPr>
        <p:spPr>
          <a:xfrm>
            <a:off x="20614500" y="12276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0.28</a:t>
            </a:r>
          </a:p>
        </p:txBody>
      </p:sp>
      <p:sp>
        <p:nvSpPr>
          <p:cNvPr id="1382" name="Rectangle 1381"/>
          <p:cNvSpPr/>
          <p:nvPr/>
        </p:nvSpPr>
        <p:spPr>
          <a:xfrm>
            <a:off x="21316500" y="12312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83" name="Rectangle 1382"/>
          <p:cNvSpPr/>
          <p:nvPr/>
        </p:nvSpPr>
        <p:spPr>
          <a:xfrm>
            <a:off x="21316500" y="12312000"/>
            <a:ext cx="355192" cy="288000"/>
          </a:xfrm>
          <a:prstGeom prst="rect">
            <a:avLst/>
          </a:prstGeom>
          <a:solidFill>
            <a:srgbClr val="6C9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84" name="TextBox 1383"/>
          <p:cNvSpPr txBox="1"/>
          <p:nvPr/>
        </p:nvSpPr>
        <p:spPr>
          <a:xfrm>
            <a:off x="22248000" y="12276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0.39</a:t>
            </a:r>
          </a:p>
        </p:txBody>
      </p:sp>
      <p:sp>
        <p:nvSpPr>
          <p:cNvPr id="1385" name="Rectangle 1384"/>
          <p:cNvSpPr/>
          <p:nvPr/>
        </p:nvSpPr>
        <p:spPr>
          <a:xfrm>
            <a:off x="22950000" y="12312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86" name="Rectangle 1385"/>
          <p:cNvSpPr/>
          <p:nvPr/>
        </p:nvSpPr>
        <p:spPr>
          <a:xfrm>
            <a:off x="22950000" y="12312000"/>
            <a:ext cx="725219" cy="288000"/>
          </a:xfrm>
          <a:prstGeom prst="rect">
            <a:avLst/>
          </a:prstGeom>
          <a:solidFill>
            <a:srgbClr val="63B7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87" name="TextBox 1386"/>
          <p:cNvSpPr txBox="1"/>
          <p:nvPr/>
        </p:nvSpPr>
        <p:spPr>
          <a:xfrm>
            <a:off x="23881500" y="12276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0.79</a:t>
            </a:r>
          </a:p>
        </p:txBody>
      </p:sp>
      <p:sp>
        <p:nvSpPr>
          <p:cNvPr id="1388" name="Rectangle 1387"/>
          <p:cNvSpPr/>
          <p:nvPr/>
        </p:nvSpPr>
        <p:spPr>
          <a:xfrm>
            <a:off x="24583500" y="12312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89" name="Rectangle 1388"/>
          <p:cNvSpPr/>
          <p:nvPr/>
        </p:nvSpPr>
        <p:spPr>
          <a:xfrm>
            <a:off x="24583500" y="12312000"/>
            <a:ext cx="884664" cy="288000"/>
          </a:xfrm>
          <a:prstGeom prst="rect">
            <a:avLst/>
          </a:prstGeom>
          <a:solidFill>
            <a:srgbClr val="7B61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0" name="TextBox 1389"/>
          <p:cNvSpPr txBox="1"/>
          <p:nvPr/>
        </p:nvSpPr>
        <p:spPr>
          <a:xfrm>
            <a:off x="25515000" y="12276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Bahnschrift"/>
              </a:rPr>
              <a:t>0.97</a:t>
            </a:r>
          </a:p>
        </p:txBody>
      </p:sp>
      <p:sp>
        <p:nvSpPr>
          <p:cNvPr id="1391" name="Rectangle 1390"/>
          <p:cNvSpPr/>
          <p:nvPr/>
        </p:nvSpPr>
        <p:spPr>
          <a:xfrm>
            <a:off x="26217000" y="12312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2" name="Rectangle 1391"/>
          <p:cNvSpPr/>
          <p:nvPr/>
        </p:nvSpPr>
        <p:spPr>
          <a:xfrm>
            <a:off x="26217000" y="12312000"/>
            <a:ext cx="542751" cy="288000"/>
          </a:xfrm>
          <a:prstGeom prst="rect">
            <a:avLst/>
          </a:prstGeom>
          <a:solidFill>
            <a:srgbClr val="5C7A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3" name="TextBox 1392"/>
          <p:cNvSpPr txBox="1"/>
          <p:nvPr/>
        </p:nvSpPr>
        <p:spPr>
          <a:xfrm>
            <a:off x="27148500" y="12276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0.59</a:t>
            </a:r>
          </a:p>
        </p:txBody>
      </p:sp>
      <p:sp>
        <p:nvSpPr>
          <p:cNvPr id="1394" name="Rectangle 1393"/>
          <p:cNvSpPr/>
          <p:nvPr/>
        </p:nvSpPr>
        <p:spPr>
          <a:xfrm>
            <a:off x="27850500" y="12312000"/>
            <a:ext cx="913500" cy="288000"/>
          </a:xfrm>
          <a:prstGeom prst="rect">
            <a:avLst/>
          </a:prstGeom>
          <a:solidFill>
            <a:srgbClr val="E3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5" name="Rectangle 1394"/>
          <p:cNvSpPr/>
          <p:nvPr/>
        </p:nvSpPr>
        <p:spPr>
          <a:xfrm>
            <a:off x="27850500" y="12312000"/>
            <a:ext cx="615608" cy="288000"/>
          </a:xfrm>
          <a:prstGeom prst="rect">
            <a:avLst/>
          </a:prstGeom>
          <a:solidFill>
            <a:srgbClr val="A6A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6" name="TextBox 1395"/>
          <p:cNvSpPr txBox="1"/>
          <p:nvPr/>
        </p:nvSpPr>
        <p:spPr>
          <a:xfrm>
            <a:off x="28782000" y="12276000"/>
            <a:ext cx="612000" cy="3600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Bahnschrift"/>
              </a:rPr>
              <a:t>0.67</a:t>
            </a:r>
          </a:p>
        </p:txBody>
      </p:sp>
      <p:cxnSp>
        <p:nvCxnSpPr>
          <p:cNvPr id="1397" name="Connector 1396"/>
          <p:cNvCxnSpPr/>
          <p:nvPr/>
        </p:nvCxnSpPr>
        <p:spPr>
          <a:xfrm>
            <a:off x="12096000" y="13068000"/>
            <a:ext cx="17316000" cy="0"/>
          </a:xfrm>
          <a:prstGeom prst="line">
            <a:avLst/>
          </a:prstGeom>
          <a:ln w="6350">
            <a:solidFill>
              <a:srgbClr val="CBD6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8" name="Connector 1397"/>
          <p:cNvCxnSpPr/>
          <p:nvPr/>
        </p:nvCxnSpPr>
        <p:spPr>
          <a:xfrm>
            <a:off x="12096000" y="13068000"/>
            <a:ext cx="17316000" cy="0"/>
          </a:xfrm>
          <a:prstGeom prst="line">
            <a:avLst/>
          </a:prstGeom>
          <a:ln w="12700">
            <a:solidFill>
              <a:srgbClr val="142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9" name="Connector 1398"/>
          <p:cNvCxnSpPr/>
          <p:nvPr/>
        </p:nvCxnSpPr>
        <p:spPr>
          <a:xfrm>
            <a:off x="1224000" y="28548000"/>
            <a:ext cx="8506800" cy="0"/>
          </a:xfrm>
          <a:prstGeom prst="line">
            <a:avLst/>
          </a:prstGeom>
          <a:ln w="12700">
            <a:solidFill>
              <a:srgbClr val="A9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0" name="Connector 1399"/>
          <p:cNvCxnSpPr/>
          <p:nvPr/>
        </p:nvCxnSpPr>
        <p:spPr>
          <a:xfrm>
            <a:off x="1224000" y="28494000"/>
            <a:ext cx="0" cy="108000"/>
          </a:xfrm>
          <a:prstGeom prst="line">
            <a:avLst/>
          </a:prstGeom>
          <a:ln w="9525">
            <a:solidFill>
              <a:srgbClr val="A9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1" name="TextBox 1400"/>
          <p:cNvSpPr txBox="1"/>
          <p:nvPr/>
        </p:nvSpPr>
        <p:spPr>
          <a:xfrm>
            <a:off x="1008000" y="28620000"/>
            <a:ext cx="432000" cy="180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B6B85"/>
                </a:solidFill>
                <a:latin typeface="Segoe UI"/>
              </a:rPr>
              <a:t>0</a:t>
            </a:r>
          </a:p>
        </p:txBody>
      </p:sp>
      <p:cxnSp>
        <p:nvCxnSpPr>
          <p:cNvPr id="1402" name="Connector 1401"/>
          <p:cNvCxnSpPr/>
          <p:nvPr/>
        </p:nvCxnSpPr>
        <p:spPr>
          <a:xfrm>
            <a:off x="5477400" y="28494000"/>
            <a:ext cx="0" cy="108000"/>
          </a:xfrm>
          <a:prstGeom prst="line">
            <a:avLst/>
          </a:prstGeom>
          <a:ln w="9525">
            <a:solidFill>
              <a:srgbClr val="A9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3" name="TextBox 1402"/>
          <p:cNvSpPr txBox="1"/>
          <p:nvPr/>
        </p:nvSpPr>
        <p:spPr>
          <a:xfrm>
            <a:off x="5261400" y="28620000"/>
            <a:ext cx="432000" cy="180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B6B85"/>
                </a:solidFill>
                <a:latin typeface="Segoe UI"/>
              </a:rPr>
              <a:t>.5</a:t>
            </a:r>
          </a:p>
        </p:txBody>
      </p:sp>
      <p:cxnSp>
        <p:nvCxnSpPr>
          <p:cNvPr id="1404" name="Connector 1403"/>
          <p:cNvCxnSpPr/>
          <p:nvPr/>
        </p:nvCxnSpPr>
        <p:spPr>
          <a:xfrm>
            <a:off x="9730800" y="28494000"/>
            <a:ext cx="0" cy="108000"/>
          </a:xfrm>
          <a:prstGeom prst="line">
            <a:avLst/>
          </a:prstGeom>
          <a:ln w="9525">
            <a:solidFill>
              <a:srgbClr val="A9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5" name="TextBox 1404"/>
          <p:cNvSpPr txBox="1"/>
          <p:nvPr/>
        </p:nvSpPr>
        <p:spPr>
          <a:xfrm>
            <a:off x="9514800" y="28620000"/>
            <a:ext cx="432000" cy="180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B6B85"/>
                </a:solidFill>
                <a:latin typeface="Segoe UI"/>
              </a:rPr>
              <a:t>1</a:t>
            </a:r>
          </a:p>
        </p:txBody>
      </p:sp>
      <p:sp>
        <p:nvSpPr>
          <p:cNvPr id="1406" name="Oval 1405"/>
          <p:cNvSpPr/>
          <p:nvPr/>
        </p:nvSpPr>
        <p:spPr>
          <a:xfrm>
            <a:off x="4774236" y="28449000"/>
            <a:ext cx="198000" cy="198000"/>
          </a:xfrm>
          <a:prstGeom prst="ellipse">
            <a:avLst/>
          </a:prstGeom>
          <a:solidFill>
            <a:srgbClr val="A6A6C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7" name="Oval 1406"/>
          <p:cNvSpPr/>
          <p:nvPr/>
        </p:nvSpPr>
        <p:spPr>
          <a:xfrm>
            <a:off x="4799574" y="28449000"/>
            <a:ext cx="198000" cy="198000"/>
          </a:xfrm>
          <a:prstGeom prst="ellipse">
            <a:avLst/>
          </a:prstGeom>
          <a:solidFill>
            <a:srgbClr val="5C7A9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8" name="Oval 1407"/>
          <p:cNvSpPr/>
          <p:nvPr/>
        </p:nvSpPr>
        <p:spPr>
          <a:xfrm>
            <a:off x="5084205" y="28449000"/>
            <a:ext cx="198000" cy="198000"/>
          </a:xfrm>
          <a:prstGeom prst="ellipse">
            <a:avLst/>
          </a:prstGeom>
          <a:solidFill>
            <a:srgbClr val="63B7B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9" name="Oval 1408"/>
          <p:cNvSpPr/>
          <p:nvPr/>
        </p:nvSpPr>
        <p:spPr>
          <a:xfrm>
            <a:off x="5503172" y="28449000"/>
            <a:ext cx="198000" cy="198000"/>
          </a:xfrm>
          <a:prstGeom prst="ellipse">
            <a:avLst/>
          </a:prstGeom>
          <a:solidFill>
            <a:srgbClr val="2E9E6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0" name="Oval 1409"/>
          <p:cNvSpPr/>
          <p:nvPr/>
        </p:nvSpPr>
        <p:spPr>
          <a:xfrm>
            <a:off x="5562101" y="28449000"/>
            <a:ext cx="198000" cy="198000"/>
          </a:xfrm>
          <a:prstGeom prst="ellipse">
            <a:avLst/>
          </a:prstGeom>
          <a:solidFill>
            <a:srgbClr val="7B61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1" name="Oval 1410"/>
          <p:cNvSpPr/>
          <p:nvPr/>
        </p:nvSpPr>
        <p:spPr>
          <a:xfrm>
            <a:off x="5879049" y="28449000"/>
            <a:ext cx="198000" cy="198000"/>
          </a:xfrm>
          <a:prstGeom prst="ellipse">
            <a:avLst/>
          </a:prstGeom>
          <a:solidFill>
            <a:srgbClr val="8BD0A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2" name="Oval 1411"/>
          <p:cNvSpPr/>
          <p:nvPr/>
        </p:nvSpPr>
        <p:spPr>
          <a:xfrm>
            <a:off x="6007037" y="28449000"/>
            <a:ext cx="198000" cy="198000"/>
          </a:xfrm>
          <a:prstGeom prst="ellipse">
            <a:avLst/>
          </a:prstGeom>
          <a:solidFill>
            <a:srgbClr val="6C93C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3" name="Oval 1412"/>
          <p:cNvSpPr/>
          <p:nvPr/>
        </p:nvSpPr>
        <p:spPr>
          <a:xfrm>
            <a:off x="7017942" y="28449000"/>
            <a:ext cx="198000" cy="198000"/>
          </a:xfrm>
          <a:prstGeom prst="ellipse">
            <a:avLst/>
          </a:prstGeom>
          <a:solidFill>
            <a:srgbClr val="1F5FA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4" name="TextBox 1413"/>
          <p:cNvSpPr txBox="1"/>
          <p:nvPr/>
        </p:nvSpPr>
        <p:spPr>
          <a:xfrm>
            <a:off x="1116000" y="28800000"/>
            <a:ext cx="8722800" cy="234000"/>
          </a:xfrm>
          <a:prstGeom prst="rect">
            <a:avLst/>
          </a:prstGeom>
          <a:noFill/>
        </p:spPr>
        <p:txBody>
          <a:bodyPr wrap="square" lIns="10800" tIns="28800" rIns="10800" bIns="2880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>
                <a:solidFill>
                  <a:srgbClr val="1F5FA8"/>
                </a:solidFill>
                <a:latin typeface="Segoe UI"/>
              </a:rPr>
              <a:t>▲ </a:t>
            </a:r>
            <a:r>
              <a:rPr sz="1100" b="0" i="0">
                <a:solidFill>
                  <a:srgbClr val="5B6B85"/>
                </a:solidFill>
                <a:latin typeface="Segoe UI"/>
              </a:rPr>
              <a:t>Gemini 3.5 Flash 0.69</a:t>
            </a:r>
            <a:r>
              <a:rPr sz="1100" b="1" i="0">
                <a:solidFill>
                  <a:srgbClr val="A6A6C8"/>
                </a:solidFill>
                <a:latin typeface="Segoe UI"/>
              </a:rPr>
              <a:t>    ▼ </a:t>
            </a:r>
            <a:r>
              <a:rPr sz="1100" b="0" i="0">
                <a:solidFill>
                  <a:srgbClr val="5B6B85"/>
                </a:solidFill>
                <a:latin typeface="Segoe UI"/>
              </a:rPr>
              <a:t>PaddleOCR-VL 1.6 0.43</a:t>
            </a:r>
          </a:p>
        </p:txBody>
      </p:sp>
      <p:sp>
        <p:nvSpPr>
          <p:cNvPr id="1415" name="TextBox 1414"/>
          <p:cNvSpPr txBox="1"/>
          <p:nvPr/>
        </p:nvSpPr>
        <p:spPr>
          <a:xfrm>
            <a:off x="1116000" y="29088000"/>
            <a:ext cx="8722800" cy="720000"/>
          </a:xfrm>
          <a:prstGeom prst="rect">
            <a:avLst/>
          </a:prstGeom>
          <a:noFill/>
        </p:spPr>
        <p:txBody>
          <a:bodyPr wrap="square" lIns="43200" tIns="28800" rIns="43200" bIns="2880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Segoe UI"/>
              </a:rPr>
              <a:t>No generalist keeps the letter forms: glyph F1 0.35 (Gemini 3.5 Flash) to 0.00 (olmOCR-2 7B). </a:t>
            </a:r>
            <a:r>
              <a:rPr sz="1400" b="0" i="0">
                <a:solidFill>
                  <a:srgbClr val="14213D"/>
                </a:solidFill>
                <a:latin typeface="Segoe UI"/>
              </a:rPr>
              <a:t>Punctuation survives for 77–37 % of the marks, capitals for 96–85 %.</a:t>
            </a:r>
          </a:p>
        </p:txBody>
      </p:sp>
      <p:sp>
        <p:nvSpPr>
          <p:cNvPr id="1416" name="TextBox 1415"/>
          <p:cNvSpPr txBox="1"/>
          <p:nvPr/>
        </p:nvSpPr>
        <p:spPr>
          <a:xfrm>
            <a:off x="20437200" y="28562400"/>
            <a:ext cx="8722800" cy="1245600"/>
          </a:xfrm>
          <a:prstGeom prst="rect">
            <a:avLst/>
          </a:prstGeom>
          <a:noFill/>
        </p:spPr>
        <p:txBody>
          <a:bodyPr wrap="square" lIns="43200" tIns="28800" rIns="43200" bIns="28800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 dirty="0">
                <a:solidFill>
                  <a:srgbClr val="14213D"/>
                </a:solidFill>
                <a:latin typeface="Segoe UI"/>
              </a:rPr>
              <a:t>Kraken 19th-c. </a:t>
            </a:r>
            <a:r>
              <a:rPr sz="1600" b="1" i="0" dirty="0" err="1">
                <a:solidFill>
                  <a:srgbClr val="14213D"/>
                </a:solidFill>
                <a:latin typeface="Segoe UI"/>
              </a:rPr>
              <a:t>Kurrent</a:t>
            </a:r>
            <a:r>
              <a:rPr sz="1600" b="1" i="0" dirty="0">
                <a:solidFill>
                  <a:srgbClr val="14213D"/>
                </a:solidFill>
                <a:latin typeface="Segoe UI"/>
              </a:rPr>
              <a:t>: 1.3 s a page on a laptop CPU, no fee. </a:t>
            </a:r>
            <a:r>
              <a:rPr sz="1600" b="1" i="0" dirty="0" err="1">
                <a:solidFill>
                  <a:srgbClr val="14213D"/>
                </a:solidFill>
                <a:latin typeface="Segoe UI"/>
              </a:rPr>
              <a:t>Transkribus</a:t>
            </a:r>
            <a:r>
              <a:rPr sz="1600" b="1" i="0" dirty="0">
                <a:solidFill>
                  <a:srgbClr val="14213D"/>
                </a:solidFill>
                <a:latin typeface="Segoe UI"/>
              </a:rPr>
              <a:t> Text Titan II: 14.8 s and 26 ¢ a page. </a:t>
            </a:r>
            <a:r>
              <a:rPr sz="1600" b="0" i="0" dirty="0">
                <a:solidFill>
                  <a:srgbClr val="14213D"/>
                </a:solidFill>
                <a:latin typeface="Segoe UI"/>
              </a:rPr>
              <a:t>Only on speed does a hosted system come close: Gemini 3.5 Flash, 3.9 s.</a:t>
            </a:r>
          </a:p>
        </p:txBody>
      </p:sp>
      <p:sp>
        <p:nvSpPr>
          <p:cNvPr id="1417" name="TextBox 1416"/>
          <p:cNvSpPr txBox="1"/>
          <p:nvPr/>
        </p:nvSpPr>
        <p:spPr>
          <a:xfrm>
            <a:off x="20437200" y="29844000"/>
            <a:ext cx="8722800" cy="396000"/>
          </a:xfrm>
          <a:prstGeom prst="rect">
            <a:avLst/>
          </a:prstGeom>
          <a:noFill/>
        </p:spPr>
        <p:txBody>
          <a:bodyPr wrap="square" lIns="43200" tIns="28800" rIns="43200" bIns="28800" anchor="b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1" i="0" dirty="0">
                <a:solidFill>
                  <a:srgbClr val="1F5FA8"/>
                </a:solidFill>
                <a:latin typeface="Segoe UI"/>
              </a:rPr>
              <a:t>Measured  </a:t>
            </a:r>
            <a:r>
              <a:rPr sz="1100" b="0" i="0" dirty="0">
                <a:solidFill>
                  <a:srgbClr val="5B6B85"/>
                </a:solidFill>
                <a:latin typeface="Segoe UI"/>
              </a:rPr>
              <a:t>½ speed + ¼ hardware + ¼ price · log scales 1–100 s and 0.1 ¢–1 $ · hardware CPU 1</a:t>
            </a:r>
            <a:r>
              <a:rPr lang="en-US" sz="1100" b="0" i="0" dirty="0">
                <a:solidFill>
                  <a:srgbClr val="5B6B85"/>
                </a:solidFill>
                <a:latin typeface="Segoe UI"/>
              </a:rPr>
              <a:t>;</a:t>
            </a:r>
            <a:r>
              <a:rPr sz="1100" b="0" i="0" dirty="0">
                <a:solidFill>
                  <a:srgbClr val="5B6B85"/>
                </a:solidFill>
                <a:latin typeface="Segoe UI"/>
              </a:rPr>
              <a:t> GPU 8 GB 0.8</a:t>
            </a:r>
            <a:r>
              <a:rPr lang="en-US" sz="1100" b="0" i="0" dirty="0">
                <a:solidFill>
                  <a:srgbClr val="5B6B85"/>
                </a:solidFill>
                <a:latin typeface="Segoe UI"/>
              </a:rPr>
              <a:t>;</a:t>
            </a:r>
            <a:r>
              <a:rPr sz="1100" b="0" i="0" dirty="0">
                <a:solidFill>
                  <a:srgbClr val="5B6B85"/>
                </a:solidFill>
                <a:latin typeface="Segoe UI"/>
              </a:rPr>
              <a:t> 24 GB 0.5</a:t>
            </a:r>
            <a:r>
              <a:rPr lang="en-US" sz="1100" b="0" i="0" dirty="0">
                <a:solidFill>
                  <a:srgbClr val="5B6B85"/>
                </a:solidFill>
                <a:latin typeface="Segoe UI"/>
              </a:rPr>
              <a:t>;</a:t>
            </a:r>
            <a:r>
              <a:rPr sz="1100" b="0" i="0" dirty="0">
                <a:solidFill>
                  <a:srgbClr val="5B6B85"/>
                </a:solidFill>
                <a:latin typeface="Segoe UI"/>
              </a:rPr>
              <a:t> hosted 0.1</a:t>
            </a:r>
            <a:r>
              <a:rPr lang="en-US" sz="1100" b="0" i="0" dirty="0">
                <a:solidFill>
                  <a:srgbClr val="5B6B85"/>
                </a:solidFill>
                <a:latin typeface="Segoe UI"/>
              </a:rPr>
              <a:t>;</a:t>
            </a:r>
            <a:r>
              <a:rPr sz="1100" b="0" i="0" dirty="0">
                <a:solidFill>
                  <a:srgbClr val="5B6B85"/>
                </a:solidFill>
                <a:latin typeface="Segoe UI"/>
              </a:rPr>
              <a:t> </a:t>
            </a:r>
            <a:endParaRPr lang="en-US" sz="1100" b="0" i="0" dirty="0">
              <a:solidFill>
                <a:srgbClr val="5B6B85"/>
              </a:solidFill>
              <a:latin typeface="Segoe UI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 dirty="0">
                <a:solidFill>
                  <a:srgbClr val="5B6B85"/>
                </a:solidFill>
                <a:latin typeface="Segoe UI"/>
              </a:rPr>
              <a:t>open weights priced by electricity</a:t>
            </a:r>
            <a:r>
              <a:rPr lang="en-US" sz="1100" b="0" i="0" dirty="0">
                <a:solidFill>
                  <a:srgbClr val="5B6B85"/>
                </a:solidFill>
                <a:latin typeface="Segoe UI"/>
              </a:rPr>
              <a:t>.</a:t>
            </a:r>
            <a:endParaRPr sz="1100" b="0" i="0" dirty="0">
              <a:solidFill>
                <a:srgbClr val="5B6B85"/>
              </a:solidFill>
              <a:latin typeface="Segoe UI"/>
            </a:endParaRPr>
          </a:p>
        </p:txBody>
      </p:sp>
      <p:sp>
        <p:nvSpPr>
          <p:cNvPr id="1418" name="TextBox 1417"/>
          <p:cNvSpPr txBox="1"/>
          <p:nvPr/>
        </p:nvSpPr>
        <p:spPr>
          <a:xfrm>
            <a:off x="864000" y="36216000"/>
            <a:ext cx="28548000" cy="432000"/>
          </a:xfrm>
          <a:prstGeom prst="rect">
            <a:avLst/>
          </a:prstGeom>
          <a:noFill/>
        </p:spPr>
        <p:txBody>
          <a:bodyPr wrap="square" lIns="43200" tIns="28800" rIns="43200" bIns="2880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400" b="1" i="0" dirty="0">
                <a:solidFill>
                  <a:srgbClr val="14213D"/>
                </a:solidFill>
                <a:latin typeface="Palatino Linotype"/>
              </a:rPr>
              <a:t>Every system on every </a:t>
            </a:r>
            <a:r>
              <a:rPr lang="en-US" sz="2400" b="1" i="0" dirty="0">
                <a:solidFill>
                  <a:srgbClr val="14213D"/>
                </a:solidFill>
                <a:latin typeface="Palatino Linotype"/>
              </a:rPr>
              <a:t>corpus by dimension</a:t>
            </a:r>
            <a:endParaRPr sz="2400" b="1" i="0" dirty="0">
              <a:solidFill>
                <a:srgbClr val="14213D"/>
              </a:solidFill>
              <a:latin typeface="Palatino Linotype"/>
            </a:endParaRPr>
          </a:p>
        </p:txBody>
      </p:sp>
      <p:sp>
        <p:nvSpPr>
          <p:cNvPr id="1419" name="TextBox 1418"/>
          <p:cNvSpPr txBox="1"/>
          <p:nvPr/>
        </p:nvSpPr>
        <p:spPr>
          <a:xfrm>
            <a:off x="3384000" y="36684000"/>
            <a:ext cx="6345000" cy="270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Segoe UI"/>
              </a:rPr>
              <a:t>Ratsprotokolle</a:t>
            </a:r>
          </a:p>
        </p:txBody>
      </p:sp>
      <p:sp>
        <p:nvSpPr>
          <p:cNvPr id="1420" name="TextBox 1419"/>
          <p:cNvSpPr txBox="1"/>
          <p:nvPr/>
        </p:nvSpPr>
        <p:spPr>
          <a:xfrm>
            <a:off x="3384000" y="36972000"/>
            <a:ext cx="1269000" cy="234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B6B85"/>
                </a:solidFill>
                <a:latin typeface="Palatino Linotype"/>
              </a:rPr>
              <a:t>D1</a:t>
            </a:r>
          </a:p>
        </p:txBody>
      </p:sp>
      <p:sp>
        <p:nvSpPr>
          <p:cNvPr id="1421" name="TextBox 1420"/>
          <p:cNvSpPr txBox="1"/>
          <p:nvPr/>
        </p:nvSpPr>
        <p:spPr>
          <a:xfrm>
            <a:off x="4653000" y="36972000"/>
            <a:ext cx="1269000" cy="234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B6B85"/>
                </a:solidFill>
                <a:latin typeface="Palatino Linotype"/>
              </a:rPr>
              <a:t>D2</a:t>
            </a:r>
          </a:p>
        </p:txBody>
      </p:sp>
      <p:sp>
        <p:nvSpPr>
          <p:cNvPr id="1422" name="TextBox 1421"/>
          <p:cNvSpPr txBox="1"/>
          <p:nvPr/>
        </p:nvSpPr>
        <p:spPr>
          <a:xfrm>
            <a:off x="5922000" y="36972000"/>
            <a:ext cx="1269000" cy="234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B6B85"/>
                </a:solidFill>
                <a:latin typeface="Palatino Linotype"/>
              </a:rPr>
              <a:t>D3</a:t>
            </a:r>
          </a:p>
        </p:txBody>
      </p:sp>
      <p:sp>
        <p:nvSpPr>
          <p:cNvPr id="1423" name="TextBox 1422"/>
          <p:cNvSpPr txBox="1"/>
          <p:nvPr/>
        </p:nvSpPr>
        <p:spPr>
          <a:xfrm>
            <a:off x="7191000" y="36972000"/>
            <a:ext cx="1269000" cy="234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B6B85"/>
                </a:solidFill>
                <a:latin typeface="Palatino Linotype"/>
              </a:rPr>
              <a:t>D4</a:t>
            </a:r>
          </a:p>
        </p:txBody>
      </p:sp>
      <p:sp>
        <p:nvSpPr>
          <p:cNvPr id="1424" name="TextBox 1423"/>
          <p:cNvSpPr txBox="1"/>
          <p:nvPr/>
        </p:nvSpPr>
        <p:spPr>
          <a:xfrm>
            <a:off x="8460000" y="36972000"/>
            <a:ext cx="1269000" cy="234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B6B85"/>
                </a:solidFill>
                <a:latin typeface="Palatino Linotype"/>
              </a:rPr>
              <a:t>D5</a:t>
            </a:r>
          </a:p>
        </p:txBody>
      </p:sp>
      <p:sp>
        <p:nvSpPr>
          <p:cNvPr id="1425" name="TextBox 1424"/>
          <p:cNvSpPr txBox="1"/>
          <p:nvPr/>
        </p:nvSpPr>
        <p:spPr>
          <a:xfrm>
            <a:off x="9945000" y="36684000"/>
            <a:ext cx="6345000" cy="270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Segoe UI"/>
              </a:rPr>
              <a:t>Humboldt</a:t>
            </a:r>
          </a:p>
        </p:txBody>
      </p:sp>
      <p:sp>
        <p:nvSpPr>
          <p:cNvPr id="1426" name="TextBox 1425"/>
          <p:cNvSpPr txBox="1"/>
          <p:nvPr/>
        </p:nvSpPr>
        <p:spPr>
          <a:xfrm>
            <a:off x="9945000" y="36972000"/>
            <a:ext cx="1269000" cy="234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B6B85"/>
                </a:solidFill>
                <a:latin typeface="Palatino Linotype"/>
              </a:rPr>
              <a:t>D1</a:t>
            </a:r>
          </a:p>
        </p:txBody>
      </p:sp>
      <p:sp>
        <p:nvSpPr>
          <p:cNvPr id="1427" name="TextBox 1426"/>
          <p:cNvSpPr txBox="1"/>
          <p:nvPr/>
        </p:nvSpPr>
        <p:spPr>
          <a:xfrm>
            <a:off x="11214000" y="36972000"/>
            <a:ext cx="1269000" cy="234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B6B85"/>
                </a:solidFill>
                <a:latin typeface="Palatino Linotype"/>
              </a:rPr>
              <a:t>D2</a:t>
            </a:r>
          </a:p>
        </p:txBody>
      </p:sp>
      <p:sp>
        <p:nvSpPr>
          <p:cNvPr id="1428" name="TextBox 1427"/>
          <p:cNvSpPr txBox="1"/>
          <p:nvPr/>
        </p:nvSpPr>
        <p:spPr>
          <a:xfrm>
            <a:off x="12483000" y="36972000"/>
            <a:ext cx="1269000" cy="234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B6B85"/>
                </a:solidFill>
                <a:latin typeface="Palatino Linotype"/>
              </a:rPr>
              <a:t>D3</a:t>
            </a:r>
          </a:p>
        </p:txBody>
      </p:sp>
      <p:sp>
        <p:nvSpPr>
          <p:cNvPr id="1429" name="TextBox 1428"/>
          <p:cNvSpPr txBox="1"/>
          <p:nvPr/>
        </p:nvSpPr>
        <p:spPr>
          <a:xfrm>
            <a:off x="13752000" y="36972000"/>
            <a:ext cx="1269000" cy="234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B6B85"/>
                </a:solidFill>
                <a:latin typeface="Palatino Linotype"/>
              </a:rPr>
              <a:t>D4</a:t>
            </a:r>
          </a:p>
        </p:txBody>
      </p:sp>
      <p:sp>
        <p:nvSpPr>
          <p:cNvPr id="1430" name="TextBox 1429"/>
          <p:cNvSpPr txBox="1"/>
          <p:nvPr/>
        </p:nvSpPr>
        <p:spPr>
          <a:xfrm>
            <a:off x="15021000" y="36972000"/>
            <a:ext cx="1269000" cy="234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B6B85"/>
                </a:solidFill>
                <a:latin typeface="Palatino Linotype"/>
              </a:rPr>
              <a:t>D5</a:t>
            </a:r>
          </a:p>
        </p:txBody>
      </p:sp>
      <p:sp>
        <p:nvSpPr>
          <p:cNvPr id="1431" name="TextBox 1430"/>
          <p:cNvSpPr txBox="1"/>
          <p:nvPr/>
        </p:nvSpPr>
        <p:spPr>
          <a:xfrm>
            <a:off x="16506000" y="36684000"/>
            <a:ext cx="6345000" cy="270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Segoe UI"/>
              </a:rPr>
              <a:t>Forest operates</a:t>
            </a:r>
          </a:p>
        </p:txBody>
      </p:sp>
      <p:sp>
        <p:nvSpPr>
          <p:cNvPr id="1432" name="TextBox 1431"/>
          <p:cNvSpPr txBox="1"/>
          <p:nvPr/>
        </p:nvSpPr>
        <p:spPr>
          <a:xfrm>
            <a:off x="16506000" y="36972000"/>
            <a:ext cx="1269000" cy="234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B6B85"/>
                </a:solidFill>
                <a:latin typeface="Palatino Linotype"/>
              </a:rPr>
              <a:t>D1</a:t>
            </a:r>
          </a:p>
        </p:txBody>
      </p:sp>
      <p:sp>
        <p:nvSpPr>
          <p:cNvPr id="1433" name="TextBox 1432"/>
          <p:cNvSpPr txBox="1"/>
          <p:nvPr/>
        </p:nvSpPr>
        <p:spPr>
          <a:xfrm>
            <a:off x="17775000" y="36972000"/>
            <a:ext cx="1269000" cy="234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B6B85"/>
                </a:solidFill>
                <a:latin typeface="Palatino Linotype"/>
              </a:rPr>
              <a:t>D2</a:t>
            </a:r>
          </a:p>
        </p:txBody>
      </p:sp>
      <p:sp>
        <p:nvSpPr>
          <p:cNvPr id="1434" name="TextBox 1433"/>
          <p:cNvSpPr txBox="1"/>
          <p:nvPr/>
        </p:nvSpPr>
        <p:spPr>
          <a:xfrm>
            <a:off x="19044000" y="36972000"/>
            <a:ext cx="1269000" cy="234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B6B85"/>
                </a:solidFill>
                <a:latin typeface="Palatino Linotype"/>
              </a:rPr>
              <a:t>D3</a:t>
            </a:r>
          </a:p>
        </p:txBody>
      </p:sp>
      <p:sp>
        <p:nvSpPr>
          <p:cNvPr id="1435" name="TextBox 1434"/>
          <p:cNvSpPr txBox="1"/>
          <p:nvPr/>
        </p:nvSpPr>
        <p:spPr>
          <a:xfrm>
            <a:off x="20313000" y="36972000"/>
            <a:ext cx="1269000" cy="234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B6B85"/>
                </a:solidFill>
                <a:latin typeface="Palatino Linotype"/>
              </a:rPr>
              <a:t>D4</a:t>
            </a:r>
          </a:p>
        </p:txBody>
      </p:sp>
      <p:sp>
        <p:nvSpPr>
          <p:cNvPr id="1436" name="TextBox 1435"/>
          <p:cNvSpPr txBox="1"/>
          <p:nvPr/>
        </p:nvSpPr>
        <p:spPr>
          <a:xfrm>
            <a:off x="21582000" y="36972000"/>
            <a:ext cx="1269000" cy="234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B6B85"/>
                </a:solidFill>
                <a:latin typeface="Palatino Linotype"/>
              </a:rPr>
              <a:t>D5</a:t>
            </a:r>
          </a:p>
        </p:txBody>
      </p:sp>
      <p:sp>
        <p:nvSpPr>
          <p:cNvPr id="1437" name="TextBox 1436"/>
          <p:cNvSpPr txBox="1"/>
          <p:nvPr/>
        </p:nvSpPr>
        <p:spPr>
          <a:xfrm>
            <a:off x="23067000" y="36684000"/>
            <a:ext cx="6345000" cy="270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Segoe UI"/>
              </a:rPr>
              <a:t>Laubmann</a:t>
            </a:r>
          </a:p>
        </p:txBody>
      </p:sp>
      <p:sp>
        <p:nvSpPr>
          <p:cNvPr id="1438" name="TextBox 1437"/>
          <p:cNvSpPr txBox="1"/>
          <p:nvPr/>
        </p:nvSpPr>
        <p:spPr>
          <a:xfrm>
            <a:off x="23067000" y="36972000"/>
            <a:ext cx="1269000" cy="234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B6B85"/>
                </a:solidFill>
                <a:latin typeface="Palatino Linotype"/>
              </a:rPr>
              <a:t>D1</a:t>
            </a:r>
          </a:p>
        </p:txBody>
      </p:sp>
      <p:sp>
        <p:nvSpPr>
          <p:cNvPr id="1439" name="TextBox 1438"/>
          <p:cNvSpPr txBox="1"/>
          <p:nvPr/>
        </p:nvSpPr>
        <p:spPr>
          <a:xfrm>
            <a:off x="24336000" y="36972000"/>
            <a:ext cx="1269000" cy="234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B6B85"/>
                </a:solidFill>
                <a:latin typeface="Palatino Linotype"/>
              </a:rPr>
              <a:t>D2</a:t>
            </a:r>
          </a:p>
        </p:txBody>
      </p:sp>
      <p:sp>
        <p:nvSpPr>
          <p:cNvPr id="1440" name="TextBox 1439"/>
          <p:cNvSpPr txBox="1"/>
          <p:nvPr/>
        </p:nvSpPr>
        <p:spPr>
          <a:xfrm>
            <a:off x="25605000" y="36972000"/>
            <a:ext cx="1269000" cy="234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B6B85"/>
                </a:solidFill>
                <a:latin typeface="Palatino Linotype"/>
              </a:rPr>
              <a:t>D3</a:t>
            </a:r>
          </a:p>
        </p:txBody>
      </p:sp>
      <p:sp>
        <p:nvSpPr>
          <p:cNvPr id="1441" name="TextBox 1440"/>
          <p:cNvSpPr txBox="1"/>
          <p:nvPr/>
        </p:nvSpPr>
        <p:spPr>
          <a:xfrm>
            <a:off x="26874000" y="36972000"/>
            <a:ext cx="1269000" cy="234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B6B85"/>
                </a:solidFill>
                <a:latin typeface="Palatino Linotype"/>
              </a:rPr>
              <a:t>D4</a:t>
            </a:r>
          </a:p>
        </p:txBody>
      </p:sp>
      <p:sp>
        <p:nvSpPr>
          <p:cNvPr id="1442" name="TextBox 1441"/>
          <p:cNvSpPr txBox="1"/>
          <p:nvPr/>
        </p:nvSpPr>
        <p:spPr>
          <a:xfrm>
            <a:off x="28143000" y="36972000"/>
            <a:ext cx="1269000" cy="234000"/>
          </a:xfrm>
          <a:prstGeom prst="rect">
            <a:avLst/>
          </a:prstGeom>
          <a:noFill/>
        </p:spPr>
        <p:txBody>
          <a:bodyPr wrap="square" lIns="0" tIns="28800" rIns="0" bIns="28800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5B6B85"/>
                </a:solidFill>
                <a:latin typeface="Palatino Linotype"/>
              </a:rPr>
              <a:t>D5</a:t>
            </a:r>
          </a:p>
        </p:txBody>
      </p:sp>
      <p:sp>
        <p:nvSpPr>
          <p:cNvPr id="1443" name="TextBox 1442"/>
          <p:cNvSpPr txBox="1"/>
          <p:nvPr/>
        </p:nvSpPr>
        <p:spPr>
          <a:xfrm>
            <a:off x="864000" y="37224000"/>
            <a:ext cx="2448000" cy="4014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Segoe UI"/>
              </a:rPr>
              <a:t>Gemini 3.5 Flash</a:t>
            </a:r>
          </a:p>
        </p:txBody>
      </p:sp>
      <p:sp>
        <p:nvSpPr>
          <p:cNvPr id="1444" name="Rectangle 1443"/>
          <p:cNvSpPr/>
          <p:nvPr/>
        </p:nvSpPr>
        <p:spPr>
          <a:xfrm>
            <a:off x="3402000" y="37242000"/>
            <a:ext cx="1233000" cy="365400"/>
          </a:xfrm>
          <a:prstGeom prst="rect">
            <a:avLst/>
          </a:prstGeom>
          <a:solidFill>
            <a:srgbClr val="5A8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45" name="TextBox 1444"/>
          <p:cNvSpPr txBox="1"/>
          <p:nvPr/>
        </p:nvSpPr>
        <p:spPr>
          <a:xfrm>
            <a:off x="3384000" y="37224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.80</a:t>
            </a:r>
          </a:p>
        </p:txBody>
      </p:sp>
      <p:sp>
        <p:nvSpPr>
          <p:cNvPr id="1446" name="Rectangle 1445"/>
          <p:cNvSpPr/>
          <p:nvPr/>
        </p:nvSpPr>
        <p:spPr>
          <a:xfrm>
            <a:off x="4671000" y="37242000"/>
            <a:ext cx="1233000" cy="365400"/>
          </a:xfrm>
          <a:prstGeom prst="rect">
            <a:avLst/>
          </a:prstGeom>
          <a:solidFill>
            <a:srgbClr val="9DB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47" name="TextBox 1446"/>
          <p:cNvSpPr txBox="1"/>
          <p:nvPr/>
        </p:nvSpPr>
        <p:spPr>
          <a:xfrm>
            <a:off x="4653000" y="37224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.52</a:t>
            </a:r>
          </a:p>
        </p:txBody>
      </p:sp>
      <p:sp>
        <p:nvSpPr>
          <p:cNvPr id="1448" name="Rectangle 1447"/>
          <p:cNvSpPr/>
          <p:nvPr/>
        </p:nvSpPr>
        <p:spPr>
          <a:xfrm>
            <a:off x="5940000" y="37242000"/>
            <a:ext cx="1233000" cy="365400"/>
          </a:xfrm>
          <a:prstGeom prst="rect">
            <a:avLst/>
          </a:prstGeom>
          <a:solidFill>
            <a:srgbClr val="82A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49" name="TextBox 1448"/>
          <p:cNvSpPr txBox="1"/>
          <p:nvPr/>
        </p:nvSpPr>
        <p:spPr>
          <a:xfrm>
            <a:off x="5922000" y="37224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.64</a:t>
            </a:r>
          </a:p>
        </p:txBody>
      </p:sp>
      <p:sp>
        <p:nvSpPr>
          <p:cNvPr id="1450" name="Rectangle 1449"/>
          <p:cNvSpPr/>
          <p:nvPr/>
        </p:nvSpPr>
        <p:spPr>
          <a:xfrm>
            <a:off x="7209000" y="37242000"/>
            <a:ext cx="1233000" cy="365400"/>
          </a:xfrm>
          <a:prstGeom prst="rect">
            <a:avLst/>
          </a:prstGeom>
          <a:solidFill>
            <a:srgbClr val="739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51" name="TextBox 1450"/>
          <p:cNvSpPr txBox="1"/>
          <p:nvPr/>
        </p:nvSpPr>
        <p:spPr>
          <a:xfrm>
            <a:off x="7191000" y="37224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.70</a:t>
            </a:r>
          </a:p>
        </p:txBody>
      </p:sp>
      <p:sp>
        <p:nvSpPr>
          <p:cNvPr id="1452" name="Rectangle 1451"/>
          <p:cNvSpPr/>
          <p:nvPr/>
        </p:nvSpPr>
        <p:spPr>
          <a:xfrm>
            <a:off x="8478000" y="37242000"/>
            <a:ext cx="1233000" cy="365400"/>
          </a:xfrm>
          <a:prstGeom prst="rect">
            <a:avLst/>
          </a:prstGeom>
          <a:solidFill>
            <a:srgbClr val="93B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53" name="TextBox 1452"/>
          <p:cNvSpPr txBox="1"/>
          <p:nvPr/>
        </p:nvSpPr>
        <p:spPr>
          <a:xfrm>
            <a:off x="8460000" y="37224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.57</a:t>
            </a:r>
          </a:p>
        </p:txBody>
      </p:sp>
      <p:sp>
        <p:nvSpPr>
          <p:cNvPr id="1454" name="Rectangle 1453"/>
          <p:cNvSpPr/>
          <p:nvPr/>
        </p:nvSpPr>
        <p:spPr>
          <a:xfrm>
            <a:off x="9963000" y="37242000"/>
            <a:ext cx="1233000" cy="365400"/>
          </a:xfrm>
          <a:prstGeom prst="rect">
            <a:avLst/>
          </a:prstGeom>
          <a:solidFill>
            <a:srgbClr val="789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55" name="TextBox 1454"/>
          <p:cNvSpPr txBox="1"/>
          <p:nvPr/>
        </p:nvSpPr>
        <p:spPr>
          <a:xfrm>
            <a:off x="9945000" y="37224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.68</a:t>
            </a:r>
          </a:p>
        </p:txBody>
      </p:sp>
      <p:sp>
        <p:nvSpPr>
          <p:cNvPr id="1456" name="Rectangle 1455"/>
          <p:cNvSpPr/>
          <p:nvPr/>
        </p:nvSpPr>
        <p:spPr>
          <a:xfrm>
            <a:off x="11232000" y="37242000"/>
            <a:ext cx="1233000" cy="365400"/>
          </a:xfrm>
          <a:prstGeom prst="rect">
            <a:avLst/>
          </a:prstGeom>
          <a:solidFill>
            <a:srgbClr val="A8C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57" name="TextBox 1456"/>
          <p:cNvSpPr txBox="1"/>
          <p:nvPr/>
        </p:nvSpPr>
        <p:spPr>
          <a:xfrm>
            <a:off x="11214000" y="37224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.47</a:t>
            </a:r>
          </a:p>
        </p:txBody>
      </p:sp>
      <p:sp>
        <p:nvSpPr>
          <p:cNvPr id="1458" name="Rectangle 1457"/>
          <p:cNvSpPr/>
          <p:nvPr/>
        </p:nvSpPr>
        <p:spPr>
          <a:xfrm>
            <a:off x="12501000" y="37242000"/>
            <a:ext cx="1233000" cy="365400"/>
          </a:xfrm>
          <a:prstGeom prst="rect">
            <a:avLst/>
          </a:prstGeom>
          <a:solidFill>
            <a:srgbClr val="457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59" name="TextBox 1458"/>
          <p:cNvSpPr txBox="1"/>
          <p:nvPr/>
        </p:nvSpPr>
        <p:spPr>
          <a:xfrm>
            <a:off x="12483000" y="37224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.88</a:t>
            </a:r>
          </a:p>
        </p:txBody>
      </p:sp>
      <p:sp>
        <p:nvSpPr>
          <p:cNvPr id="1460" name="Rectangle 1459"/>
          <p:cNvSpPr/>
          <p:nvPr/>
        </p:nvSpPr>
        <p:spPr>
          <a:xfrm>
            <a:off x="13770000" y="37242000"/>
            <a:ext cx="1233000" cy="365400"/>
          </a:xfrm>
          <a:prstGeom prst="rect">
            <a:avLst/>
          </a:prstGeom>
          <a:solidFill>
            <a:srgbClr val="5A8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61" name="TextBox 1460"/>
          <p:cNvSpPr txBox="1"/>
          <p:nvPr/>
        </p:nvSpPr>
        <p:spPr>
          <a:xfrm>
            <a:off x="13752000" y="37224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.80</a:t>
            </a:r>
          </a:p>
        </p:txBody>
      </p:sp>
      <p:sp>
        <p:nvSpPr>
          <p:cNvPr id="1462" name="Rectangle 1461"/>
          <p:cNvSpPr/>
          <p:nvPr/>
        </p:nvSpPr>
        <p:spPr>
          <a:xfrm>
            <a:off x="15039000" y="37242000"/>
            <a:ext cx="1233000" cy="365400"/>
          </a:xfrm>
          <a:prstGeom prst="rect">
            <a:avLst/>
          </a:prstGeom>
          <a:solidFill>
            <a:srgbClr val="93B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63" name="TextBox 1462"/>
          <p:cNvSpPr txBox="1"/>
          <p:nvPr/>
        </p:nvSpPr>
        <p:spPr>
          <a:xfrm>
            <a:off x="15021000" y="37224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.57</a:t>
            </a:r>
          </a:p>
        </p:txBody>
      </p:sp>
      <p:sp>
        <p:nvSpPr>
          <p:cNvPr id="1464" name="Rectangle 1463"/>
          <p:cNvSpPr/>
          <p:nvPr/>
        </p:nvSpPr>
        <p:spPr>
          <a:xfrm>
            <a:off x="16524000" y="37242000"/>
            <a:ext cx="1233000" cy="365400"/>
          </a:xfrm>
          <a:prstGeom prst="rect">
            <a:avLst/>
          </a:prstGeom>
          <a:solidFill>
            <a:srgbClr val="4076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65" name="TextBox 1464"/>
          <p:cNvSpPr txBox="1"/>
          <p:nvPr/>
        </p:nvSpPr>
        <p:spPr>
          <a:xfrm>
            <a:off x="16506000" y="37224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.89</a:t>
            </a:r>
          </a:p>
        </p:txBody>
      </p:sp>
      <p:sp>
        <p:nvSpPr>
          <p:cNvPr id="1466" name="Rectangle 1465"/>
          <p:cNvSpPr/>
          <p:nvPr/>
        </p:nvSpPr>
        <p:spPr>
          <a:xfrm>
            <a:off x="17793000" y="37242000"/>
            <a:ext cx="1233000" cy="365400"/>
          </a:xfrm>
          <a:prstGeom prst="rect">
            <a:avLst/>
          </a:prstGeom>
          <a:solidFill>
            <a:srgbClr val="63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67" name="TextBox 1466"/>
          <p:cNvSpPr txBox="1"/>
          <p:nvPr/>
        </p:nvSpPr>
        <p:spPr>
          <a:xfrm>
            <a:off x="17775000" y="37224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.77</a:t>
            </a:r>
          </a:p>
        </p:txBody>
      </p:sp>
      <p:sp>
        <p:nvSpPr>
          <p:cNvPr id="1468" name="Rectangle 1467"/>
          <p:cNvSpPr/>
          <p:nvPr/>
        </p:nvSpPr>
        <p:spPr>
          <a:xfrm>
            <a:off x="19062000" y="37242000"/>
            <a:ext cx="1233000" cy="365400"/>
          </a:xfrm>
          <a:prstGeom prst="rect">
            <a:avLst/>
          </a:prstGeom>
          <a:solidFill>
            <a:srgbClr val="387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69" name="TextBox 1468"/>
          <p:cNvSpPr txBox="1"/>
          <p:nvPr/>
        </p:nvSpPr>
        <p:spPr>
          <a:xfrm>
            <a:off x="19044000" y="37224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.92</a:t>
            </a:r>
          </a:p>
        </p:txBody>
      </p:sp>
      <p:sp>
        <p:nvSpPr>
          <p:cNvPr id="1470" name="Rectangle 1469"/>
          <p:cNvSpPr/>
          <p:nvPr/>
        </p:nvSpPr>
        <p:spPr>
          <a:xfrm>
            <a:off x="20331000" y="37242000"/>
            <a:ext cx="1233000" cy="365400"/>
          </a:xfrm>
          <a:prstGeom prst="rect">
            <a:avLst/>
          </a:prstGeom>
          <a:solidFill>
            <a:srgbClr val="5082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71" name="TextBox 1470"/>
          <p:cNvSpPr txBox="1"/>
          <p:nvPr/>
        </p:nvSpPr>
        <p:spPr>
          <a:xfrm>
            <a:off x="20313000" y="37224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.84</a:t>
            </a:r>
          </a:p>
        </p:txBody>
      </p:sp>
      <p:sp>
        <p:nvSpPr>
          <p:cNvPr id="1472" name="Rectangle 1471"/>
          <p:cNvSpPr/>
          <p:nvPr/>
        </p:nvSpPr>
        <p:spPr>
          <a:xfrm>
            <a:off x="21600000" y="37242000"/>
            <a:ext cx="1233000" cy="365400"/>
          </a:xfrm>
          <a:prstGeom prst="rect">
            <a:avLst/>
          </a:prstGeom>
          <a:solidFill>
            <a:srgbClr val="96B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73" name="TextBox 1472"/>
          <p:cNvSpPr txBox="1"/>
          <p:nvPr/>
        </p:nvSpPr>
        <p:spPr>
          <a:xfrm>
            <a:off x="21582000" y="37224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.56</a:t>
            </a:r>
          </a:p>
        </p:txBody>
      </p:sp>
      <p:sp>
        <p:nvSpPr>
          <p:cNvPr id="1474" name="Rectangle 1473"/>
          <p:cNvSpPr/>
          <p:nvPr/>
        </p:nvSpPr>
        <p:spPr>
          <a:xfrm>
            <a:off x="23085000" y="37242000"/>
            <a:ext cx="1233000" cy="365400"/>
          </a:xfrm>
          <a:prstGeom prst="rect">
            <a:avLst/>
          </a:prstGeom>
          <a:solidFill>
            <a:srgbClr val="326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75" name="TextBox 1474"/>
          <p:cNvSpPr txBox="1"/>
          <p:nvPr/>
        </p:nvSpPr>
        <p:spPr>
          <a:xfrm>
            <a:off x="23067000" y="37224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.94</a:t>
            </a:r>
          </a:p>
        </p:txBody>
      </p:sp>
      <p:sp>
        <p:nvSpPr>
          <p:cNvPr id="1476" name="Rectangle 1475"/>
          <p:cNvSpPr/>
          <p:nvPr/>
        </p:nvSpPr>
        <p:spPr>
          <a:xfrm>
            <a:off x="24354000" y="37242000"/>
            <a:ext cx="1233000" cy="365400"/>
          </a:xfrm>
          <a:prstGeom prst="rect">
            <a:avLst/>
          </a:prstGeom>
          <a:solidFill>
            <a:srgbClr val="4D80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77" name="TextBox 1476"/>
          <p:cNvSpPr txBox="1"/>
          <p:nvPr/>
        </p:nvSpPr>
        <p:spPr>
          <a:xfrm>
            <a:off x="24336000" y="37224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.84</a:t>
            </a:r>
          </a:p>
        </p:txBody>
      </p:sp>
      <p:sp>
        <p:nvSpPr>
          <p:cNvPr id="1478" name="Rectangle 1477"/>
          <p:cNvSpPr/>
          <p:nvPr/>
        </p:nvSpPr>
        <p:spPr>
          <a:xfrm>
            <a:off x="25623000" y="37242000"/>
            <a:ext cx="1233000" cy="365400"/>
          </a:xfrm>
          <a:prstGeom prst="rect">
            <a:avLst/>
          </a:prstGeom>
          <a:solidFill>
            <a:srgbClr val="3670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79" name="TextBox 1478"/>
          <p:cNvSpPr txBox="1"/>
          <p:nvPr/>
        </p:nvSpPr>
        <p:spPr>
          <a:xfrm>
            <a:off x="25605000" y="37224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.92</a:t>
            </a:r>
          </a:p>
        </p:txBody>
      </p:sp>
      <p:sp>
        <p:nvSpPr>
          <p:cNvPr id="1480" name="Rectangle 1479"/>
          <p:cNvSpPr/>
          <p:nvPr/>
        </p:nvSpPr>
        <p:spPr>
          <a:xfrm>
            <a:off x="26892000" y="37242000"/>
            <a:ext cx="1233000" cy="365400"/>
          </a:xfrm>
          <a:prstGeom prst="rect">
            <a:avLst/>
          </a:prstGeom>
          <a:solidFill>
            <a:srgbClr val="4A7E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81" name="TextBox 1480"/>
          <p:cNvSpPr txBox="1"/>
          <p:nvPr/>
        </p:nvSpPr>
        <p:spPr>
          <a:xfrm>
            <a:off x="26874000" y="37224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.86</a:t>
            </a:r>
          </a:p>
        </p:txBody>
      </p:sp>
      <p:sp>
        <p:nvSpPr>
          <p:cNvPr id="1482" name="Rectangle 1481"/>
          <p:cNvSpPr/>
          <p:nvPr/>
        </p:nvSpPr>
        <p:spPr>
          <a:xfrm>
            <a:off x="28161000" y="37242000"/>
            <a:ext cx="1233000" cy="365400"/>
          </a:xfrm>
          <a:prstGeom prst="rect">
            <a:avLst/>
          </a:prstGeom>
          <a:solidFill>
            <a:srgbClr val="AEC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83" name="TextBox 1482"/>
          <p:cNvSpPr txBox="1"/>
          <p:nvPr/>
        </p:nvSpPr>
        <p:spPr>
          <a:xfrm>
            <a:off x="28143000" y="37224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.44</a:t>
            </a:r>
          </a:p>
        </p:txBody>
      </p:sp>
      <p:sp>
        <p:nvSpPr>
          <p:cNvPr id="1484" name="TextBox 1483"/>
          <p:cNvSpPr txBox="1"/>
          <p:nvPr/>
        </p:nvSpPr>
        <p:spPr>
          <a:xfrm>
            <a:off x="864000" y="37625400"/>
            <a:ext cx="2448000" cy="4014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Segoe UI"/>
              </a:rPr>
              <a:t>Transkribus German Genius</a:t>
            </a:r>
          </a:p>
        </p:txBody>
      </p:sp>
      <p:sp>
        <p:nvSpPr>
          <p:cNvPr id="1485" name="Rectangle 1484"/>
          <p:cNvSpPr/>
          <p:nvPr/>
        </p:nvSpPr>
        <p:spPr>
          <a:xfrm>
            <a:off x="3402000" y="37643400"/>
            <a:ext cx="1233000" cy="365400"/>
          </a:xfrm>
          <a:prstGeom prst="rect">
            <a:avLst/>
          </a:prstGeom>
          <a:solidFill>
            <a:srgbClr val="4278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86" name="TextBox 1485"/>
          <p:cNvSpPr txBox="1"/>
          <p:nvPr/>
        </p:nvSpPr>
        <p:spPr>
          <a:xfrm>
            <a:off x="3384000" y="37625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.88</a:t>
            </a:r>
          </a:p>
        </p:txBody>
      </p:sp>
      <p:sp>
        <p:nvSpPr>
          <p:cNvPr id="1487" name="Rectangle 1486"/>
          <p:cNvSpPr/>
          <p:nvPr/>
        </p:nvSpPr>
        <p:spPr>
          <a:xfrm>
            <a:off x="4671000" y="37643400"/>
            <a:ext cx="1233000" cy="365400"/>
          </a:xfrm>
          <a:prstGeom prst="rect">
            <a:avLst/>
          </a:prstGeom>
          <a:solidFill>
            <a:srgbClr val="86A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88" name="TextBox 1487"/>
          <p:cNvSpPr txBox="1"/>
          <p:nvPr/>
        </p:nvSpPr>
        <p:spPr>
          <a:xfrm>
            <a:off x="4653000" y="37625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.63</a:t>
            </a:r>
          </a:p>
        </p:txBody>
      </p:sp>
      <p:sp>
        <p:nvSpPr>
          <p:cNvPr id="1489" name="Rectangle 1488"/>
          <p:cNvSpPr/>
          <p:nvPr/>
        </p:nvSpPr>
        <p:spPr>
          <a:xfrm>
            <a:off x="5940000" y="37643400"/>
            <a:ext cx="1233000" cy="365400"/>
          </a:xfrm>
          <a:prstGeom prst="rect">
            <a:avLst/>
          </a:prstGeom>
          <a:solidFill>
            <a:srgbClr val="9EB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90" name="TextBox 1489"/>
          <p:cNvSpPr txBox="1"/>
          <p:nvPr/>
        </p:nvSpPr>
        <p:spPr>
          <a:xfrm>
            <a:off x="5922000" y="37625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.52</a:t>
            </a:r>
          </a:p>
        </p:txBody>
      </p:sp>
      <p:sp>
        <p:nvSpPr>
          <p:cNvPr id="1491" name="Rectangle 1490"/>
          <p:cNvSpPr/>
          <p:nvPr/>
        </p:nvSpPr>
        <p:spPr>
          <a:xfrm>
            <a:off x="7209000" y="37643400"/>
            <a:ext cx="1233000" cy="365400"/>
          </a:xfrm>
          <a:prstGeom prst="rect">
            <a:avLst/>
          </a:prstGeom>
          <a:solidFill>
            <a:srgbClr val="548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92" name="TextBox 1491"/>
          <p:cNvSpPr txBox="1"/>
          <p:nvPr/>
        </p:nvSpPr>
        <p:spPr>
          <a:xfrm>
            <a:off x="7191000" y="37625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.82</a:t>
            </a:r>
          </a:p>
        </p:txBody>
      </p:sp>
      <p:sp>
        <p:nvSpPr>
          <p:cNvPr id="1493" name="Rectangle 1492"/>
          <p:cNvSpPr/>
          <p:nvPr/>
        </p:nvSpPr>
        <p:spPr>
          <a:xfrm>
            <a:off x="8478000" y="37643400"/>
            <a:ext cx="1233000" cy="365400"/>
          </a:xfrm>
          <a:prstGeom prst="rect">
            <a:avLst/>
          </a:prstGeom>
          <a:solidFill>
            <a:srgbClr val="C4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94" name="TextBox 1493"/>
          <p:cNvSpPr txBox="1"/>
          <p:nvPr/>
        </p:nvSpPr>
        <p:spPr>
          <a:xfrm>
            <a:off x="8460000" y="37625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.31</a:t>
            </a:r>
          </a:p>
        </p:txBody>
      </p:sp>
      <p:sp>
        <p:nvSpPr>
          <p:cNvPr id="1495" name="Rectangle 1494"/>
          <p:cNvSpPr/>
          <p:nvPr/>
        </p:nvSpPr>
        <p:spPr>
          <a:xfrm>
            <a:off x="9963000" y="37643400"/>
            <a:ext cx="1233000" cy="365400"/>
          </a:xfrm>
          <a:prstGeom prst="rect">
            <a:avLst/>
          </a:prstGeom>
          <a:solidFill>
            <a:srgbClr val="7FA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96" name="TextBox 1495"/>
          <p:cNvSpPr txBox="1"/>
          <p:nvPr/>
        </p:nvSpPr>
        <p:spPr>
          <a:xfrm>
            <a:off x="9945000" y="37625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.66</a:t>
            </a:r>
          </a:p>
        </p:txBody>
      </p:sp>
      <p:sp>
        <p:nvSpPr>
          <p:cNvPr id="1497" name="Rectangle 1496"/>
          <p:cNvSpPr/>
          <p:nvPr/>
        </p:nvSpPr>
        <p:spPr>
          <a:xfrm>
            <a:off x="11232000" y="37643400"/>
            <a:ext cx="1233000" cy="365400"/>
          </a:xfrm>
          <a:prstGeom prst="rect">
            <a:avLst/>
          </a:prstGeom>
          <a:solidFill>
            <a:srgbClr val="BAC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98" name="TextBox 1497"/>
          <p:cNvSpPr txBox="1"/>
          <p:nvPr/>
        </p:nvSpPr>
        <p:spPr>
          <a:xfrm>
            <a:off x="11214000" y="37625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.38</a:t>
            </a:r>
          </a:p>
        </p:txBody>
      </p:sp>
      <p:sp>
        <p:nvSpPr>
          <p:cNvPr id="1499" name="Rectangle 1498"/>
          <p:cNvSpPr/>
          <p:nvPr/>
        </p:nvSpPr>
        <p:spPr>
          <a:xfrm>
            <a:off x="12501000" y="37643400"/>
            <a:ext cx="1233000" cy="365400"/>
          </a:xfrm>
          <a:prstGeom prst="rect">
            <a:avLst/>
          </a:prstGeom>
          <a:solidFill>
            <a:srgbClr val="497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00" name="TextBox 1499"/>
          <p:cNvSpPr txBox="1"/>
          <p:nvPr/>
        </p:nvSpPr>
        <p:spPr>
          <a:xfrm>
            <a:off x="12483000" y="37625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.86</a:t>
            </a:r>
          </a:p>
        </p:txBody>
      </p:sp>
      <p:sp>
        <p:nvSpPr>
          <p:cNvPr id="1501" name="Rectangle 1500"/>
          <p:cNvSpPr/>
          <p:nvPr/>
        </p:nvSpPr>
        <p:spPr>
          <a:xfrm>
            <a:off x="13770000" y="37643400"/>
            <a:ext cx="1233000" cy="365400"/>
          </a:xfrm>
          <a:prstGeom prst="rect">
            <a:avLst/>
          </a:prstGeom>
          <a:solidFill>
            <a:srgbClr val="739B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02" name="TextBox 1501"/>
          <p:cNvSpPr txBox="1"/>
          <p:nvPr/>
        </p:nvSpPr>
        <p:spPr>
          <a:xfrm>
            <a:off x="13752000" y="37625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.71</a:t>
            </a:r>
          </a:p>
        </p:txBody>
      </p:sp>
      <p:sp>
        <p:nvSpPr>
          <p:cNvPr id="1503" name="Rectangle 1502"/>
          <p:cNvSpPr/>
          <p:nvPr/>
        </p:nvSpPr>
        <p:spPr>
          <a:xfrm>
            <a:off x="15039000" y="37643400"/>
            <a:ext cx="1233000" cy="365400"/>
          </a:xfrm>
          <a:prstGeom prst="rect">
            <a:avLst/>
          </a:prstGeom>
          <a:solidFill>
            <a:srgbClr val="C4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04" name="TextBox 1503"/>
          <p:cNvSpPr txBox="1"/>
          <p:nvPr/>
        </p:nvSpPr>
        <p:spPr>
          <a:xfrm>
            <a:off x="15021000" y="37625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.31</a:t>
            </a:r>
          </a:p>
        </p:txBody>
      </p:sp>
      <p:sp>
        <p:nvSpPr>
          <p:cNvPr id="1505" name="Rectangle 1504"/>
          <p:cNvSpPr/>
          <p:nvPr/>
        </p:nvSpPr>
        <p:spPr>
          <a:xfrm>
            <a:off x="16524000" y="37643400"/>
            <a:ext cx="1233000" cy="365400"/>
          </a:xfrm>
          <a:prstGeom prst="rect">
            <a:avLst/>
          </a:prstGeom>
          <a:solidFill>
            <a:srgbClr val="4C7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06" name="TextBox 1505"/>
          <p:cNvSpPr txBox="1"/>
          <p:nvPr/>
        </p:nvSpPr>
        <p:spPr>
          <a:xfrm>
            <a:off x="16506000" y="37625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.85</a:t>
            </a:r>
          </a:p>
        </p:txBody>
      </p:sp>
      <p:sp>
        <p:nvSpPr>
          <p:cNvPr id="1507" name="Rectangle 1506"/>
          <p:cNvSpPr/>
          <p:nvPr/>
        </p:nvSpPr>
        <p:spPr>
          <a:xfrm>
            <a:off x="17793000" y="37643400"/>
            <a:ext cx="1233000" cy="365400"/>
          </a:xfrm>
          <a:prstGeom prst="rect">
            <a:avLst/>
          </a:prstGeom>
          <a:solidFill>
            <a:srgbClr val="789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08" name="TextBox 1507"/>
          <p:cNvSpPr txBox="1"/>
          <p:nvPr/>
        </p:nvSpPr>
        <p:spPr>
          <a:xfrm>
            <a:off x="17775000" y="37625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.68</a:t>
            </a:r>
          </a:p>
        </p:txBody>
      </p:sp>
      <p:sp>
        <p:nvSpPr>
          <p:cNvPr id="1509" name="Rectangle 1508"/>
          <p:cNvSpPr/>
          <p:nvPr/>
        </p:nvSpPr>
        <p:spPr>
          <a:xfrm>
            <a:off x="19062000" y="37643400"/>
            <a:ext cx="1233000" cy="365400"/>
          </a:xfrm>
          <a:prstGeom prst="rect">
            <a:avLst/>
          </a:prstGeom>
          <a:solidFill>
            <a:srgbClr val="548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10" name="TextBox 1509"/>
          <p:cNvSpPr txBox="1"/>
          <p:nvPr/>
        </p:nvSpPr>
        <p:spPr>
          <a:xfrm>
            <a:off x="19044000" y="37625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.82</a:t>
            </a:r>
          </a:p>
        </p:txBody>
      </p:sp>
      <p:sp>
        <p:nvSpPr>
          <p:cNvPr id="1511" name="Rectangle 1510"/>
          <p:cNvSpPr/>
          <p:nvPr/>
        </p:nvSpPr>
        <p:spPr>
          <a:xfrm>
            <a:off x="20331000" y="37643400"/>
            <a:ext cx="1233000" cy="365400"/>
          </a:xfrm>
          <a:prstGeom prst="rect">
            <a:avLst/>
          </a:prstGeom>
          <a:solidFill>
            <a:srgbClr val="769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12" name="TextBox 1511"/>
          <p:cNvSpPr txBox="1"/>
          <p:nvPr/>
        </p:nvSpPr>
        <p:spPr>
          <a:xfrm>
            <a:off x="20313000" y="37625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.69</a:t>
            </a:r>
          </a:p>
        </p:txBody>
      </p:sp>
      <p:sp>
        <p:nvSpPr>
          <p:cNvPr id="1513" name="Rectangle 1512"/>
          <p:cNvSpPr/>
          <p:nvPr/>
        </p:nvSpPr>
        <p:spPr>
          <a:xfrm>
            <a:off x="21600000" y="37643400"/>
            <a:ext cx="1233000" cy="365400"/>
          </a:xfrm>
          <a:prstGeom prst="rect">
            <a:avLst/>
          </a:prstGeom>
          <a:solidFill>
            <a:srgbClr val="C4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14" name="TextBox 1513"/>
          <p:cNvSpPr txBox="1"/>
          <p:nvPr/>
        </p:nvSpPr>
        <p:spPr>
          <a:xfrm>
            <a:off x="21582000" y="37625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.31</a:t>
            </a:r>
          </a:p>
        </p:txBody>
      </p:sp>
      <p:sp>
        <p:nvSpPr>
          <p:cNvPr id="1515" name="Rectangle 1514"/>
          <p:cNvSpPr/>
          <p:nvPr/>
        </p:nvSpPr>
        <p:spPr>
          <a:xfrm>
            <a:off x="23085000" y="37643400"/>
            <a:ext cx="1233000" cy="365400"/>
          </a:xfrm>
          <a:prstGeom prst="rect">
            <a:avLst/>
          </a:prstGeom>
          <a:solidFill>
            <a:srgbClr val="447A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16" name="TextBox 1515"/>
          <p:cNvSpPr txBox="1"/>
          <p:nvPr/>
        </p:nvSpPr>
        <p:spPr>
          <a:xfrm>
            <a:off x="23067000" y="37625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.88</a:t>
            </a:r>
          </a:p>
        </p:txBody>
      </p:sp>
      <p:sp>
        <p:nvSpPr>
          <p:cNvPr id="1517" name="Rectangle 1516"/>
          <p:cNvSpPr/>
          <p:nvPr/>
        </p:nvSpPr>
        <p:spPr>
          <a:xfrm>
            <a:off x="24354000" y="37643400"/>
            <a:ext cx="1233000" cy="365400"/>
          </a:xfrm>
          <a:prstGeom prst="rect">
            <a:avLst/>
          </a:prstGeom>
          <a:solidFill>
            <a:srgbClr val="83A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18" name="TextBox 1517"/>
          <p:cNvSpPr txBox="1"/>
          <p:nvPr/>
        </p:nvSpPr>
        <p:spPr>
          <a:xfrm>
            <a:off x="24336000" y="37625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.64</a:t>
            </a:r>
          </a:p>
        </p:txBody>
      </p:sp>
      <p:sp>
        <p:nvSpPr>
          <p:cNvPr id="1519" name="Rectangle 1518"/>
          <p:cNvSpPr/>
          <p:nvPr/>
        </p:nvSpPr>
        <p:spPr>
          <a:xfrm>
            <a:off x="25623000" y="37643400"/>
            <a:ext cx="1233000" cy="365400"/>
          </a:xfrm>
          <a:prstGeom prst="rect">
            <a:avLst/>
          </a:prstGeom>
          <a:solidFill>
            <a:srgbClr val="5283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20" name="TextBox 1519"/>
          <p:cNvSpPr txBox="1"/>
          <p:nvPr/>
        </p:nvSpPr>
        <p:spPr>
          <a:xfrm>
            <a:off x="25605000" y="37625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.83</a:t>
            </a:r>
          </a:p>
        </p:txBody>
      </p:sp>
      <p:sp>
        <p:nvSpPr>
          <p:cNvPr id="1521" name="Rectangle 1520"/>
          <p:cNvSpPr/>
          <p:nvPr/>
        </p:nvSpPr>
        <p:spPr>
          <a:xfrm>
            <a:off x="26892000" y="37643400"/>
            <a:ext cx="1233000" cy="365400"/>
          </a:xfrm>
          <a:prstGeom prst="rect">
            <a:avLst/>
          </a:prstGeom>
          <a:solidFill>
            <a:srgbClr val="558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22" name="TextBox 1521"/>
          <p:cNvSpPr txBox="1"/>
          <p:nvPr/>
        </p:nvSpPr>
        <p:spPr>
          <a:xfrm>
            <a:off x="26874000" y="37625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.82</a:t>
            </a:r>
          </a:p>
        </p:txBody>
      </p:sp>
      <p:sp>
        <p:nvSpPr>
          <p:cNvPr id="1523" name="Rectangle 1522"/>
          <p:cNvSpPr/>
          <p:nvPr/>
        </p:nvSpPr>
        <p:spPr>
          <a:xfrm>
            <a:off x="28161000" y="37643400"/>
            <a:ext cx="1233000" cy="365400"/>
          </a:xfrm>
          <a:prstGeom prst="rect">
            <a:avLst/>
          </a:prstGeom>
          <a:solidFill>
            <a:srgbClr val="C4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24" name="TextBox 1523"/>
          <p:cNvSpPr txBox="1"/>
          <p:nvPr/>
        </p:nvSpPr>
        <p:spPr>
          <a:xfrm>
            <a:off x="28143000" y="37625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.31</a:t>
            </a:r>
          </a:p>
        </p:txBody>
      </p:sp>
      <p:sp>
        <p:nvSpPr>
          <p:cNvPr id="1525" name="TextBox 1524"/>
          <p:cNvSpPr txBox="1"/>
          <p:nvPr/>
        </p:nvSpPr>
        <p:spPr>
          <a:xfrm>
            <a:off x="864000" y="38026800"/>
            <a:ext cx="2448000" cy="4014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Segoe UI"/>
              </a:rPr>
              <a:t>Transkribus Text Titan II</a:t>
            </a:r>
          </a:p>
        </p:txBody>
      </p:sp>
      <p:sp>
        <p:nvSpPr>
          <p:cNvPr id="1526" name="Rectangle 1525"/>
          <p:cNvSpPr/>
          <p:nvPr/>
        </p:nvSpPr>
        <p:spPr>
          <a:xfrm>
            <a:off x="3402000" y="38044800"/>
            <a:ext cx="1233000" cy="365400"/>
          </a:xfrm>
          <a:prstGeom prst="rect">
            <a:avLst/>
          </a:prstGeom>
          <a:solidFill>
            <a:srgbClr val="518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27" name="TextBox 1526"/>
          <p:cNvSpPr txBox="1"/>
          <p:nvPr/>
        </p:nvSpPr>
        <p:spPr>
          <a:xfrm>
            <a:off x="3384000" y="38026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.83</a:t>
            </a:r>
          </a:p>
        </p:txBody>
      </p:sp>
      <p:sp>
        <p:nvSpPr>
          <p:cNvPr id="1528" name="Rectangle 1527"/>
          <p:cNvSpPr/>
          <p:nvPr/>
        </p:nvSpPr>
        <p:spPr>
          <a:xfrm>
            <a:off x="4671000" y="38044800"/>
            <a:ext cx="1233000" cy="365400"/>
          </a:xfrm>
          <a:prstGeom prst="rect">
            <a:avLst/>
          </a:prstGeom>
          <a:solidFill>
            <a:srgbClr val="9AB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29" name="TextBox 1528"/>
          <p:cNvSpPr txBox="1"/>
          <p:nvPr/>
        </p:nvSpPr>
        <p:spPr>
          <a:xfrm>
            <a:off x="4653000" y="38026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.54</a:t>
            </a:r>
          </a:p>
        </p:txBody>
      </p:sp>
      <p:sp>
        <p:nvSpPr>
          <p:cNvPr id="1530" name="Rectangle 1529"/>
          <p:cNvSpPr/>
          <p:nvPr/>
        </p:nvSpPr>
        <p:spPr>
          <a:xfrm>
            <a:off x="5940000" y="38044800"/>
            <a:ext cx="1233000" cy="365400"/>
          </a:xfrm>
          <a:prstGeom prst="rect">
            <a:avLst/>
          </a:prstGeom>
          <a:solidFill>
            <a:srgbClr val="A8C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1" name="TextBox 1530"/>
          <p:cNvSpPr txBox="1"/>
          <p:nvPr/>
        </p:nvSpPr>
        <p:spPr>
          <a:xfrm>
            <a:off x="5922000" y="38026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.47</a:t>
            </a:r>
          </a:p>
        </p:txBody>
      </p:sp>
      <p:sp>
        <p:nvSpPr>
          <p:cNvPr id="1532" name="Rectangle 1531"/>
          <p:cNvSpPr/>
          <p:nvPr/>
        </p:nvSpPr>
        <p:spPr>
          <a:xfrm>
            <a:off x="7209000" y="38044800"/>
            <a:ext cx="1233000" cy="365400"/>
          </a:xfrm>
          <a:prstGeom prst="rect">
            <a:avLst/>
          </a:prstGeom>
          <a:solidFill>
            <a:srgbClr val="729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3" name="TextBox 1532"/>
          <p:cNvSpPr txBox="1"/>
          <p:nvPr/>
        </p:nvSpPr>
        <p:spPr>
          <a:xfrm>
            <a:off x="7191000" y="38026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.71</a:t>
            </a:r>
          </a:p>
        </p:txBody>
      </p:sp>
      <p:sp>
        <p:nvSpPr>
          <p:cNvPr id="1534" name="Rectangle 1533"/>
          <p:cNvSpPr/>
          <p:nvPr/>
        </p:nvSpPr>
        <p:spPr>
          <a:xfrm>
            <a:off x="8478000" y="38044800"/>
            <a:ext cx="1233000" cy="365400"/>
          </a:xfrm>
          <a:prstGeom prst="rect">
            <a:avLst/>
          </a:prstGeom>
          <a:solidFill>
            <a:srgbClr val="C9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5" name="TextBox 1534"/>
          <p:cNvSpPr txBox="1"/>
          <p:nvPr/>
        </p:nvSpPr>
        <p:spPr>
          <a:xfrm>
            <a:off x="8460000" y="38026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.28</a:t>
            </a:r>
          </a:p>
        </p:txBody>
      </p:sp>
      <p:sp>
        <p:nvSpPr>
          <p:cNvPr id="1536" name="Rectangle 1535"/>
          <p:cNvSpPr/>
          <p:nvPr/>
        </p:nvSpPr>
        <p:spPr>
          <a:xfrm>
            <a:off x="9963000" y="38044800"/>
            <a:ext cx="1233000" cy="365400"/>
          </a:xfrm>
          <a:prstGeom prst="rect">
            <a:avLst/>
          </a:prstGeom>
          <a:solidFill>
            <a:srgbClr val="8AA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7" name="TextBox 1536"/>
          <p:cNvSpPr txBox="1"/>
          <p:nvPr/>
        </p:nvSpPr>
        <p:spPr>
          <a:xfrm>
            <a:off x="9945000" y="38026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.61</a:t>
            </a:r>
          </a:p>
        </p:txBody>
      </p:sp>
      <p:sp>
        <p:nvSpPr>
          <p:cNvPr id="1538" name="Rectangle 1537"/>
          <p:cNvSpPr/>
          <p:nvPr/>
        </p:nvSpPr>
        <p:spPr>
          <a:xfrm>
            <a:off x="11232000" y="38044800"/>
            <a:ext cx="1233000" cy="365400"/>
          </a:xfrm>
          <a:prstGeom prst="rect">
            <a:avLst/>
          </a:prstGeom>
          <a:solidFill>
            <a:srgbClr val="C7D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9" name="TextBox 1538"/>
          <p:cNvSpPr txBox="1"/>
          <p:nvPr/>
        </p:nvSpPr>
        <p:spPr>
          <a:xfrm>
            <a:off x="11214000" y="38026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.29</a:t>
            </a:r>
          </a:p>
        </p:txBody>
      </p:sp>
      <p:sp>
        <p:nvSpPr>
          <p:cNvPr id="1540" name="Rectangle 1539"/>
          <p:cNvSpPr/>
          <p:nvPr/>
        </p:nvSpPr>
        <p:spPr>
          <a:xfrm>
            <a:off x="12501000" y="38044800"/>
            <a:ext cx="1233000" cy="365400"/>
          </a:xfrm>
          <a:prstGeom prst="rect">
            <a:avLst/>
          </a:prstGeom>
          <a:solidFill>
            <a:srgbClr val="578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41" name="TextBox 1540"/>
          <p:cNvSpPr txBox="1"/>
          <p:nvPr/>
        </p:nvSpPr>
        <p:spPr>
          <a:xfrm>
            <a:off x="12483000" y="38026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.81</a:t>
            </a:r>
          </a:p>
        </p:txBody>
      </p:sp>
      <p:sp>
        <p:nvSpPr>
          <p:cNvPr id="1542" name="Rectangle 1541"/>
          <p:cNvSpPr/>
          <p:nvPr/>
        </p:nvSpPr>
        <p:spPr>
          <a:xfrm>
            <a:off x="13770000" y="38044800"/>
            <a:ext cx="1233000" cy="365400"/>
          </a:xfrm>
          <a:prstGeom prst="rect">
            <a:avLst/>
          </a:prstGeom>
          <a:solidFill>
            <a:srgbClr val="7FA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43" name="TextBox 1542"/>
          <p:cNvSpPr txBox="1"/>
          <p:nvPr/>
        </p:nvSpPr>
        <p:spPr>
          <a:xfrm>
            <a:off x="13752000" y="38026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.66</a:t>
            </a:r>
          </a:p>
        </p:txBody>
      </p:sp>
      <p:sp>
        <p:nvSpPr>
          <p:cNvPr id="1544" name="Rectangle 1543"/>
          <p:cNvSpPr/>
          <p:nvPr/>
        </p:nvSpPr>
        <p:spPr>
          <a:xfrm>
            <a:off x="15039000" y="38044800"/>
            <a:ext cx="1233000" cy="365400"/>
          </a:xfrm>
          <a:prstGeom prst="rect">
            <a:avLst/>
          </a:prstGeom>
          <a:solidFill>
            <a:srgbClr val="C9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45" name="TextBox 1544"/>
          <p:cNvSpPr txBox="1"/>
          <p:nvPr/>
        </p:nvSpPr>
        <p:spPr>
          <a:xfrm>
            <a:off x="15021000" y="38026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.28</a:t>
            </a:r>
          </a:p>
        </p:txBody>
      </p:sp>
      <p:sp>
        <p:nvSpPr>
          <p:cNvPr id="1546" name="Rectangle 1545"/>
          <p:cNvSpPr/>
          <p:nvPr/>
        </p:nvSpPr>
        <p:spPr>
          <a:xfrm>
            <a:off x="16524000" y="38044800"/>
            <a:ext cx="1233000" cy="365400"/>
          </a:xfrm>
          <a:prstGeom prst="rect">
            <a:avLst/>
          </a:prstGeom>
          <a:solidFill>
            <a:srgbClr val="548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47" name="TextBox 1546"/>
          <p:cNvSpPr txBox="1"/>
          <p:nvPr/>
        </p:nvSpPr>
        <p:spPr>
          <a:xfrm>
            <a:off x="16506000" y="38026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.82</a:t>
            </a:r>
          </a:p>
        </p:txBody>
      </p:sp>
      <p:sp>
        <p:nvSpPr>
          <p:cNvPr id="1548" name="Rectangle 1547"/>
          <p:cNvSpPr/>
          <p:nvPr/>
        </p:nvSpPr>
        <p:spPr>
          <a:xfrm>
            <a:off x="17793000" y="38044800"/>
            <a:ext cx="1233000" cy="365400"/>
          </a:xfrm>
          <a:prstGeom prst="rect">
            <a:avLst/>
          </a:prstGeom>
          <a:solidFill>
            <a:srgbClr val="8AA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49" name="TextBox 1548"/>
          <p:cNvSpPr txBox="1"/>
          <p:nvPr/>
        </p:nvSpPr>
        <p:spPr>
          <a:xfrm>
            <a:off x="17775000" y="38026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.61</a:t>
            </a:r>
          </a:p>
        </p:txBody>
      </p:sp>
      <p:sp>
        <p:nvSpPr>
          <p:cNvPr id="1550" name="Rectangle 1549"/>
          <p:cNvSpPr/>
          <p:nvPr/>
        </p:nvSpPr>
        <p:spPr>
          <a:xfrm>
            <a:off x="19062000" y="38044800"/>
            <a:ext cx="1233000" cy="365400"/>
          </a:xfrm>
          <a:prstGeom prst="rect">
            <a:avLst/>
          </a:prstGeom>
          <a:solidFill>
            <a:srgbClr val="669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51" name="TextBox 1550"/>
          <p:cNvSpPr txBox="1"/>
          <p:nvPr/>
        </p:nvSpPr>
        <p:spPr>
          <a:xfrm>
            <a:off x="19044000" y="38026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.75</a:t>
            </a:r>
          </a:p>
        </p:txBody>
      </p:sp>
      <p:sp>
        <p:nvSpPr>
          <p:cNvPr id="1552" name="Rectangle 1551"/>
          <p:cNvSpPr/>
          <p:nvPr/>
        </p:nvSpPr>
        <p:spPr>
          <a:xfrm>
            <a:off x="20331000" y="38044800"/>
            <a:ext cx="1233000" cy="365400"/>
          </a:xfrm>
          <a:prstGeom prst="rect">
            <a:avLst/>
          </a:prstGeom>
          <a:solidFill>
            <a:srgbClr val="88A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53" name="TextBox 1552"/>
          <p:cNvSpPr txBox="1"/>
          <p:nvPr/>
        </p:nvSpPr>
        <p:spPr>
          <a:xfrm>
            <a:off x="20313000" y="38026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.62</a:t>
            </a:r>
          </a:p>
        </p:txBody>
      </p:sp>
      <p:sp>
        <p:nvSpPr>
          <p:cNvPr id="1554" name="Rectangle 1553"/>
          <p:cNvSpPr/>
          <p:nvPr/>
        </p:nvSpPr>
        <p:spPr>
          <a:xfrm>
            <a:off x="21600000" y="38044800"/>
            <a:ext cx="1233000" cy="365400"/>
          </a:xfrm>
          <a:prstGeom prst="rect">
            <a:avLst/>
          </a:prstGeom>
          <a:solidFill>
            <a:srgbClr val="C9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55" name="TextBox 1554"/>
          <p:cNvSpPr txBox="1"/>
          <p:nvPr/>
        </p:nvSpPr>
        <p:spPr>
          <a:xfrm>
            <a:off x="21582000" y="38026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.28</a:t>
            </a:r>
          </a:p>
        </p:txBody>
      </p:sp>
      <p:sp>
        <p:nvSpPr>
          <p:cNvPr id="1556" name="Rectangle 1555"/>
          <p:cNvSpPr/>
          <p:nvPr/>
        </p:nvSpPr>
        <p:spPr>
          <a:xfrm>
            <a:off x="23085000" y="38044800"/>
            <a:ext cx="1233000" cy="365400"/>
          </a:xfrm>
          <a:prstGeom prst="rect">
            <a:avLst/>
          </a:prstGeom>
          <a:solidFill>
            <a:srgbClr val="4A7E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57" name="TextBox 1556"/>
          <p:cNvSpPr txBox="1"/>
          <p:nvPr/>
        </p:nvSpPr>
        <p:spPr>
          <a:xfrm>
            <a:off x="23067000" y="38026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.86</a:t>
            </a:r>
          </a:p>
        </p:txBody>
      </p:sp>
      <p:sp>
        <p:nvSpPr>
          <p:cNvPr id="1558" name="Rectangle 1557"/>
          <p:cNvSpPr/>
          <p:nvPr/>
        </p:nvSpPr>
        <p:spPr>
          <a:xfrm>
            <a:off x="24354000" y="38044800"/>
            <a:ext cx="1233000" cy="365400"/>
          </a:xfrm>
          <a:prstGeom prst="rect">
            <a:avLst/>
          </a:prstGeom>
          <a:solidFill>
            <a:srgbClr val="89A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59" name="TextBox 1558"/>
          <p:cNvSpPr txBox="1"/>
          <p:nvPr/>
        </p:nvSpPr>
        <p:spPr>
          <a:xfrm>
            <a:off x="24336000" y="38026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.62</a:t>
            </a:r>
          </a:p>
        </p:txBody>
      </p:sp>
      <p:sp>
        <p:nvSpPr>
          <p:cNvPr id="1560" name="Rectangle 1559"/>
          <p:cNvSpPr/>
          <p:nvPr/>
        </p:nvSpPr>
        <p:spPr>
          <a:xfrm>
            <a:off x="25623000" y="38044800"/>
            <a:ext cx="1233000" cy="365400"/>
          </a:xfrm>
          <a:prstGeom prst="rect">
            <a:avLst/>
          </a:prstGeom>
          <a:solidFill>
            <a:srgbClr val="4A7E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61" name="TextBox 1560"/>
          <p:cNvSpPr txBox="1"/>
          <p:nvPr/>
        </p:nvSpPr>
        <p:spPr>
          <a:xfrm>
            <a:off x="25605000" y="38026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.86</a:t>
            </a:r>
          </a:p>
        </p:txBody>
      </p:sp>
      <p:sp>
        <p:nvSpPr>
          <p:cNvPr id="1562" name="Rectangle 1561"/>
          <p:cNvSpPr/>
          <p:nvPr/>
        </p:nvSpPr>
        <p:spPr>
          <a:xfrm>
            <a:off x="26892000" y="38044800"/>
            <a:ext cx="1233000" cy="365400"/>
          </a:xfrm>
          <a:prstGeom prst="rect">
            <a:avLst/>
          </a:prstGeom>
          <a:solidFill>
            <a:srgbClr val="568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63" name="TextBox 1562"/>
          <p:cNvSpPr txBox="1"/>
          <p:nvPr/>
        </p:nvSpPr>
        <p:spPr>
          <a:xfrm>
            <a:off x="26874000" y="38026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.81</a:t>
            </a:r>
          </a:p>
        </p:txBody>
      </p:sp>
      <p:sp>
        <p:nvSpPr>
          <p:cNvPr id="1564" name="Rectangle 1563"/>
          <p:cNvSpPr/>
          <p:nvPr/>
        </p:nvSpPr>
        <p:spPr>
          <a:xfrm>
            <a:off x="28161000" y="38044800"/>
            <a:ext cx="1233000" cy="365400"/>
          </a:xfrm>
          <a:prstGeom prst="rect">
            <a:avLst/>
          </a:prstGeom>
          <a:solidFill>
            <a:srgbClr val="C9D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65" name="TextBox 1564"/>
          <p:cNvSpPr txBox="1"/>
          <p:nvPr/>
        </p:nvSpPr>
        <p:spPr>
          <a:xfrm>
            <a:off x="28143000" y="38026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.28</a:t>
            </a:r>
          </a:p>
        </p:txBody>
      </p:sp>
      <p:sp>
        <p:nvSpPr>
          <p:cNvPr id="1566" name="TextBox 1565"/>
          <p:cNvSpPr txBox="1"/>
          <p:nvPr/>
        </p:nvSpPr>
        <p:spPr>
          <a:xfrm>
            <a:off x="864000" y="38428200"/>
            <a:ext cx="2448000" cy="4014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Segoe UI"/>
              </a:rPr>
              <a:t>Claude Sonnet 5</a:t>
            </a:r>
          </a:p>
        </p:txBody>
      </p:sp>
      <p:sp>
        <p:nvSpPr>
          <p:cNvPr id="1567" name="Rectangle 1566"/>
          <p:cNvSpPr/>
          <p:nvPr/>
        </p:nvSpPr>
        <p:spPr>
          <a:xfrm>
            <a:off x="3402000" y="38446200"/>
            <a:ext cx="1233000" cy="365400"/>
          </a:xfrm>
          <a:prstGeom prst="rect">
            <a:avLst/>
          </a:prstGeom>
          <a:solidFill>
            <a:srgbClr val="7EA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68" name="TextBox 1567"/>
          <p:cNvSpPr txBox="1"/>
          <p:nvPr/>
        </p:nvSpPr>
        <p:spPr>
          <a:xfrm>
            <a:off x="3384000" y="384282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.66</a:t>
            </a:r>
          </a:p>
        </p:txBody>
      </p:sp>
      <p:sp>
        <p:nvSpPr>
          <p:cNvPr id="1569" name="Rectangle 1568"/>
          <p:cNvSpPr/>
          <p:nvPr/>
        </p:nvSpPr>
        <p:spPr>
          <a:xfrm>
            <a:off x="4671000" y="38446200"/>
            <a:ext cx="1233000" cy="365400"/>
          </a:xfrm>
          <a:prstGeom prst="rect">
            <a:avLst/>
          </a:prstGeom>
          <a:solidFill>
            <a:srgbClr val="C3D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70" name="TextBox 1569"/>
          <p:cNvSpPr txBox="1"/>
          <p:nvPr/>
        </p:nvSpPr>
        <p:spPr>
          <a:xfrm>
            <a:off x="4653000" y="384282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.33</a:t>
            </a:r>
          </a:p>
        </p:txBody>
      </p:sp>
      <p:sp>
        <p:nvSpPr>
          <p:cNvPr id="1571" name="Rectangle 1570"/>
          <p:cNvSpPr/>
          <p:nvPr/>
        </p:nvSpPr>
        <p:spPr>
          <a:xfrm>
            <a:off x="5940000" y="38446200"/>
            <a:ext cx="1233000" cy="365400"/>
          </a:xfrm>
          <a:prstGeom prst="rect">
            <a:avLst/>
          </a:prstGeom>
          <a:solidFill>
            <a:srgbClr val="9BB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72" name="TextBox 1571"/>
          <p:cNvSpPr txBox="1"/>
          <p:nvPr/>
        </p:nvSpPr>
        <p:spPr>
          <a:xfrm>
            <a:off x="5922000" y="384282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.54</a:t>
            </a:r>
          </a:p>
        </p:txBody>
      </p:sp>
      <p:sp>
        <p:nvSpPr>
          <p:cNvPr id="1573" name="Rectangle 1572"/>
          <p:cNvSpPr/>
          <p:nvPr/>
        </p:nvSpPr>
        <p:spPr>
          <a:xfrm>
            <a:off x="7209000" y="38446200"/>
            <a:ext cx="1233000" cy="365400"/>
          </a:xfrm>
          <a:prstGeom prst="rect">
            <a:avLst/>
          </a:prstGeom>
          <a:solidFill>
            <a:srgbClr val="8DA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74" name="TextBox 1573"/>
          <p:cNvSpPr txBox="1"/>
          <p:nvPr/>
        </p:nvSpPr>
        <p:spPr>
          <a:xfrm>
            <a:off x="7191000" y="384282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.60</a:t>
            </a:r>
          </a:p>
        </p:txBody>
      </p:sp>
      <p:sp>
        <p:nvSpPr>
          <p:cNvPr id="1575" name="Rectangle 1574"/>
          <p:cNvSpPr/>
          <p:nvPr/>
        </p:nvSpPr>
        <p:spPr>
          <a:xfrm>
            <a:off x="8478000" y="38446200"/>
            <a:ext cx="1233000" cy="365400"/>
          </a:xfrm>
          <a:prstGeom prst="rect">
            <a:avLst/>
          </a:prstGeom>
          <a:solidFill>
            <a:srgbClr val="B7C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76" name="TextBox 1575"/>
          <p:cNvSpPr txBox="1"/>
          <p:nvPr/>
        </p:nvSpPr>
        <p:spPr>
          <a:xfrm>
            <a:off x="8460000" y="384282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.39</a:t>
            </a:r>
          </a:p>
        </p:txBody>
      </p:sp>
      <p:sp>
        <p:nvSpPr>
          <p:cNvPr id="1577" name="Rectangle 1576"/>
          <p:cNvSpPr/>
          <p:nvPr/>
        </p:nvSpPr>
        <p:spPr>
          <a:xfrm>
            <a:off x="9963000" y="38446200"/>
            <a:ext cx="1233000" cy="365400"/>
          </a:xfrm>
          <a:prstGeom prst="rect">
            <a:avLst/>
          </a:prstGeom>
          <a:solidFill>
            <a:srgbClr val="A0B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78" name="TextBox 1577"/>
          <p:cNvSpPr txBox="1"/>
          <p:nvPr/>
        </p:nvSpPr>
        <p:spPr>
          <a:xfrm>
            <a:off x="9945000" y="384282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.51</a:t>
            </a:r>
          </a:p>
        </p:txBody>
      </p:sp>
      <p:sp>
        <p:nvSpPr>
          <p:cNvPr id="1579" name="Rectangle 1578"/>
          <p:cNvSpPr/>
          <p:nvPr/>
        </p:nvSpPr>
        <p:spPr>
          <a:xfrm>
            <a:off x="11232000" y="38446200"/>
            <a:ext cx="1233000" cy="365400"/>
          </a:xfrm>
          <a:prstGeom prst="rect">
            <a:avLst/>
          </a:prstGeom>
          <a:solidFill>
            <a:srgbClr val="D3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80" name="TextBox 1579"/>
          <p:cNvSpPr txBox="1"/>
          <p:nvPr/>
        </p:nvSpPr>
        <p:spPr>
          <a:xfrm>
            <a:off x="11214000" y="384282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.21</a:t>
            </a:r>
          </a:p>
        </p:txBody>
      </p:sp>
      <p:sp>
        <p:nvSpPr>
          <p:cNvPr id="1581" name="Rectangle 1580"/>
          <p:cNvSpPr/>
          <p:nvPr/>
        </p:nvSpPr>
        <p:spPr>
          <a:xfrm>
            <a:off x="12501000" y="38446200"/>
            <a:ext cx="1233000" cy="365400"/>
          </a:xfrm>
          <a:prstGeom prst="rect">
            <a:avLst/>
          </a:prstGeom>
          <a:solidFill>
            <a:srgbClr val="669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82" name="TextBox 1581"/>
          <p:cNvSpPr txBox="1"/>
          <p:nvPr/>
        </p:nvSpPr>
        <p:spPr>
          <a:xfrm>
            <a:off x="12483000" y="384282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.76</a:t>
            </a:r>
          </a:p>
        </p:txBody>
      </p:sp>
      <p:sp>
        <p:nvSpPr>
          <p:cNvPr id="1583" name="Rectangle 1582"/>
          <p:cNvSpPr/>
          <p:nvPr/>
        </p:nvSpPr>
        <p:spPr>
          <a:xfrm>
            <a:off x="13770000" y="38446200"/>
            <a:ext cx="1233000" cy="365400"/>
          </a:xfrm>
          <a:prstGeom prst="rect">
            <a:avLst/>
          </a:prstGeom>
          <a:solidFill>
            <a:srgbClr val="8DA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84" name="TextBox 1583"/>
          <p:cNvSpPr txBox="1"/>
          <p:nvPr/>
        </p:nvSpPr>
        <p:spPr>
          <a:xfrm>
            <a:off x="13752000" y="384282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.60</a:t>
            </a:r>
          </a:p>
        </p:txBody>
      </p:sp>
      <p:sp>
        <p:nvSpPr>
          <p:cNvPr id="1585" name="Rectangle 1584"/>
          <p:cNvSpPr/>
          <p:nvPr/>
        </p:nvSpPr>
        <p:spPr>
          <a:xfrm>
            <a:off x="15039000" y="38446200"/>
            <a:ext cx="1233000" cy="365400"/>
          </a:xfrm>
          <a:prstGeom prst="rect">
            <a:avLst/>
          </a:prstGeom>
          <a:solidFill>
            <a:srgbClr val="B5C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86" name="TextBox 1585"/>
          <p:cNvSpPr txBox="1"/>
          <p:nvPr/>
        </p:nvSpPr>
        <p:spPr>
          <a:xfrm>
            <a:off x="15021000" y="384282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.41</a:t>
            </a:r>
          </a:p>
        </p:txBody>
      </p:sp>
      <p:sp>
        <p:nvSpPr>
          <p:cNvPr id="1587" name="Rectangle 1586"/>
          <p:cNvSpPr/>
          <p:nvPr/>
        </p:nvSpPr>
        <p:spPr>
          <a:xfrm>
            <a:off x="16524000" y="38446200"/>
            <a:ext cx="1233000" cy="365400"/>
          </a:xfrm>
          <a:prstGeom prst="rect">
            <a:avLst/>
          </a:prstGeom>
          <a:solidFill>
            <a:srgbClr val="7DA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88" name="TextBox 1587"/>
          <p:cNvSpPr txBox="1"/>
          <p:nvPr/>
        </p:nvSpPr>
        <p:spPr>
          <a:xfrm>
            <a:off x="16506000" y="384282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.67</a:t>
            </a:r>
          </a:p>
        </p:txBody>
      </p:sp>
      <p:sp>
        <p:nvSpPr>
          <p:cNvPr id="1589" name="Rectangle 1588"/>
          <p:cNvSpPr/>
          <p:nvPr/>
        </p:nvSpPr>
        <p:spPr>
          <a:xfrm>
            <a:off x="17793000" y="38446200"/>
            <a:ext cx="1233000" cy="365400"/>
          </a:xfrm>
          <a:prstGeom prst="rect">
            <a:avLst/>
          </a:prstGeom>
          <a:solidFill>
            <a:srgbClr val="B0C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90" name="TextBox 1589"/>
          <p:cNvSpPr txBox="1"/>
          <p:nvPr/>
        </p:nvSpPr>
        <p:spPr>
          <a:xfrm>
            <a:off x="17775000" y="384282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.43</a:t>
            </a:r>
          </a:p>
        </p:txBody>
      </p:sp>
      <p:sp>
        <p:nvSpPr>
          <p:cNvPr id="1591" name="Rectangle 1590"/>
          <p:cNvSpPr/>
          <p:nvPr/>
        </p:nvSpPr>
        <p:spPr>
          <a:xfrm>
            <a:off x="19062000" y="38446200"/>
            <a:ext cx="1233000" cy="365400"/>
          </a:xfrm>
          <a:prstGeom prst="rect">
            <a:avLst/>
          </a:prstGeom>
          <a:solidFill>
            <a:srgbClr val="5B8A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92" name="TextBox 1591"/>
          <p:cNvSpPr txBox="1"/>
          <p:nvPr/>
        </p:nvSpPr>
        <p:spPr>
          <a:xfrm>
            <a:off x="19044000" y="384282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.80</a:t>
            </a:r>
          </a:p>
        </p:txBody>
      </p:sp>
      <p:sp>
        <p:nvSpPr>
          <p:cNvPr id="1593" name="Rectangle 1592"/>
          <p:cNvSpPr/>
          <p:nvPr/>
        </p:nvSpPr>
        <p:spPr>
          <a:xfrm>
            <a:off x="20331000" y="38446200"/>
            <a:ext cx="1233000" cy="365400"/>
          </a:xfrm>
          <a:prstGeom prst="rect">
            <a:avLst/>
          </a:prstGeom>
          <a:solidFill>
            <a:srgbClr val="749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94" name="TextBox 1593"/>
          <p:cNvSpPr txBox="1"/>
          <p:nvPr/>
        </p:nvSpPr>
        <p:spPr>
          <a:xfrm>
            <a:off x="20313000" y="384282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.70</a:t>
            </a:r>
          </a:p>
        </p:txBody>
      </p:sp>
      <p:sp>
        <p:nvSpPr>
          <p:cNvPr id="1595" name="Rectangle 1594"/>
          <p:cNvSpPr/>
          <p:nvPr/>
        </p:nvSpPr>
        <p:spPr>
          <a:xfrm>
            <a:off x="21600000" y="38446200"/>
            <a:ext cx="1233000" cy="365400"/>
          </a:xfrm>
          <a:prstGeom prst="rect">
            <a:avLst/>
          </a:prstGeom>
          <a:solidFill>
            <a:srgbClr val="B8C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96" name="TextBox 1595"/>
          <p:cNvSpPr txBox="1"/>
          <p:nvPr/>
        </p:nvSpPr>
        <p:spPr>
          <a:xfrm>
            <a:off x="21582000" y="384282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.39</a:t>
            </a:r>
          </a:p>
        </p:txBody>
      </p:sp>
      <p:sp>
        <p:nvSpPr>
          <p:cNvPr id="1597" name="Rectangle 1596"/>
          <p:cNvSpPr/>
          <p:nvPr/>
        </p:nvSpPr>
        <p:spPr>
          <a:xfrm>
            <a:off x="23085000" y="38446200"/>
            <a:ext cx="1233000" cy="365400"/>
          </a:xfrm>
          <a:prstGeom prst="rect">
            <a:avLst/>
          </a:prstGeom>
          <a:solidFill>
            <a:srgbClr val="427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98" name="TextBox 1597"/>
          <p:cNvSpPr txBox="1"/>
          <p:nvPr/>
        </p:nvSpPr>
        <p:spPr>
          <a:xfrm>
            <a:off x="23067000" y="384282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.89</a:t>
            </a:r>
          </a:p>
        </p:txBody>
      </p:sp>
      <p:sp>
        <p:nvSpPr>
          <p:cNvPr id="1599" name="Rectangle 1598"/>
          <p:cNvSpPr/>
          <p:nvPr/>
        </p:nvSpPr>
        <p:spPr>
          <a:xfrm>
            <a:off x="24354000" y="38446200"/>
            <a:ext cx="1233000" cy="365400"/>
          </a:xfrm>
          <a:prstGeom prst="rect">
            <a:avLst/>
          </a:prstGeom>
          <a:solidFill>
            <a:srgbClr val="6F9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00" name="TextBox 1599"/>
          <p:cNvSpPr txBox="1"/>
          <p:nvPr/>
        </p:nvSpPr>
        <p:spPr>
          <a:xfrm>
            <a:off x="24336000" y="384282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.72</a:t>
            </a:r>
          </a:p>
        </p:txBody>
      </p:sp>
      <p:sp>
        <p:nvSpPr>
          <p:cNvPr id="1601" name="Rectangle 1600"/>
          <p:cNvSpPr/>
          <p:nvPr/>
        </p:nvSpPr>
        <p:spPr>
          <a:xfrm>
            <a:off x="25623000" y="38446200"/>
            <a:ext cx="1233000" cy="365400"/>
          </a:xfrm>
          <a:prstGeom prst="rect">
            <a:avLst/>
          </a:prstGeom>
          <a:solidFill>
            <a:srgbClr val="40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02" name="TextBox 1601"/>
          <p:cNvSpPr txBox="1"/>
          <p:nvPr/>
        </p:nvSpPr>
        <p:spPr>
          <a:xfrm>
            <a:off x="25605000" y="384282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.89</a:t>
            </a:r>
          </a:p>
        </p:txBody>
      </p:sp>
      <p:sp>
        <p:nvSpPr>
          <p:cNvPr id="1603" name="Rectangle 1602"/>
          <p:cNvSpPr/>
          <p:nvPr/>
        </p:nvSpPr>
        <p:spPr>
          <a:xfrm>
            <a:off x="26892000" y="38446200"/>
            <a:ext cx="1233000" cy="365400"/>
          </a:xfrm>
          <a:prstGeom prst="rect">
            <a:avLst/>
          </a:prstGeom>
          <a:solidFill>
            <a:srgbClr val="5C8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04" name="TextBox 1603"/>
          <p:cNvSpPr txBox="1"/>
          <p:nvPr/>
        </p:nvSpPr>
        <p:spPr>
          <a:xfrm>
            <a:off x="26874000" y="384282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.79</a:t>
            </a:r>
          </a:p>
        </p:txBody>
      </p:sp>
      <p:sp>
        <p:nvSpPr>
          <p:cNvPr id="1605" name="Rectangle 1604"/>
          <p:cNvSpPr/>
          <p:nvPr/>
        </p:nvSpPr>
        <p:spPr>
          <a:xfrm>
            <a:off x="28161000" y="38446200"/>
            <a:ext cx="1233000" cy="365400"/>
          </a:xfrm>
          <a:prstGeom prst="rect">
            <a:avLst/>
          </a:prstGeom>
          <a:solidFill>
            <a:srgbClr val="BED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06" name="TextBox 1605"/>
          <p:cNvSpPr txBox="1"/>
          <p:nvPr/>
        </p:nvSpPr>
        <p:spPr>
          <a:xfrm>
            <a:off x="28143000" y="384282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.36</a:t>
            </a:r>
          </a:p>
        </p:txBody>
      </p:sp>
      <p:sp>
        <p:nvSpPr>
          <p:cNvPr id="1607" name="TextBox 1606"/>
          <p:cNvSpPr txBox="1"/>
          <p:nvPr/>
        </p:nvSpPr>
        <p:spPr>
          <a:xfrm>
            <a:off x="864000" y="38829600"/>
            <a:ext cx="2448000" cy="4014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Segoe UI"/>
              </a:rPr>
              <a:t>TrOCR Kurrent XVI–XVII</a:t>
            </a:r>
          </a:p>
        </p:txBody>
      </p:sp>
      <p:sp>
        <p:nvSpPr>
          <p:cNvPr id="1608" name="Rectangle 1607"/>
          <p:cNvSpPr/>
          <p:nvPr/>
        </p:nvSpPr>
        <p:spPr>
          <a:xfrm>
            <a:off x="3402000" y="38847600"/>
            <a:ext cx="1233000" cy="365400"/>
          </a:xfrm>
          <a:prstGeom prst="rect">
            <a:avLst/>
          </a:prstGeom>
          <a:solidFill>
            <a:srgbClr val="5A8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09" name="TextBox 1608"/>
          <p:cNvSpPr txBox="1"/>
          <p:nvPr/>
        </p:nvSpPr>
        <p:spPr>
          <a:xfrm>
            <a:off x="3384000" y="388296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.80</a:t>
            </a:r>
          </a:p>
        </p:txBody>
      </p:sp>
      <p:sp>
        <p:nvSpPr>
          <p:cNvPr id="1610" name="Rectangle 1609"/>
          <p:cNvSpPr/>
          <p:nvPr/>
        </p:nvSpPr>
        <p:spPr>
          <a:xfrm>
            <a:off x="4671000" y="38847600"/>
            <a:ext cx="1233000" cy="365400"/>
          </a:xfrm>
          <a:prstGeom prst="rect">
            <a:avLst/>
          </a:prstGeom>
          <a:solidFill>
            <a:srgbClr val="C5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11" name="TextBox 1610"/>
          <p:cNvSpPr txBox="1"/>
          <p:nvPr/>
        </p:nvSpPr>
        <p:spPr>
          <a:xfrm>
            <a:off x="4653000" y="388296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.31</a:t>
            </a:r>
          </a:p>
        </p:txBody>
      </p:sp>
      <p:sp>
        <p:nvSpPr>
          <p:cNvPr id="1612" name="Rectangle 1611"/>
          <p:cNvSpPr/>
          <p:nvPr/>
        </p:nvSpPr>
        <p:spPr>
          <a:xfrm>
            <a:off x="5940000" y="38847600"/>
            <a:ext cx="1233000" cy="365400"/>
          </a:xfrm>
          <a:prstGeom prst="rect">
            <a:avLst/>
          </a:prstGeom>
          <a:solidFill>
            <a:srgbClr val="AAC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13" name="TextBox 1612"/>
          <p:cNvSpPr txBox="1"/>
          <p:nvPr/>
        </p:nvSpPr>
        <p:spPr>
          <a:xfrm>
            <a:off x="5922000" y="388296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.46</a:t>
            </a:r>
          </a:p>
        </p:txBody>
      </p:sp>
      <p:sp>
        <p:nvSpPr>
          <p:cNvPr id="1614" name="Rectangle 1613"/>
          <p:cNvSpPr/>
          <p:nvPr/>
        </p:nvSpPr>
        <p:spPr>
          <a:xfrm>
            <a:off x="7209000" y="38847600"/>
            <a:ext cx="1233000" cy="365400"/>
          </a:xfrm>
          <a:prstGeom prst="rect">
            <a:avLst/>
          </a:prstGeom>
          <a:solidFill>
            <a:srgbClr val="92B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15" name="TextBox 1614"/>
          <p:cNvSpPr txBox="1"/>
          <p:nvPr/>
        </p:nvSpPr>
        <p:spPr>
          <a:xfrm>
            <a:off x="7191000" y="388296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.58</a:t>
            </a:r>
          </a:p>
        </p:txBody>
      </p:sp>
      <p:sp>
        <p:nvSpPr>
          <p:cNvPr id="1616" name="Rectangle 1615"/>
          <p:cNvSpPr/>
          <p:nvPr/>
        </p:nvSpPr>
        <p:spPr>
          <a:xfrm>
            <a:off x="8478000" y="38847600"/>
            <a:ext cx="1233000" cy="365400"/>
          </a:xfrm>
          <a:prstGeom prst="rect">
            <a:avLst/>
          </a:prstGeom>
          <a:solidFill>
            <a:srgbClr val="5485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17" name="TextBox 1616"/>
          <p:cNvSpPr txBox="1"/>
          <p:nvPr/>
        </p:nvSpPr>
        <p:spPr>
          <a:xfrm>
            <a:off x="8460000" y="388296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.82</a:t>
            </a:r>
          </a:p>
        </p:txBody>
      </p:sp>
      <p:sp>
        <p:nvSpPr>
          <p:cNvPr id="1618" name="Rectangle 1617"/>
          <p:cNvSpPr/>
          <p:nvPr/>
        </p:nvSpPr>
        <p:spPr>
          <a:xfrm>
            <a:off x="9963000" y="38847600"/>
            <a:ext cx="1233000" cy="365400"/>
          </a:xfrm>
          <a:prstGeom prst="rect">
            <a:avLst/>
          </a:prstGeom>
          <a:solidFill>
            <a:srgbClr val="AEC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19" name="TextBox 1618"/>
          <p:cNvSpPr txBox="1"/>
          <p:nvPr/>
        </p:nvSpPr>
        <p:spPr>
          <a:xfrm>
            <a:off x="9945000" y="388296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.44</a:t>
            </a:r>
          </a:p>
        </p:txBody>
      </p:sp>
      <p:sp>
        <p:nvSpPr>
          <p:cNvPr id="1620" name="Rectangle 1619"/>
          <p:cNvSpPr/>
          <p:nvPr/>
        </p:nvSpPr>
        <p:spPr>
          <a:xfrm>
            <a:off x="11232000" y="38847600"/>
            <a:ext cx="1233000" cy="365400"/>
          </a:xfrm>
          <a:prstGeom prst="rect">
            <a:avLst/>
          </a:prstGeom>
          <a:solidFill>
            <a:srgbClr val="E1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21" name="TextBox 1620"/>
          <p:cNvSpPr txBox="1"/>
          <p:nvPr/>
        </p:nvSpPr>
        <p:spPr>
          <a:xfrm>
            <a:off x="11214000" y="388296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.05</a:t>
            </a:r>
          </a:p>
        </p:txBody>
      </p:sp>
      <p:sp>
        <p:nvSpPr>
          <p:cNvPr id="1622" name="Rectangle 1621"/>
          <p:cNvSpPr/>
          <p:nvPr/>
        </p:nvSpPr>
        <p:spPr>
          <a:xfrm>
            <a:off x="12501000" y="38847600"/>
            <a:ext cx="1233000" cy="365400"/>
          </a:xfrm>
          <a:prstGeom prst="rect">
            <a:avLst/>
          </a:prstGeom>
          <a:solidFill>
            <a:srgbClr val="7BA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23" name="TextBox 1622"/>
          <p:cNvSpPr txBox="1"/>
          <p:nvPr/>
        </p:nvSpPr>
        <p:spPr>
          <a:xfrm>
            <a:off x="12483000" y="388296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.67</a:t>
            </a:r>
          </a:p>
        </p:txBody>
      </p:sp>
      <p:sp>
        <p:nvSpPr>
          <p:cNvPr id="1624" name="Rectangle 1623"/>
          <p:cNvSpPr/>
          <p:nvPr/>
        </p:nvSpPr>
        <p:spPr>
          <a:xfrm>
            <a:off x="13770000" y="38847600"/>
            <a:ext cx="1233000" cy="365400"/>
          </a:xfrm>
          <a:prstGeom prst="rect">
            <a:avLst/>
          </a:prstGeom>
          <a:solidFill>
            <a:srgbClr val="B0C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25" name="TextBox 1624"/>
          <p:cNvSpPr txBox="1"/>
          <p:nvPr/>
        </p:nvSpPr>
        <p:spPr>
          <a:xfrm>
            <a:off x="13752000" y="388296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.43</a:t>
            </a:r>
          </a:p>
        </p:txBody>
      </p:sp>
      <p:sp>
        <p:nvSpPr>
          <p:cNvPr id="1626" name="Rectangle 1625"/>
          <p:cNvSpPr/>
          <p:nvPr/>
        </p:nvSpPr>
        <p:spPr>
          <a:xfrm>
            <a:off x="15039000" y="38847600"/>
            <a:ext cx="1233000" cy="365400"/>
          </a:xfrm>
          <a:prstGeom prst="rect">
            <a:avLst/>
          </a:prstGeom>
          <a:solidFill>
            <a:srgbClr val="5D8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27" name="TextBox 1626"/>
          <p:cNvSpPr txBox="1"/>
          <p:nvPr/>
        </p:nvSpPr>
        <p:spPr>
          <a:xfrm>
            <a:off x="15021000" y="388296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.79</a:t>
            </a:r>
          </a:p>
        </p:txBody>
      </p:sp>
      <p:sp>
        <p:nvSpPr>
          <p:cNvPr id="1628" name="Rectangle 1627"/>
          <p:cNvSpPr/>
          <p:nvPr/>
        </p:nvSpPr>
        <p:spPr>
          <a:xfrm>
            <a:off x="16524000" y="38847600"/>
            <a:ext cx="1233000" cy="365400"/>
          </a:xfrm>
          <a:prstGeom prst="rect">
            <a:avLst/>
          </a:prstGeom>
          <a:solidFill>
            <a:srgbClr val="699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29" name="TextBox 1628"/>
          <p:cNvSpPr txBox="1"/>
          <p:nvPr/>
        </p:nvSpPr>
        <p:spPr>
          <a:xfrm>
            <a:off x="16506000" y="388296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.74</a:t>
            </a:r>
          </a:p>
        </p:txBody>
      </p:sp>
      <p:sp>
        <p:nvSpPr>
          <p:cNvPr id="1630" name="Rectangle 1629"/>
          <p:cNvSpPr/>
          <p:nvPr/>
        </p:nvSpPr>
        <p:spPr>
          <a:xfrm>
            <a:off x="17793000" y="38847600"/>
            <a:ext cx="1233000" cy="365400"/>
          </a:xfrm>
          <a:prstGeom prst="rect">
            <a:avLst/>
          </a:prstGeom>
          <a:solidFill>
            <a:srgbClr val="C4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31" name="TextBox 1630"/>
          <p:cNvSpPr txBox="1"/>
          <p:nvPr/>
        </p:nvSpPr>
        <p:spPr>
          <a:xfrm>
            <a:off x="17775000" y="388296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.31</a:t>
            </a:r>
          </a:p>
        </p:txBody>
      </p:sp>
      <p:sp>
        <p:nvSpPr>
          <p:cNvPr id="1632" name="Rectangle 1631"/>
          <p:cNvSpPr/>
          <p:nvPr/>
        </p:nvSpPr>
        <p:spPr>
          <a:xfrm>
            <a:off x="19062000" y="38847600"/>
            <a:ext cx="1233000" cy="365400"/>
          </a:xfrm>
          <a:prstGeom prst="rect">
            <a:avLst/>
          </a:prstGeom>
          <a:solidFill>
            <a:srgbClr val="83A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33" name="TextBox 1632"/>
          <p:cNvSpPr txBox="1"/>
          <p:nvPr/>
        </p:nvSpPr>
        <p:spPr>
          <a:xfrm>
            <a:off x="19044000" y="388296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.64</a:t>
            </a:r>
          </a:p>
        </p:txBody>
      </p:sp>
      <p:sp>
        <p:nvSpPr>
          <p:cNvPr id="1634" name="Rectangle 1633"/>
          <p:cNvSpPr/>
          <p:nvPr/>
        </p:nvSpPr>
        <p:spPr>
          <a:xfrm>
            <a:off x="20331000" y="38847600"/>
            <a:ext cx="1233000" cy="365400"/>
          </a:xfrm>
          <a:prstGeom prst="rect">
            <a:avLst/>
          </a:prstGeom>
          <a:solidFill>
            <a:srgbClr val="B1C7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35" name="TextBox 1634"/>
          <p:cNvSpPr txBox="1"/>
          <p:nvPr/>
        </p:nvSpPr>
        <p:spPr>
          <a:xfrm>
            <a:off x="20313000" y="388296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.43</a:t>
            </a:r>
          </a:p>
        </p:txBody>
      </p:sp>
      <p:sp>
        <p:nvSpPr>
          <p:cNvPr id="1636" name="Rectangle 1635"/>
          <p:cNvSpPr/>
          <p:nvPr/>
        </p:nvSpPr>
        <p:spPr>
          <a:xfrm>
            <a:off x="21600000" y="38847600"/>
            <a:ext cx="1233000" cy="365400"/>
          </a:xfrm>
          <a:prstGeom prst="rect">
            <a:avLst/>
          </a:prstGeom>
          <a:solidFill>
            <a:srgbClr val="5F8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37" name="TextBox 1636"/>
          <p:cNvSpPr txBox="1"/>
          <p:nvPr/>
        </p:nvSpPr>
        <p:spPr>
          <a:xfrm>
            <a:off x="21582000" y="388296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.78</a:t>
            </a:r>
          </a:p>
        </p:txBody>
      </p:sp>
      <p:sp>
        <p:nvSpPr>
          <p:cNvPr id="1638" name="Rectangle 1637"/>
          <p:cNvSpPr/>
          <p:nvPr/>
        </p:nvSpPr>
        <p:spPr>
          <a:xfrm>
            <a:off x="23085000" y="38847600"/>
            <a:ext cx="1233000" cy="365400"/>
          </a:xfrm>
          <a:prstGeom prst="rect">
            <a:avLst/>
          </a:prstGeom>
          <a:solidFill>
            <a:srgbClr val="87A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39" name="TextBox 1638"/>
          <p:cNvSpPr txBox="1"/>
          <p:nvPr/>
        </p:nvSpPr>
        <p:spPr>
          <a:xfrm>
            <a:off x="23067000" y="388296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.62</a:t>
            </a:r>
          </a:p>
        </p:txBody>
      </p:sp>
      <p:sp>
        <p:nvSpPr>
          <p:cNvPr id="1640" name="Rectangle 1639"/>
          <p:cNvSpPr/>
          <p:nvPr/>
        </p:nvSpPr>
        <p:spPr>
          <a:xfrm>
            <a:off x="24354000" y="38847600"/>
            <a:ext cx="1233000" cy="365400"/>
          </a:xfrm>
          <a:prstGeom prst="rect">
            <a:avLst/>
          </a:prstGeom>
          <a:solidFill>
            <a:srgbClr val="DE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41" name="TextBox 1640"/>
          <p:cNvSpPr txBox="1"/>
          <p:nvPr/>
        </p:nvSpPr>
        <p:spPr>
          <a:xfrm>
            <a:off x="24336000" y="388296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.10</a:t>
            </a:r>
          </a:p>
        </p:txBody>
      </p:sp>
      <p:sp>
        <p:nvSpPr>
          <p:cNvPr id="1642" name="Rectangle 1641"/>
          <p:cNvSpPr/>
          <p:nvPr/>
        </p:nvSpPr>
        <p:spPr>
          <a:xfrm>
            <a:off x="25623000" y="38847600"/>
            <a:ext cx="1233000" cy="365400"/>
          </a:xfrm>
          <a:prstGeom prst="rect">
            <a:avLst/>
          </a:prstGeom>
          <a:solidFill>
            <a:srgbClr val="759C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43" name="TextBox 1642"/>
          <p:cNvSpPr txBox="1"/>
          <p:nvPr/>
        </p:nvSpPr>
        <p:spPr>
          <a:xfrm>
            <a:off x="25605000" y="388296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.70</a:t>
            </a:r>
          </a:p>
        </p:txBody>
      </p:sp>
      <p:sp>
        <p:nvSpPr>
          <p:cNvPr id="1644" name="Rectangle 1643"/>
          <p:cNvSpPr/>
          <p:nvPr/>
        </p:nvSpPr>
        <p:spPr>
          <a:xfrm>
            <a:off x="26892000" y="38847600"/>
            <a:ext cx="1233000" cy="365400"/>
          </a:xfrm>
          <a:prstGeom prst="rect">
            <a:avLst/>
          </a:prstGeom>
          <a:solidFill>
            <a:srgbClr val="A9C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45" name="TextBox 1644"/>
          <p:cNvSpPr txBox="1"/>
          <p:nvPr/>
        </p:nvSpPr>
        <p:spPr>
          <a:xfrm>
            <a:off x="26874000" y="388296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.47</a:t>
            </a:r>
          </a:p>
        </p:txBody>
      </p:sp>
      <p:sp>
        <p:nvSpPr>
          <p:cNvPr id="1646" name="Rectangle 1645"/>
          <p:cNvSpPr/>
          <p:nvPr/>
        </p:nvSpPr>
        <p:spPr>
          <a:xfrm>
            <a:off x="28161000" y="38847600"/>
            <a:ext cx="1233000" cy="365400"/>
          </a:xfrm>
          <a:prstGeom prst="rect">
            <a:avLst/>
          </a:prstGeom>
          <a:solidFill>
            <a:srgbClr val="649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47" name="TextBox 1646"/>
          <p:cNvSpPr txBox="1"/>
          <p:nvPr/>
        </p:nvSpPr>
        <p:spPr>
          <a:xfrm>
            <a:off x="28143000" y="388296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.76</a:t>
            </a:r>
          </a:p>
        </p:txBody>
      </p:sp>
      <p:sp>
        <p:nvSpPr>
          <p:cNvPr id="1648" name="TextBox 1647"/>
          <p:cNvSpPr txBox="1"/>
          <p:nvPr/>
        </p:nvSpPr>
        <p:spPr>
          <a:xfrm>
            <a:off x="864000" y="39231000"/>
            <a:ext cx="2448000" cy="4014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Segoe UI"/>
              </a:rPr>
              <a:t>Kraken 19th-c. Kurrent</a:t>
            </a:r>
          </a:p>
        </p:txBody>
      </p:sp>
      <p:sp>
        <p:nvSpPr>
          <p:cNvPr id="1649" name="Rectangle 1648"/>
          <p:cNvSpPr/>
          <p:nvPr/>
        </p:nvSpPr>
        <p:spPr>
          <a:xfrm>
            <a:off x="3402000" y="39249000"/>
            <a:ext cx="1233000" cy="365400"/>
          </a:xfrm>
          <a:prstGeom prst="rect">
            <a:avLst/>
          </a:prstGeom>
          <a:solidFill>
            <a:srgbClr val="97B5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50" name="TextBox 1649"/>
          <p:cNvSpPr txBox="1"/>
          <p:nvPr/>
        </p:nvSpPr>
        <p:spPr>
          <a:xfrm>
            <a:off x="3384000" y="39231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.55</a:t>
            </a:r>
          </a:p>
        </p:txBody>
      </p:sp>
      <p:sp>
        <p:nvSpPr>
          <p:cNvPr id="1651" name="Rectangle 1650"/>
          <p:cNvSpPr/>
          <p:nvPr/>
        </p:nvSpPr>
        <p:spPr>
          <a:xfrm>
            <a:off x="4671000" y="39249000"/>
            <a:ext cx="1233000" cy="365400"/>
          </a:xfrm>
          <a:prstGeom prst="rect">
            <a:avLst/>
          </a:prstGeom>
          <a:solidFill>
            <a:srgbClr val="DE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52" name="TextBox 1651"/>
          <p:cNvSpPr txBox="1"/>
          <p:nvPr/>
        </p:nvSpPr>
        <p:spPr>
          <a:xfrm>
            <a:off x="4653000" y="39231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.10</a:t>
            </a:r>
          </a:p>
        </p:txBody>
      </p:sp>
      <p:sp>
        <p:nvSpPr>
          <p:cNvPr id="1653" name="Rectangle 1652"/>
          <p:cNvSpPr/>
          <p:nvPr/>
        </p:nvSpPr>
        <p:spPr>
          <a:xfrm>
            <a:off x="5940000" y="39249000"/>
            <a:ext cx="1233000" cy="365400"/>
          </a:xfrm>
          <a:prstGeom prst="rect">
            <a:avLst/>
          </a:prstGeom>
          <a:solidFill>
            <a:srgbClr val="A5B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54" name="TextBox 1653"/>
          <p:cNvSpPr txBox="1"/>
          <p:nvPr/>
        </p:nvSpPr>
        <p:spPr>
          <a:xfrm>
            <a:off x="5922000" y="39231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.49</a:t>
            </a:r>
          </a:p>
        </p:txBody>
      </p:sp>
      <p:sp>
        <p:nvSpPr>
          <p:cNvPr id="1655" name="Rectangle 1654"/>
          <p:cNvSpPr/>
          <p:nvPr/>
        </p:nvSpPr>
        <p:spPr>
          <a:xfrm>
            <a:off x="7209000" y="39249000"/>
            <a:ext cx="1233000" cy="365400"/>
          </a:xfrm>
          <a:prstGeom prst="rect">
            <a:avLst/>
          </a:prstGeom>
          <a:solidFill>
            <a:srgbClr val="DAE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56" name="TextBox 1655"/>
          <p:cNvSpPr txBox="1"/>
          <p:nvPr/>
        </p:nvSpPr>
        <p:spPr>
          <a:xfrm>
            <a:off x="7191000" y="39231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.14</a:t>
            </a:r>
          </a:p>
        </p:txBody>
      </p:sp>
      <p:sp>
        <p:nvSpPr>
          <p:cNvPr id="1657" name="Rectangle 1656"/>
          <p:cNvSpPr/>
          <p:nvPr/>
        </p:nvSpPr>
        <p:spPr>
          <a:xfrm>
            <a:off x="8478000" y="39249000"/>
            <a:ext cx="1233000" cy="365400"/>
          </a:xfrm>
          <a:prstGeom prst="rect">
            <a:avLst/>
          </a:prstGeom>
          <a:solidFill>
            <a:srgbClr val="246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58" name="TextBox 1657"/>
          <p:cNvSpPr txBox="1"/>
          <p:nvPr/>
        </p:nvSpPr>
        <p:spPr>
          <a:xfrm>
            <a:off x="8460000" y="39231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.98</a:t>
            </a:r>
          </a:p>
        </p:txBody>
      </p:sp>
      <p:sp>
        <p:nvSpPr>
          <p:cNvPr id="1659" name="Rectangle 1658"/>
          <p:cNvSpPr/>
          <p:nvPr/>
        </p:nvSpPr>
        <p:spPr>
          <a:xfrm>
            <a:off x="9963000" y="39249000"/>
            <a:ext cx="1233000" cy="365400"/>
          </a:xfrm>
          <a:prstGeom prst="rect">
            <a:avLst/>
          </a:prstGeom>
          <a:solidFill>
            <a:srgbClr val="B7C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60" name="TextBox 1659"/>
          <p:cNvSpPr txBox="1"/>
          <p:nvPr/>
        </p:nvSpPr>
        <p:spPr>
          <a:xfrm>
            <a:off x="9945000" y="39231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.39</a:t>
            </a:r>
          </a:p>
        </p:txBody>
      </p:sp>
      <p:sp>
        <p:nvSpPr>
          <p:cNvPr id="1661" name="Rectangle 1660"/>
          <p:cNvSpPr/>
          <p:nvPr/>
        </p:nvSpPr>
        <p:spPr>
          <a:xfrm>
            <a:off x="11232000" y="39249000"/>
            <a:ext cx="1233000" cy="365400"/>
          </a:xfrm>
          <a:prstGeom prst="rect">
            <a:avLst/>
          </a:prstGeom>
          <a:solidFill>
            <a:srgbClr val="E2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62" name="TextBox 1661"/>
          <p:cNvSpPr txBox="1"/>
          <p:nvPr/>
        </p:nvSpPr>
        <p:spPr>
          <a:xfrm>
            <a:off x="11214000" y="39231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.04</a:t>
            </a:r>
          </a:p>
        </p:txBody>
      </p:sp>
      <p:sp>
        <p:nvSpPr>
          <p:cNvPr id="1663" name="Rectangle 1662"/>
          <p:cNvSpPr/>
          <p:nvPr/>
        </p:nvSpPr>
        <p:spPr>
          <a:xfrm>
            <a:off x="12501000" y="39249000"/>
            <a:ext cx="1233000" cy="365400"/>
          </a:xfrm>
          <a:prstGeom prst="rect">
            <a:avLst/>
          </a:prstGeom>
          <a:solidFill>
            <a:srgbClr val="789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64" name="TextBox 1663"/>
          <p:cNvSpPr txBox="1"/>
          <p:nvPr/>
        </p:nvSpPr>
        <p:spPr>
          <a:xfrm>
            <a:off x="12483000" y="39231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.68</a:t>
            </a:r>
          </a:p>
        </p:txBody>
      </p:sp>
      <p:sp>
        <p:nvSpPr>
          <p:cNvPr id="1665" name="Rectangle 1664"/>
          <p:cNvSpPr/>
          <p:nvPr/>
        </p:nvSpPr>
        <p:spPr>
          <a:xfrm>
            <a:off x="13770000" y="39249000"/>
            <a:ext cx="1233000" cy="365400"/>
          </a:xfrm>
          <a:prstGeom prst="rect">
            <a:avLst/>
          </a:prstGeom>
          <a:solidFill>
            <a:srgbClr val="D2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66" name="TextBox 1665"/>
          <p:cNvSpPr txBox="1"/>
          <p:nvPr/>
        </p:nvSpPr>
        <p:spPr>
          <a:xfrm>
            <a:off x="13752000" y="39231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.22</a:t>
            </a:r>
          </a:p>
        </p:txBody>
      </p:sp>
      <p:sp>
        <p:nvSpPr>
          <p:cNvPr id="1667" name="Rectangle 1666"/>
          <p:cNvSpPr/>
          <p:nvPr/>
        </p:nvSpPr>
        <p:spPr>
          <a:xfrm>
            <a:off x="15039000" y="39249000"/>
            <a:ext cx="1233000" cy="365400"/>
          </a:xfrm>
          <a:prstGeom prst="rect">
            <a:avLst/>
          </a:prstGeom>
          <a:solidFill>
            <a:srgbClr val="266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68" name="TextBox 1667"/>
          <p:cNvSpPr txBox="1"/>
          <p:nvPr/>
        </p:nvSpPr>
        <p:spPr>
          <a:xfrm>
            <a:off x="15021000" y="39231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.98</a:t>
            </a:r>
          </a:p>
        </p:txBody>
      </p:sp>
      <p:sp>
        <p:nvSpPr>
          <p:cNvPr id="1669" name="Rectangle 1668"/>
          <p:cNvSpPr/>
          <p:nvPr/>
        </p:nvSpPr>
        <p:spPr>
          <a:xfrm>
            <a:off x="16524000" y="39249000"/>
            <a:ext cx="1233000" cy="365400"/>
          </a:xfrm>
          <a:prstGeom prst="rect">
            <a:avLst/>
          </a:prstGeom>
          <a:solidFill>
            <a:srgbClr val="7EA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70" name="TextBox 1669"/>
          <p:cNvSpPr txBox="1"/>
          <p:nvPr/>
        </p:nvSpPr>
        <p:spPr>
          <a:xfrm>
            <a:off x="16506000" y="39231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.66</a:t>
            </a:r>
          </a:p>
        </p:txBody>
      </p:sp>
      <p:sp>
        <p:nvSpPr>
          <p:cNvPr id="1671" name="Rectangle 1670"/>
          <p:cNvSpPr/>
          <p:nvPr/>
        </p:nvSpPr>
        <p:spPr>
          <a:xfrm>
            <a:off x="17793000" y="39249000"/>
            <a:ext cx="1233000" cy="365400"/>
          </a:xfrm>
          <a:prstGeom prst="rect">
            <a:avLst/>
          </a:prstGeom>
          <a:solidFill>
            <a:srgbClr val="D0D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72" name="TextBox 1671"/>
          <p:cNvSpPr txBox="1"/>
          <p:nvPr/>
        </p:nvSpPr>
        <p:spPr>
          <a:xfrm>
            <a:off x="17775000" y="39231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.23</a:t>
            </a:r>
          </a:p>
        </p:txBody>
      </p:sp>
      <p:sp>
        <p:nvSpPr>
          <p:cNvPr id="1673" name="Rectangle 1672"/>
          <p:cNvSpPr/>
          <p:nvPr/>
        </p:nvSpPr>
        <p:spPr>
          <a:xfrm>
            <a:off x="19062000" y="39249000"/>
            <a:ext cx="1233000" cy="365400"/>
          </a:xfrm>
          <a:prstGeom prst="rect">
            <a:avLst/>
          </a:prstGeom>
          <a:solidFill>
            <a:srgbClr val="80A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74" name="TextBox 1673"/>
          <p:cNvSpPr txBox="1"/>
          <p:nvPr/>
        </p:nvSpPr>
        <p:spPr>
          <a:xfrm>
            <a:off x="19044000" y="39231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.65</a:t>
            </a:r>
          </a:p>
        </p:txBody>
      </p:sp>
      <p:sp>
        <p:nvSpPr>
          <p:cNvPr id="1675" name="Rectangle 1674"/>
          <p:cNvSpPr/>
          <p:nvPr/>
        </p:nvSpPr>
        <p:spPr>
          <a:xfrm>
            <a:off x="20331000" y="39249000"/>
            <a:ext cx="1233000" cy="365400"/>
          </a:xfrm>
          <a:prstGeom prst="rect">
            <a:avLst/>
          </a:prstGeom>
          <a:solidFill>
            <a:srgbClr val="CFD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76" name="TextBox 1675"/>
          <p:cNvSpPr txBox="1"/>
          <p:nvPr/>
        </p:nvSpPr>
        <p:spPr>
          <a:xfrm>
            <a:off x="20313000" y="39231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.24</a:t>
            </a:r>
          </a:p>
        </p:txBody>
      </p:sp>
      <p:sp>
        <p:nvSpPr>
          <p:cNvPr id="1677" name="Rectangle 1676"/>
          <p:cNvSpPr/>
          <p:nvPr/>
        </p:nvSpPr>
        <p:spPr>
          <a:xfrm>
            <a:off x="21600000" y="39249000"/>
            <a:ext cx="1233000" cy="365400"/>
          </a:xfrm>
          <a:prstGeom prst="rect">
            <a:avLst/>
          </a:prstGeom>
          <a:solidFill>
            <a:srgbClr val="2F6B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78" name="TextBox 1677"/>
          <p:cNvSpPr txBox="1"/>
          <p:nvPr/>
        </p:nvSpPr>
        <p:spPr>
          <a:xfrm>
            <a:off x="21582000" y="39231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.95</a:t>
            </a:r>
          </a:p>
        </p:txBody>
      </p:sp>
      <p:sp>
        <p:nvSpPr>
          <p:cNvPr id="1679" name="Rectangle 1678"/>
          <p:cNvSpPr/>
          <p:nvPr/>
        </p:nvSpPr>
        <p:spPr>
          <a:xfrm>
            <a:off x="23085000" y="39249000"/>
            <a:ext cx="1233000" cy="365400"/>
          </a:xfrm>
          <a:prstGeom prst="rect">
            <a:avLst/>
          </a:prstGeom>
          <a:solidFill>
            <a:srgbClr val="94B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80" name="TextBox 1679"/>
          <p:cNvSpPr txBox="1"/>
          <p:nvPr/>
        </p:nvSpPr>
        <p:spPr>
          <a:xfrm>
            <a:off x="23067000" y="39231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.57</a:t>
            </a:r>
          </a:p>
        </p:txBody>
      </p:sp>
      <p:sp>
        <p:nvSpPr>
          <p:cNvPr id="1681" name="Rectangle 1680"/>
          <p:cNvSpPr/>
          <p:nvPr/>
        </p:nvSpPr>
        <p:spPr>
          <a:xfrm>
            <a:off x="24354000" y="39249000"/>
            <a:ext cx="1233000" cy="365400"/>
          </a:xfrm>
          <a:prstGeom prst="rect">
            <a:avLst/>
          </a:prstGeom>
          <a:solidFill>
            <a:srgbClr val="DB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82" name="TextBox 1681"/>
          <p:cNvSpPr txBox="1"/>
          <p:nvPr/>
        </p:nvSpPr>
        <p:spPr>
          <a:xfrm>
            <a:off x="24336000" y="39231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.13</a:t>
            </a:r>
          </a:p>
        </p:txBody>
      </p:sp>
      <p:sp>
        <p:nvSpPr>
          <p:cNvPr id="1683" name="Rectangle 1682"/>
          <p:cNvSpPr/>
          <p:nvPr/>
        </p:nvSpPr>
        <p:spPr>
          <a:xfrm>
            <a:off x="25623000" y="39249000"/>
            <a:ext cx="1233000" cy="365400"/>
          </a:xfrm>
          <a:prstGeom prst="rect">
            <a:avLst/>
          </a:prstGeom>
          <a:solidFill>
            <a:srgbClr val="669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84" name="TextBox 1683"/>
          <p:cNvSpPr txBox="1"/>
          <p:nvPr/>
        </p:nvSpPr>
        <p:spPr>
          <a:xfrm>
            <a:off x="25605000" y="39231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.76</a:t>
            </a:r>
          </a:p>
        </p:txBody>
      </p:sp>
      <p:sp>
        <p:nvSpPr>
          <p:cNvPr id="1685" name="Rectangle 1684"/>
          <p:cNvSpPr/>
          <p:nvPr/>
        </p:nvSpPr>
        <p:spPr>
          <a:xfrm>
            <a:off x="26892000" y="39249000"/>
            <a:ext cx="1233000" cy="365400"/>
          </a:xfrm>
          <a:prstGeom prst="rect">
            <a:avLst/>
          </a:prstGeom>
          <a:solidFill>
            <a:srgbClr val="CCD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86" name="TextBox 1685"/>
          <p:cNvSpPr txBox="1"/>
          <p:nvPr/>
        </p:nvSpPr>
        <p:spPr>
          <a:xfrm>
            <a:off x="26874000" y="39231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.26</a:t>
            </a:r>
          </a:p>
        </p:txBody>
      </p:sp>
      <p:sp>
        <p:nvSpPr>
          <p:cNvPr id="1687" name="Rectangle 1686"/>
          <p:cNvSpPr/>
          <p:nvPr/>
        </p:nvSpPr>
        <p:spPr>
          <a:xfrm>
            <a:off x="28161000" y="39249000"/>
            <a:ext cx="1233000" cy="365400"/>
          </a:xfrm>
          <a:prstGeom prst="rect">
            <a:avLst/>
          </a:prstGeom>
          <a:solidFill>
            <a:srgbClr val="41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88" name="TextBox 1687"/>
          <p:cNvSpPr txBox="1"/>
          <p:nvPr/>
        </p:nvSpPr>
        <p:spPr>
          <a:xfrm>
            <a:off x="28143000" y="392310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.89</a:t>
            </a:r>
          </a:p>
        </p:txBody>
      </p:sp>
      <p:sp>
        <p:nvSpPr>
          <p:cNvPr id="1689" name="TextBox 1688"/>
          <p:cNvSpPr txBox="1"/>
          <p:nvPr/>
        </p:nvSpPr>
        <p:spPr>
          <a:xfrm>
            <a:off x="864000" y="39632400"/>
            <a:ext cx="2448000" cy="4014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Segoe UI"/>
              </a:rPr>
              <a:t>olmOCR-2 7B</a:t>
            </a:r>
          </a:p>
        </p:txBody>
      </p:sp>
      <p:sp>
        <p:nvSpPr>
          <p:cNvPr id="1690" name="Rectangle 1689"/>
          <p:cNvSpPr/>
          <p:nvPr/>
        </p:nvSpPr>
        <p:spPr>
          <a:xfrm>
            <a:off x="3402000" y="39650400"/>
            <a:ext cx="1233000" cy="365400"/>
          </a:xfrm>
          <a:prstGeom prst="rect">
            <a:avLst/>
          </a:prstGeom>
          <a:solidFill>
            <a:srgbClr val="9AB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91" name="TextBox 1690"/>
          <p:cNvSpPr txBox="1"/>
          <p:nvPr/>
        </p:nvSpPr>
        <p:spPr>
          <a:xfrm>
            <a:off x="3384000" y="39632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.54</a:t>
            </a:r>
          </a:p>
        </p:txBody>
      </p:sp>
      <p:sp>
        <p:nvSpPr>
          <p:cNvPr id="1692" name="Rectangle 1691"/>
          <p:cNvSpPr/>
          <p:nvPr/>
        </p:nvSpPr>
        <p:spPr>
          <a:xfrm>
            <a:off x="4671000" y="39650400"/>
            <a:ext cx="1233000" cy="365400"/>
          </a:xfrm>
          <a:prstGeom prst="rect">
            <a:avLst/>
          </a:prstGeom>
          <a:solidFill>
            <a:srgbClr val="D5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93" name="TextBox 1692"/>
          <p:cNvSpPr txBox="1"/>
          <p:nvPr/>
        </p:nvSpPr>
        <p:spPr>
          <a:xfrm>
            <a:off x="4653000" y="39632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.20</a:t>
            </a:r>
          </a:p>
        </p:txBody>
      </p:sp>
      <p:sp>
        <p:nvSpPr>
          <p:cNvPr id="1694" name="Rectangle 1693"/>
          <p:cNvSpPr/>
          <p:nvPr/>
        </p:nvSpPr>
        <p:spPr>
          <a:xfrm>
            <a:off x="5940000" y="39650400"/>
            <a:ext cx="1233000" cy="365400"/>
          </a:xfrm>
          <a:prstGeom prst="rect">
            <a:avLst/>
          </a:prstGeom>
          <a:solidFill>
            <a:srgbClr val="ADC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95" name="TextBox 1694"/>
          <p:cNvSpPr txBox="1"/>
          <p:nvPr/>
        </p:nvSpPr>
        <p:spPr>
          <a:xfrm>
            <a:off x="5922000" y="39632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.45</a:t>
            </a:r>
          </a:p>
        </p:txBody>
      </p:sp>
      <p:sp>
        <p:nvSpPr>
          <p:cNvPr id="1696" name="Rectangle 1695"/>
          <p:cNvSpPr/>
          <p:nvPr/>
        </p:nvSpPr>
        <p:spPr>
          <a:xfrm>
            <a:off x="7209000" y="39650400"/>
            <a:ext cx="1233000" cy="365400"/>
          </a:xfrm>
          <a:prstGeom prst="rect">
            <a:avLst/>
          </a:prstGeom>
          <a:solidFill>
            <a:srgbClr val="9DB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97" name="TextBox 1696"/>
          <p:cNvSpPr txBox="1"/>
          <p:nvPr/>
        </p:nvSpPr>
        <p:spPr>
          <a:xfrm>
            <a:off x="7191000" y="39632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.53</a:t>
            </a:r>
          </a:p>
        </p:txBody>
      </p:sp>
      <p:sp>
        <p:nvSpPr>
          <p:cNvPr id="1698" name="Rectangle 1697"/>
          <p:cNvSpPr/>
          <p:nvPr/>
        </p:nvSpPr>
        <p:spPr>
          <a:xfrm>
            <a:off x="8478000" y="39650400"/>
            <a:ext cx="1233000" cy="365400"/>
          </a:xfrm>
          <a:prstGeom prst="rect">
            <a:avLst/>
          </a:prstGeom>
          <a:solidFill>
            <a:srgbClr val="8BA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99" name="TextBox 1698"/>
          <p:cNvSpPr txBox="1"/>
          <p:nvPr/>
        </p:nvSpPr>
        <p:spPr>
          <a:xfrm>
            <a:off x="8460000" y="39632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.61</a:t>
            </a:r>
          </a:p>
        </p:txBody>
      </p:sp>
      <p:sp>
        <p:nvSpPr>
          <p:cNvPr id="1700" name="Rectangle 1699"/>
          <p:cNvSpPr/>
          <p:nvPr/>
        </p:nvSpPr>
        <p:spPr>
          <a:xfrm>
            <a:off x="9963000" y="39650400"/>
            <a:ext cx="1233000" cy="365400"/>
          </a:xfrm>
          <a:prstGeom prst="rect">
            <a:avLst/>
          </a:prstGeom>
          <a:solidFill>
            <a:srgbClr val="D4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01" name="TextBox 1700"/>
          <p:cNvSpPr txBox="1"/>
          <p:nvPr/>
        </p:nvSpPr>
        <p:spPr>
          <a:xfrm>
            <a:off x="9945000" y="39632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.20</a:t>
            </a:r>
          </a:p>
        </p:txBody>
      </p:sp>
      <p:sp>
        <p:nvSpPr>
          <p:cNvPr id="1702" name="Rectangle 1701"/>
          <p:cNvSpPr/>
          <p:nvPr/>
        </p:nvSpPr>
        <p:spPr>
          <a:xfrm>
            <a:off x="11232000" y="39650400"/>
            <a:ext cx="1233000" cy="365400"/>
          </a:xfrm>
          <a:prstGeom prst="rect">
            <a:avLst/>
          </a:prstGeom>
          <a:solidFill>
            <a:srgbClr val="E1E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03" name="TextBox 1702"/>
          <p:cNvSpPr txBox="1"/>
          <p:nvPr/>
        </p:nvSpPr>
        <p:spPr>
          <a:xfrm>
            <a:off x="11214000" y="39632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.06</a:t>
            </a:r>
          </a:p>
        </p:txBody>
      </p:sp>
      <p:sp>
        <p:nvSpPr>
          <p:cNvPr id="1704" name="Rectangle 1703"/>
          <p:cNvSpPr/>
          <p:nvPr/>
        </p:nvSpPr>
        <p:spPr>
          <a:xfrm>
            <a:off x="12501000" y="39650400"/>
            <a:ext cx="1233000" cy="365400"/>
          </a:xfrm>
          <a:prstGeom prst="rect">
            <a:avLst/>
          </a:prstGeom>
          <a:solidFill>
            <a:srgbClr val="8DA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05" name="TextBox 1704"/>
          <p:cNvSpPr txBox="1"/>
          <p:nvPr/>
        </p:nvSpPr>
        <p:spPr>
          <a:xfrm>
            <a:off x="12483000" y="39632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.60</a:t>
            </a:r>
          </a:p>
        </p:txBody>
      </p:sp>
      <p:sp>
        <p:nvSpPr>
          <p:cNvPr id="1706" name="Rectangle 1705"/>
          <p:cNvSpPr/>
          <p:nvPr/>
        </p:nvSpPr>
        <p:spPr>
          <a:xfrm>
            <a:off x="13770000" y="39650400"/>
            <a:ext cx="1233000" cy="365400"/>
          </a:xfrm>
          <a:prstGeom prst="rect">
            <a:avLst/>
          </a:prstGeom>
          <a:solidFill>
            <a:srgbClr val="BED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07" name="TextBox 1706"/>
          <p:cNvSpPr txBox="1"/>
          <p:nvPr/>
        </p:nvSpPr>
        <p:spPr>
          <a:xfrm>
            <a:off x="13752000" y="39632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.35</a:t>
            </a:r>
          </a:p>
        </p:txBody>
      </p:sp>
      <p:sp>
        <p:nvSpPr>
          <p:cNvPr id="1708" name="Rectangle 1707"/>
          <p:cNvSpPr/>
          <p:nvPr/>
        </p:nvSpPr>
        <p:spPr>
          <a:xfrm>
            <a:off x="15039000" y="39650400"/>
            <a:ext cx="1233000" cy="365400"/>
          </a:xfrm>
          <a:prstGeom prst="rect">
            <a:avLst/>
          </a:prstGeom>
          <a:solidFill>
            <a:srgbClr val="82A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09" name="TextBox 1708"/>
          <p:cNvSpPr txBox="1"/>
          <p:nvPr/>
        </p:nvSpPr>
        <p:spPr>
          <a:xfrm>
            <a:off x="15021000" y="39632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.64</a:t>
            </a:r>
          </a:p>
        </p:txBody>
      </p:sp>
      <p:sp>
        <p:nvSpPr>
          <p:cNvPr id="1710" name="Rectangle 1709"/>
          <p:cNvSpPr/>
          <p:nvPr/>
        </p:nvSpPr>
        <p:spPr>
          <a:xfrm>
            <a:off x="16524000" y="39650400"/>
            <a:ext cx="1233000" cy="365400"/>
          </a:xfrm>
          <a:prstGeom prst="rect">
            <a:avLst/>
          </a:prstGeom>
          <a:solidFill>
            <a:srgbClr val="CBD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11" name="TextBox 1710"/>
          <p:cNvSpPr txBox="1"/>
          <p:nvPr/>
        </p:nvSpPr>
        <p:spPr>
          <a:xfrm>
            <a:off x="16506000" y="39632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.27</a:t>
            </a:r>
          </a:p>
        </p:txBody>
      </p:sp>
      <p:sp>
        <p:nvSpPr>
          <p:cNvPr id="1712" name="Rectangle 1711"/>
          <p:cNvSpPr/>
          <p:nvPr/>
        </p:nvSpPr>
        <p:spPr>
          <a:xfrm>
            <a:off x="17793000" y="39650400"/>
            <a:ext cx="1233000" cy="365400"/>
          </a:xfrm>
          <a:prstGeom prst="rect">
            <a:avLst/>
          </a:prstGeom>
          <a:solidFill>
            <a:srgbClr val="DF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13" name="TextBox 1712"/>
          <p:cNvSpPr txBox="1"/>
          <p:nvPr/>
        </p:nvSpPr>
        <p:spPr>
          <a:xfrm>
            <a:off x="17775000" y="39632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.09</a:t>
            </a:r>
          </a:p>
        </p:txBody>
      </p:sp>
      <p:sp>
        <p:nvSpPr>
          <p:cNvPr id="1714" name="Rectangle 1713"/>
          <p:cNvSpPr/>
          <p:nvPr/>
        </p:nvSpPr>
        <p:spPr>
          <a:xfrm>
            <a:off x="19062000" y="39650400"/>
            <a:ext cx="1233000" cy="365400"/>
          </a:xfrm>
          <a:prstGeom prst="rect">
            <a:avLst/>
          </a:prstGeom>
          <a:solidFill>
            <a:srgbClr val="92B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15" name="TextBox 1714"/>
          <p:cNvSpPr txBox="1"/>
          <p:nvPr/>
        </p:nvSpPr>
        <p:spPr>
          <a:xfrm>
            <a:off x="19044000" y="39632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.58</a:t>
            </a:r>
          </a:p>
        </p:txBody>
      </p:sp>
      <p:sp>
        <p:nvSpPr>
          <p:cNvPr id="1716" name="Rectangle 1715"/>
          <p:cNvSpPr/>
          <p:nvPr/>
        </p:nvSpPr>
        <p:spPr>
          <a:xfrm>
            <a:off x="20331000" y="39650400"/>
            <a:ext cx="1233000" cy="365400"/>
          </a:xfrm>
          <a:prstGeom prst="rect">
            <a:avLst/>
          </a:prstGeom>
          <a:solidFill>
            <a:srgbClr val="A3BD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17" name="TextBox 1716"/>
          <p:cNvSpPr txBox="1"/>
          <p:nvPr/>
        </p:nvSpPr>
        <p:spPr>
          <a:xfrm>
            <a:off x="20313000" y="39632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.50</a:t>
            </a:r>
          </a:p>
        </p:txBody>
      </p:sp>
      <p:sp>
        <p:nvSpPr>
          <p:cNvPr id="1718" name="Rectangle 1717"/>
          <p:cNvSpPr/>
          <p:nvPr/>
        </p:nvSpPr>
        <p:spPr>
          <a:xfrm>
            <a:off x="21600000" y="39650400"/>
            <a:ext cx="1233000" cy="365400"/>
          </a:xfrm>
          <a:prstGeom prst="rect">
            <a:avLst/>
          </a:prstGeom>
          <a:solidFill>
            <a:srgbClr val="91B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19" name="TextBox 1718"/>
          <p:cNvSpPr txBox="1"/>
          <p:nvPr/>
        </p:nvSpPr>
        <p:spPr>
          <a:xfrm>
            <a:off x="21582000" y="39632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.58</a:t>
            </a:r>
          </a:p>
        </p:txBody>
      </p:sp>
      <p:sp>
        <p:nvSpPr>
          <p:cNvPr id="1720" name="Rectangle 1719"/>
          <p:cNvSpPr/>
          <p:nvPr/>
        </p:nvSpPr>
        <p:spPr>
          <a:xfrm>
            <a:off x="23085000" y="39650400"/>
            <a:ext cx="1233000" cy="365400"/>
          </a:xfrm>
          <a:prstGeom prst="rect">
            <a:avLst/>
          </a:prstGeom>
          <a:solidFill>
            <a:srgbClr val="8BA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21" name="TextBox 1720"/>
          <p:cNvSpPr txBox="1"/>
          <p:nvPr/>
        </p:nvSpPr>
        <p:spPr>
          <a:xfrm>
            <a:off x="23067000" y="39632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.61</a:t>
            </a:r>
          </a:p>
        </p:txBody>
      </p:sp>
      <p:sp>
        <p:nvSpPr>
          <p:cNvPr id="1722" name="Rectangle 1721"/>
          <p:cNvSpPr/>
          <p:nvPr/>
        </p:nvSpPr>
        <p:spPr>
          <a:xfrm>
            <a:off x="24354000" y="39650400"/>
            <a:ext cx="1233000" cy="365400"/>
          </a:xfrm>
          <a:prstGeom prst="rect">
            <a:avLst/>
          </a:prstGeom>
          <a:solidFill>
            <a:srgbClr val="BCC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23" name="TextBox 1722"/>
          <p:cNvSpPr txBox="1"/>
          <p:nvPr/>
        </p:nvSpPr>
        <p:spPr>
          <a:xfrm>
            <a:off x="24336000" y="39632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.36</a:t>
            </a:r>
          </a:p>
        </p:txBody>
      </p:sp>
      <p:sp>
        <p:nvSpPr>
          <p:cNvPr id="1724" name="Rectangle 1723"/>
          <p:cNvSpPr/>
          <p:nvPr/>
        </p:nvSpPr>
        <p:spPr>
          <a:xfrm>
            <a:off x="25623000" y="39650400"/>
            <a:ext cx="1233000" cy="365400"/>
          </a:xfrm>
          <a:prstGeom prst="rect">
            <a:avLst/>
          </a:prstGeom>
          <a:solidFill>
            <a:srgbClr val="6D9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25" name="TextBox 1724"/>
          <p:cNvSpPr txBox="1"/>
          <p:nvPr/>
        </p:nvSpPr>
        <p:spPr>
          <a:xfrm>
            <a:off x="25605000" y="39632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.73</a:t>
            </a:r>
          </a:p>
        </p:txBody>
      </p:sp>
      <p:sp>
        <p:nvSpPr>
          <p:cNvPr id="1726" name="Rectangle 1725"/>
          <p:cNvSpPr/>
          <p:nvPr/>
        </p:nvSpPr>
        <p:spPr>
          <a:xfrm>
            <a:off x="26892000" y="39650400"/>
            <a:ext cx="1233000" cy="365400"/>
          </a:xfrm>
          <a:prstGeom prst="rect">
            <a:avLst/>
          </a:prstGeom>
          <a:solidFill>
            <a:srgbClr val="608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27" name="TextBox 1726"/>
          <p:cNvSpPr txBox="1"/>
          <p:nvPr/>
        </p:nvSpPr>
        <p:spPr>
          <a:xfrm>
            <a:off x="26874000" y="39632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.78</a:t>
            </a:r>
          </a:p>
        </p:txBody>
      </p:sp>
      <p:sp>
        <p:nvSpPr>
          <p:cNvPr id="1728" name="Rectangle 1727"/>
          <p:cNvSpPr/>
          <p:nvPr/>
        </p:nvSpPr>
        <p:spPr>
          <a:xfrm>
            <a:off x="28161000" y="39650400"/>
            <a:ext cx="1233000" cy="365400"/>
          </a:xfrm>
          <a:prstGeom prst="rect">
            <a:avLst/>
          </a:prstGeom>
          <a:solidFill>
            <a:srgbClr val="94B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29" name="TextBox 1728"/>
          <p:cNvSpPr txBox="1"/>
          <p:nvPr/>
        </p:nvSpPr>
        <p:spPr>
          <a:xfrm>
            <a:off x="28143000" y="396324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.57</a:t>
            </a:r>
          </a:p>
        </p:txBody>
      </p:sp>
      <p:sp>
        <p:nvSpPr>
          <p:cNvPr id="1730" name="TextBox 1729"/>
          <p:cNvSpPr txBox="1"/>
          <p:nvPr/>
        </p:nvSpPr>
        <p:spPr>
          <a:xfrm>
            <a:off x="864000" y="40033800"/>
            <a:ext cx="2448000" cy="401400"/>
          </a:xfrm>
          <a:prstGeom prst="rect">
            <a:avLst/>
          </a:prstGeom>
          <a:noFill/>
        </p:spPr>
        <p:txBody>
          <a:bodyPr wrap="square" lIns="10800" tIns="28800" rIns="10800" bIns="28800" anchor="ctr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Segoe UI"/>
              </a:rPr>
              <a:t>PaddleOCR-VL 1.6</a:t>
            </a:r>
          </a:p>
        </p:txBody>
      </p:sp>
      <p:sp>
        <p:nvSpPr>
          <p:cNvPr id="1731" name="Rectangle 1730"/>
          <p:cNvSpPr/>
          <p:nvPr/>
        </p:nvSpPr>
        <p:spPr>
          <a:xfrm>
            <a:off x="3402000" y="40051800"/>
            <a:ext cx="1233000" cy="365400"/>
          </a:xfrm>
          <a:prstGeom prst="rect">
            <a:avLst/>
          </a:prstGeom>
          <a:solidFill>
            <a:srgbClr val="BAC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32" name="TextBox 1731"/>
          <p:cNvSpPr txBox="1"/>
          <p:nvPr/>
        </p:nvSpPr>
        <p:spPr>
          <a:xfrm>
            <a:off x="3384000" y="40033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.38</a:t>
            </a:r>
          </a:p>
        </p:txBody>
      </p:sp>
      <p:sp>
        <p:nvSpPr>
          <p:cNvPr id="1733" name="Rectangle 1732"/>
          <p:cNvSpPr/>
          <p:nvPr/>
        </p:nvSpPr>
        <p:spPr>
          <a:xfrm>
            <a:off x="4671000" y="40051800"/>
            <a:ext cx="1233000" cy="365400"/>
          </a:xfrm>
          <a:prstGeom prst="rect">
            <a:avLst/>
          </a:prstGeom>
          <a:solidFill>
            <a:srgbClr val="E0E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34" name="TextBox 1733"/>
          <p:cNvSpPr txBox="1"/>
          <p:nvPr/>
        </p:nvSpPr>
        <p:spPr>
          <a:xfrm>
            <a:off x="4653000" y="40033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.08</a:t>
            </a:r>
          </a:p>
        </p:txBody>
      </p:sp>
      <p:sp>
        <p:nvSpPr>
          <p:cNvPr id="1735" name="Rectangle 1734"/>
          <p:cNvSpPr/>
          <p:nvPr/>
        </p:nvSpPr>
        <p:spPr>
          <a:xfrm>
            <a:off x="5940000" y="40051800"/>
            <a:ext cx="1233000" cy="365400"/>
          </a:xfrm>
          <a:prstGeom prst="rect">
            <a:avLst/>
          </a:prstGeom>
          <a:solidFill>
            <a:srgbClr val="B2C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36" name="TextBox 1735"/>
          <p:cNvSpPr txBox="1"/>
          <p:nvPr/>
        </p:nvSpPr>
        <p:spPr>
          <a:xfrm>
            <a:off x="5922000" y="40033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.42</a:t>
            </a:r>
          </a:p>
        </p:txBody>
      </p:sp>
      <p:sp>
        <p:nvSpPr>
          <p:cNvPr id="1737" name="Rectangle 1736"/>
          <p:cNvSpPr/>
          <p:nvPr/>
        </p:nvSpPr>
        <p:spPr>
          <a:xfrm>
            <a:off x="7209000" y="40051800"/>
            <a:ext cx="1233000" cy="365400"/>
          </a:xfrm>
          <a:prstGeom prst="rect">
            <a:avLst/>
          </a:prstGeom>
          <a:solidFill>
            <a:srgbClr val="D2D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38" name="TextBox 1737"/>
          <p:cNvSpPr txBox="1"/>
          <p:nvPr/>
        </p:nvSpPr>
        <p:spPr>
          <a:xfrm>
            <a:off x="7191000" y="40033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.22</a:t>
            </a:r>
          </a:p>
        </p:txBody>
      </p:sp>
      <p:sp>
        <p:nvSpPr>
          <p:cNvPr id="1739" name="Rectangle 1738"/>
          <p:cNvSpPr/>
          <p:nvPr/>
        </p:nvSpPr>
        <p:spPr>
          <a:xfrm>
            <a:off x="8478000" y="40051800"/>
            <a:ext cx="1233000" cy="365400"/>
          </a:xfrm>
          <a:prstGeom prst="rect">
            <a:avLst/>
          </a:prstGeom>
          <a:solidFill>
            <a:srgbClr val="789F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0" name="TextBox 1739"/>
          <p:cNvSpPr txBox="1"/>
          <p:nvPr/>
        </p:nvSpPr>
        <p:spPr>
          <a:xfrm>
            <a:off x="8460000" y="40033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.68</a:t>
            </a:r>
          </a:p>
        </p:txBody>
      </p:sp>
      <p:sp>
        <p:nvSpPr>
          <p:cNvPr id="1741" name="Rectangle 1740"/>
          <p:cNvSpPr/>
          <p:nvPr/>
        </p:nvSpPr>
        <p:spPr>
          <a:xfrm>
            <a:off x="9963000" y="40051800"/>
            <a:ext cx="1233000" cy="365400"/>
          </a:xfrm>
          <a:prstGeom prst="rect">
            <a:avLst/>
          </a:prstGeom>
          <a:solidFill>
            <a:srgbClr val="D4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" name="TextBox 1741"/>
          <p:cNvSpPr txBox="1"/>
          <p:nvPr/>
        </p:nvSpPr>
        <p:spPr>
          <a:xfrm>
            <a:off x="9945000" y="40033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.20</a:t>
            </a:r>
          </a:p>
        </p:txBody>
      </p:sp>
      <p:sp>
        <p:nvSpPr>
          <p:cNvPr id="1743" name="Rectangle 1742"/>
          <p:cNvSpPr/>
          <p:nvPr/>
        </p:nvSpPr>
        <p:spPr>
          <a:xfrm>
            <a:off x="11232000" y="40051800"/>
            <a:ext cx="1233000" cy="365400"/>
          </a:xfrm>
          <a:prstGeom prst="rect">
            <a:avLst/>
          </a:prstGeom>
          <a:solidFill>
            <a:srgbClr val="E2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4" name="TextBox 1743"/>
          <p:cNvSpPr txBox="1"/>
          <p:nvPr/>
        </p:nvSpPr>
        <p:spPr>
          <a:xfrm>
            <a:off x="11214000" y="40033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.04</a:t>
            </a:r>
          </a:p>
        </p:txBody>
      </p:sp>
      <p:sp>
        <p:nvSpPr>
          <p:cNvPr id="1745" name="Rectangle 1744"/>
          <p:cNvSpPr/>
          <p:nvPr/>
        </p:nvSpPr>
        <p:spPr>
          <a:xfrm>
            <a:off x="12501000" y="40051800"/>
            <a:ext cx="1233000" cy="365400"/>
          </a:xfrm>
          <a:prstGeom prst="rect">
            <a:avLst/>
          </a:prstGeom>
          <a:solidFill>
            <a:srgbClr val="85A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6" name="TextBox 1745"/>
          <p:cNvSpPr txBox="1"/>
          <p:nvPr/>
        </p:nvSpPr>
        <p:spPr>
          <a:xfrm>
            <a:off x="12483000" y="40033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.63</a:t>
            </a:r>
          </a:p>
        </p:txBody>
      </p:sp>
      <p:sp>
        <p:nvSpPr>
          <p:cNvPr id="1747" name="Rectangle 1746"/>
          <p:cNvSpPr/>
          <p:nvPr/>
        </p:nvSpPr>
        <p:spPr>
          <a:xfrm>
            <a:off x="13770000" y="40051800"/>
            <a:ext cx="1233000" cy="365400"/>
          </a:xfrm>
          <a:prstGeom prst="rect">
            <a:avLst/>
          </a:prstGeom>
          <a:solidFill>
            <a:srgbClr val="C0D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8" name="TextBox 1747"/>
          <p:cNvSpPr txBox="1"/>
          <p:nvPr/>
        </p:nvSpPr>
        <p:spPr>
          <a:xfrm>
            <a:off x="13752000" y="40033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.34</a:t>
            </a:r>
          </a:p>
        </p:txBody>
      </p:sp>
      <p:sp>
        <p:nvSpPr>
          <p:cNvPr id="1749" name="Rectangle 1748"/>
          <p:cNvSpPr/>
          <p:nvPr/>
        </p:nvSpPr>
        <p:spPr>
          <a:xfrm>
            <a:off x="15039000" y="40051800"/>
            <a:ext cx="1233000" cy="365400"/>
          </a:xfrm>
          <a:prstGeom prst="rect">
            <a:avLst/>
          </a:prstGeom>
          <a:solidFill>
            <a:srgbClr val="9DB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50" name="TextBox 1749"/>
          <p:cNvSpPr txBox="1"/>
          <p:nvPr/>
        </p:nvSpPr>
        <p:spPr>
          <a:xfrm>
            <a:off x="15021000" y="40033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.52</a:t>
            </a:r>
          </a:p>
        </p:txBody>
      </p:sp>
      <p:sp>
        <p:nvSpPr>
          <p:cNvPr id="1751" name="Rectangle 1750"/>
          <p:cNvSpPr/>
          <p:nvPr/>
        </p:nvSpPr>
        <p:spPr>
          <a:xfrm>
            <a:off x="16524000" y="40051800"/>
            <a:ext cx="1233000" cy="365400"/>
          </a:xfrm>
          <a:prstGeom prst="rect">
            <a:avLst/>
          </a:prstGeom>
          <a:solidFill>
            <a:srgbClr val="C8D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52" name="TextBox 1751"/>
          <p:cNvSpPr txBox="1"/>
          <p:nvPr/>
        </p:nvSpPr>
        <p:spPr>
          <a:xfrm>
            <a:off x="16506000" y="40033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.29</a:t>
            </a:r>
          </a:p>
        </p:txBody>
      </p:sp>
      <p:sp>
        <p:nvSpPr>
          <p:cNvPr id="1753" name="Rectangle 1752"/>
          <p:cNvSpPr/>
          <p:nvPr/>
        </p:nvSpPr>
        <p:spPr>
          <a:xfrm>
            <a:off x="17793000" y="40051800"/>
            <a:ext cx="1233000" cy="365400"/>
          </a:xfrm>
          <a:prstGeom prst="rect">
            <a:avLst/>
          </a:prstGeom>
          <a:solidFill>
            <a:srgbClr val="E2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54" name="TextBox 1753"/>
          <p:cNvSpPr txBox="1"/>
          <p:nvPr/>
        </p:nvSpPr>
        <p:spPr>
          <a:xfrm>
            <a:off x="17775000" y="40033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.04</a:t>
            </a:r>
          </a:p>
        </p:txBody>
      </p:sp>
      <p:sp>
        <p:nvSpPr>
          <p:cNvPr id="1755" name="Rectangle 1754"/>
          <p:cNvSpPr/>
          <p:nvPr/>
        </p:nvSpPr>
        <p:spPr>
          <a:xfrm>
            <a:off x="19062000" y="40051800"/>
            <a:ext cx="1233000" cy="365400"/>
          </a:xfrm>
          <a:prstGeom prst="rect">
            <a:avLst/>
          </a:prstGeom>
          <a:solidFill>
            <a:srgbClr val="91B1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56" name="TextBox 1755"/>
          <p:cNvSpPr txBox="1"/>
          <p:nvPr/>
        </p:nvSpPr>
        <p:spPr>
          <a:xfrm>
            <a:off x="19044000" y="40033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.58</a:t>
            </a:r>
          </a:p>
        </p:txBody>
      </p:sp>
      <p:sp>
        <p:nvSpPr>
          <p:cNvPr id="1757" name="Rectangle 1756"/>
          <p:cNvSpPr/>
          <p:nvPr/>
        </p:nvSpPr>
        <p:spPr>
          <a:xfrm>
            <a:off x="20331000" y="40051800"/>
            <a:ext cx="1233000" cy="365400"/>
          </a:xfrm>
          <a:prstGeom prst="rect">
            <a:avLst/>
          </a:prstGeom>
          <a:solidFill>
            <a:srgbClr val="C2D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58" name="TextBox 1757"/>
          <p:cNvSpPr txBox="1"/>
          <p:nvPr/>
        </p:nvSpPr>
        <p:spPr>
          <a:xfrm>
            <a:off x="20313000" y="40033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.33</a:t>
            </a:r>
          </a:p>
        </p:txBody>
      </p:sp>
      <p:sp>
        <p:nvSpPr>
          <p:cNvPr id="1759" name="Rectangle 1758"/>
          <p:cNvSpPr/>
          <p:nvPr/>
        </p:nvSpPr>
        <p:spPr>
          <a:xfrm>
            <a:off x="21600000" y="40051800"/>
            <a:ext cx="1233000" cy="365400"/>
          </a:xfrm>
          <a:prstGeom prst="rect">
            <a:avLst/>
          </a:prstGeom>
          <a:solidFill>
            <a:srgbClr val="7BA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60" name="TextBox 1759"/>
          <p:cNvSpPr txBox="1"/>
          <p:nvPr/>
        </p:nvSpPr>
        <p:spPr>
          <a:xfrm>
            <a:off x="21582000" y="40033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.67</a:t>
            </a:r>
          </a:p>
        </p:txBody>
      </p:sp>
      <p:sp>
        <p:nvSpPr>
          <p:cNvPr id="1761" name="Rectangle 1760"/>
          <p:cNvSpPr/>
          <p:nvPr/>
        </p:nvSpPr>
        <p:spPr>
          <a:xfrm>
            <a:off x="23085000" y="40051800"/>
            <a:ext cx="1233000" cy="365400"/>
          </a:xfrm>
          <a:prstGeom prst="rect">
            <a:avLst/>
          </a:prstGeom>
          <a:solidFill>
            <a:srgbClr val="9BB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62" name="TextBox 1761"/>
          <p:cNvSpPr txBox="1"/>
          <p:nvPr/>
        </p:nvSpPr>
        <p:spPr>
          <a:xfrm>
            <a:off x="23067000" y="40033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.54</a:t>
            </a:r>
          </a:p>
        </p:txBody>
      </p:sp>
      <p:sp>
        <p:nvSpPr>
          <p:cNvPr id="1763" name="Rectangle 1762"/>
          <p:cNvSpPr/>
          <p:nvPr/>
        </p:nvSpPr>
        <p:spPr>
          <a:xfrm>
            <a:off x="24354000" y="40051800"/>
            <a:ext cx="1233000" cy="3654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64" name="TextBox 1763"/>
          <p:cNvSpPr txBox="1"/>
          <p:nvPr/>
        </p:nvSpPr>
        <p:spPr>
          <a:xfrm>
            <a:off x="24336000" y="40033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.12</a:t>
            </a:r>
          </a:p>
        </p:txBody>
      </p:sp>
      <p:sp>
        <p:nvSpPr>
          <p:cNvPr id="1765" name="Rectangle 1764"/>
          <p:cNvSpPr/>
          <p:nvPr/>
        </p:nvSpPr>
        <p:spPr>
          <a:xfrm>
            <a:off x="25623000" y="40051800"/>
            <a:ext cx="1233000" cy="365400"/>
          </a:xfrm>
          <a:prstGeom prst="rect">
            <a:avLst/>
          </a:prstGeom>
          <a:solidFill>
            <a:srgbClr val="679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66" name="TextBox 1765"/>
          <p:cNvSpPr txBox="1"/>
          <p:nvPr/>
        </p:nvSpPr>
        <p:spPr>
          <a:xfrm>
            <a:off x="25605000" y="40033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.75</a:t>
            </a:r>
          </a:p>
        </p:txBody>
      </p:sp>
      <p:sp>
        <p:nvSpPr>
          <p:cNvPr id="1767" name="Rectangle 1766"/>
          <p:cNvSpPr/>
          <p:nvPr/>
        </p:nvSpPr>
        <p:spPr>
          <a:xfrm>
            <a:off x="26892000" y="40051800"/>
            <a:ext cx="1233000" cy="365400"/>
          </a:xfrm>
          <a:prstGeom prst="rect">
            <a:avLst/>
          </a:prstGeom>
          <a:solidFill>
            <a:srgbClr val="A2B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68" name="TextBox 1767"/>
          <p:cNvSpPr txBox="1"/>
          <p:nvPr/>
        </p:nvSpPr>
        <p:spPr>
          <a:xfrm>
            <a:off x="26874000" y="40033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14213D"/>
                </a:solidFill>
                <a:latin typeface="Bahnschrift"/>
              </a:rPr>
              <a:t>.50</a:t>
            </a:r>
          </a:p>
        </p:txBody>
      </p:sp>
      <p:sp>
        <p:nvSpPr>
          <p:cNvPr id="1769" name="Rectangle 1768"/>
          <p:cNvSpPr/>
          <p:nvPr/>
        </p:nvSpPr>
        <p:spPr>
          <a:xfrm>
            <a:off x="28161000" y="40051800"/>
            <a:ext cx="1233000" cy="365400"/>
          </a:xfrm>
          <a:prstGeom prst="rect">
            <a:avLst/>
          </a:prstGeom>
          <a:solidFill>
            <a:srgbClr val="81A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70" name="TextBox 1769"/>
          <p:cNvSpPr txBox="1"/>
          <p:nvPr/>
        </p:nvSpPr>
        <p:spPr>
          <a:xfrm>
            <a:off x="28143000" y="40033800"/>
            <a:ext cx="1269000" cy="401400"/>
          </a:xfrm>
          <a:prstGeom prst="rect">
            <a:avLst/>
          </a:prstGeom>
          <a:noFill/>
        </p:spPr>
        <p:txBody>
          <a:bodyPr wrap="square" lIns="0" tIns="28800" rIns="0" bIns="28800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Bahnschrift"/>
              </a:rPr>
              <a:t>.65</a:t>
            </a:r>
          </a:p>
        </p:txBody>
      </p:sp>
      <p:sp>
        <p:nvSpPr>
          <p:cNvPr id="28" name="TextBox 1049"/>
          <p:cNvSpPr/>
          <p:nvPr/>
        </p:nvSpPr>
        <p:spPr>
          <a:xfrm>
            <a:off x="8280000" y="40903200"/>
            <a:ext cx="4320000" cy="23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en-US" sz="1000" b="1" strike="noStrike" spc="-1" dirty="0">
                <a:solidFill>
                  <a:srgbClr val="3F4C63"/>
                </a:solidFill>
                <a:latin typeface="Segoe UI"/>
              </a:rPr>
              <a:t>References: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Box 1049"/>
          <p:cNvSpPr/>
          <p:nvPr/>
        </p:nvSpPr>
        <p:spPr>
          <a:xfrm>
            <a:off x="28563480" y="40903200"/>
            <a:ext cx="848520" cy="23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3200" tIns="28800" rIns="43200" bIns="28800" anchor="t">
            <a:noAutofit/>
          </a:bodyPr>
          <a:lstStyle/>
          <a:p>
            <a:pPr defTabSz="457200">
              <a:lnSpc>
                <a:spcPct val="112000"/>
              </a:lnSpc>
              <a:spcAft>
                <a:spcPts val="201"/>
              </a:spcAft>
            </a:pPr>
            <a:r>
              <a:rPr lang="en-US" sz="1000" b="1" strike="noStrike" spc="-1" dirty="0">
                <a:solidFill>
                  <a:srgbClr val="3F4C63"/>
                </a:solidFill>
                <a:latin typeface="Segoe UI"/>
              </a:rPr>
              <a:t>Code: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169E92AA-FC3D-0B2A-5E1D-58FA30165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768523" y="864490"/>
            <a:ext cx="4678690" cy="14386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2125</Words>
  <Application>Microsoft Office PowerPoint</Application>
  <PresentationFormat>Benutzerdefiniert</PresentationFormat>
  <Paragraphs>455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11</vt:i4>
      </vt:variant>
      <vt:variant>
        <vt:lpstr>Folientitel</vt:lpstr>
      </vt:variant>
      <vt:variant>
        <vt:i4>1</vt:i4>
      </vt:variant>
    </vt:vector>
  </HeadingPairs>
  <TitlesOfParts>
    <vt:vector size="20" baseType="lpstr">
      <vt:lpstr>Arial</vt:lpstr>
      <vt:lpstr>Bahnschrift</vt:lpstr>
      <vt:lpstr>Calibri</vt:lpstr>
      <vt:lpstr>Palatino Linotype</vt:lpstr>
      <vt:lpstr>Segoe UI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>Tobias Perschl</cp:lastModifiedBy>
  <cp:revision>8</cp:revision>
  <dcterms:created xsi:type="dcterms:W3CDTF">2013-01-27T09:14:16Z</dcterms:created>
  <dcterms:modified xsi:type="dcterms:W3CDTF">2026-09-07T17:19:40Z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Benutzerdefiniert</vt:lpwstr>
  </property>
  <property fmtid="{D5CDD505-2E9C-101B-9397-08002B2CF9AE}" pid="3" name="Slides">
    <vt:i4>1</vt:i4>
  </property>
</Properties>
</file>